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Barlow" pitchFamily="2" charset="77"/>
      <p:regular r:id="rId10"/>
      <p:bold r:id="rId11"/>
      <p:italic r:id="rId12"/>
      <p:boldItalic r:id="rId13"/>
    </p:embeddedFont>
    <p:embeddedFont>
      <p:font typeface="Barlow ExtraLight" panose="00000300000000000000" pitchFamily="2" charset="77"/>
      <p:regular r:id="rId14"/>
      <p:bold r:id="rId15"/>
      <p:italic r:id="rId16"/>
      <p:boldItalic r:id="rId17"/>
    </p:embeddedFont>
    <p:embeddedFont>
      <p:font typeface="Barlow Light" panose="00000400000000000000" pitchFamily="2" charset="77"/>
      <p:regular r:id="rId18"/>
      <p:bold r:id="rId19"/>
      <p:italic r:id="rId20"/>
      <p:boldItalic r:id="rId21"/>
    </p:embeddedFont>
    <p:embeddedFont>
      <p:font typeface="Barlow Medium" panose="00000600000000000000" pitchFamily="2" charset="77"/>
      <p:regular r:id="rId22"/>
      <p:bold r:id="rId23"/>
      <p:italic r:id="rId24"/>
      <p:boldItalic r:id="rId25"/>
    </p:embeddedFont>
    <p:embeddedFont>
      <p:font typeface="Hepta Slab" pitchFamily="2" charset="77"/>
      <p:regular r:id="rId26"/>
      <p:bold r:id="rId27"/>
    </p:embeddedFont>
    <p:embeddedFont>
      <p:font typeface="Hepta Slab Light" pitchFamily="2" charset="77"/>
      <p:regular r:id="rId28"/>
      <p:bold r:id="rId29"/>
    </p:embeddedFont>
    <p:embeddedFont>
      <p:font typeface="Hepta Slab Medium" pitchFamily="2" charset="77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gy5yY8kro7esBjt4Nlh5iqXaDg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698"/>
  </p:normalViewPr>
  <p:slideViewPr>
    <p:cSldViewPr snapToGrid="0">
      <p:cViewPr varScale="1">
        <p:scale>
          <a:sx n="192" d="100"/>
          <a:sy n="192" d="100"/>
        </p:scale>
        <p:origin x="184" y="2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font" Target="fonts/font19.fntdata"/><Relationship Id="rId36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font" Target="fonts/font22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font" Target="fonts/font21.fntdata"/><Relationship Id="rId35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Software Quality Assurance ensures the backbone of successful software development. At the center of this process lie two crucial idea: software validation and verification.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42d93776e7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g342d93776e7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42d93776e7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g342d93776e7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42d93776e7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42d93776e7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secHead">
  <p:cSld name="SECTION_HEADER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subTitle" idx="2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13"/>
          <p:cNvSpPr txBox="1"/>
          <p:nvPr/>
        </p:nvSpPr>
        <p:spPr>
          <a:xfrm>
            <a:off x="6907975" y="4749850"/>
            <a:ext cx="21975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Mishel Franklin Desilva</a:t>
            </a:r>
            <a:endParaRPr sz="1500" b="0" i="0" u="none" strike="noStrike" cap="non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2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5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26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29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29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30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1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3" name="Google Shape;103;p31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31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31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1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9" name="Google Shape;109;p31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2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2" name="Google Shape;112;p32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32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32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5" name="Google Shape;115;p32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32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3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34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34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4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34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34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34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34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4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34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34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BLANK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5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37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/ Content" type="tx">
  <p:cSld name="TITLE_AND_BODY">
    <p:bg>
      <p:bgPr>
        <a:solidFill>
          <a:schemeClr val="accent4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6"/>
          <p:cNvSpPr txBox="1">
            <a:spLocks noGrp="1"/>
          </p:cNvSpPr>
          <p:nvPr>
            <p:ph type="subTitle" idx="1"/>
          </p:nvPr>
        </p:nvSpPr>
        <p:spPr>
          <a:xfrm>
            <a:off x="475075" y="309225"/>
            <a:ext cx="36552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43" name="Google Shape;143;p36"/>
          <p:cNvSpPr txBox="1">
            <a:spLocks noGrp="1"/>
          </p:cNvSpPr>
          <p:nvPr>
            <p:ph type="body" idx="2"/>
          </p:nvPr>
        </p:nvSpPr>
        <p:spPr>
          <a:xfrm>
            <a:off x="711097" y="980554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subTitle" idx="3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body" idx="4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body" idx="5"/>
          </p:nvPr>
        </p:nvSpPr>
        <p:spPr>
          <a:xfrm>
            <a:off x="711097" y="2222666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ubTitle" idx="6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body" idx="7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49" name="Google Shape;149;p36"/>
          <p:cNvSpPr txBox="1">
            <a:spLocks noGrp="1"/>
          </p:cNvSpPr>
          <p:nvPr>
            <p:ph type="body" idx="8"/>
          </p:nvPr>
        </p:nvSpPr>
        <p:spPr>
          <a:xfrm>
            <a:off x="711097" y="3219093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50" name="Google Shape;150;p36"/>
          <p:cNvSpPr txBox="1">
            <a:spLocks noGrp="1"/>
          </p:cNvSpPr>
          <p:nvPr>
            <p:ph type="subTitle" idx="9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51" name="Google Shape;151;p36"/>
          <p:cNvSpPr txBox="1">
            <a:spLocks noGrp="1"/>
          </p:cNvSpPr>
          <p:nvPr>
            <p:ph type="body" idx="13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52" name="Google Shape;152;p36"/>
          <p:cNvSpPr txBox="1">
            <a:spLocks noGrp="1"/>
          </p:cNvSpPr>
          <p:nvPr>
            <p:ph type="body" idx="14"/>
          </p:nvPr>
        </p:nvSpPr>
        <p:spPr>
          <a:xfrm>
            <a:off x="4746581" y="980554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53" name="Google Shape;153;p36"/>
          <p:cNvSpPr txBox="1">
            <a:spLocks noGrp="1"/>
          </p:cNvSpPr>
          <p:nvPr>
            <p:ph type="subTitle" idx="15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54" name="Google Shape;154;p36"/>
          <p:cNvSpPr txBox="1">
            <a:spLocks noGrp="1"/>
          </p:cNvSpPr>
          <p:nvPr>
            <p:ph type="body" idx="16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55" name="Google Shape;155;p36"/>
          <p:cNvSpPr txBox="1">
            <a:spLocks noGrp="1"/>
          </p:cNvSpPr>
          <p:nvPr>
            <p:ph type="body" idx="17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56" name="Google Shape;156;p36"/>
          <p:cNvSpPr txBox="1">
            <a:spLocks noGrp="1"/>
          </p:cNvSpPr>
          <p:nvPr>
            <p:ph type="subTitle" idx="18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57" name="Google Shape;157;p36"/>
          <p:cNvSpPr txBox="1">
            <a:spLocks noGrp="1"/>
          </p:cNvSpPr>
          <p:nvPr>
            <p:ph type="body" idx="19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58" name="Google Shape;158;p36"/>
          <p:cNvSpPr txBox="1">
            <a:spLocks noGrp="1"/>
          </p:cNvSpPr>
          <p:nvPr>
            <p:ph type="body" idx="20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59" name="Google Shape;159;p36"/>
          <p:cNvSpPr txBox="1">
            <a:spLocks noGrp="1"/>
          </p:cNvSpPr>
          <p:nvPr>
            <p:ph type="subTitle" idx="21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60" name="Google Shape;160;p36"/>
          <p:cNvSpPr txBox="1">
            <a:spLocks noGrp="1"/>
          </p:cNvSpPr>
          <p:nvPr>
            <p:ph type="body" idx="22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61" name="Google Shape;161;p3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7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1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sz="700" b="0" i="1" u="none" strike="noStrike" cap="none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5" name="Google Shape;165;p37"/>
          <p:cNvSpPr>
            <a:spLocks noGrp="1"/>
          </p:cNvSpPr>
          <p:nvPr>
            <p:ph type="pic" idx="2"/>
          </p:nvPr>
        </p:nvSpPr>
        <p:spPr>
          <a:xfrm>
            <a:off x="3915225" y="1631250"/>
            <a:ext cx="4441200" cy="3009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66" name="Google Shape;166;p37"/>
          <p:cNvSpPr txBox="1">
            <a:spLocks noGrp="1"/>
          </p:cNvSpPr>
          <p:nvPr>
            <p:ph type="body" idx="1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67" name="Google Shape;167;p37"/>
          <p:cNvSpPr txBox="1">
            <a:spLocks noGrp="1"/>
          </p:cNvSpPr>
          <p:nvPr>
            <p:ph type="subTitle" idx="3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168" name="Google Shape;168;p3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text">
  <p:cSld name="TITLE_AND_TWO_COLUMNS_1">
    <p:bg>
      <p:bgPr>
        <a:solidFill>
          <a:schemeClr val="dk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8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5173200" cy="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172" name="Google Shape;172;p38"/>
          <p:cNvSpPr txBox="1">
            <a:spLocks noGrp="1"/>
          </p:cNvSpPr>
          <p:nvPr>
            <p:ph type="body" idx="2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38"/>
          <p:cNvSpPr txBox="1">
            <a:spLocks noGrp="1"/>
          </p:cNvSpPr>
          <p:nvPr>
            <p:ph type="body" idx="3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3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/ Company Overview" type="titleOnly">
  <p:cSld name="TITLE_ONLY">
    <p:bg>
      <p:bgPr>
        <a:solidFill>
          <a:schemeClr val="accent4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9"/>
          <p:cNvSpPr>
            <a:spLocks noGrp="1"/>
          </p:cNvSpPr>
          <p:nvPr>
            <p:ph type="pic" idx="2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9"/>
          <p:cNvSpPr>
            <a:spLocks noGrp="1"/>
          </p:cNvSpPr>
          <p:nvPr>
            <p:ph type="pic" idx="3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9"/>
          <p:cNvSpPr>
            <a:spLocks noGrp="1"/>
          </p:cNvSpPr>
          <p:nvPr>
            <p:ph type="pic" idx="4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9"/>
          <p:cNvSpPr>
            <a:spLocks noGrp="1"/>
          </p:cNvSpPr>
          <p:nvPr>
            <p:ph type="pic" idx="5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9"/>
          <p:cNvSpPr txBox="1">
            <a:spLocks noGrp="1"/>
          </p:cNvSpPr>
          <p:nvPr>
            <p:ph type="body" idx="1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81" name="Google Shape;181;p39"/>
          <p:cNvSpPr txBox="1">
            <a:spLocks noGrp="1"/>
          </p:cNvSpPr>
          <p:nvPr>
            <p:ph type="body" idx="6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82" name="Google Shape;182;p39"/>
          <p:cNvSpPr txBox="1">
            <a:spLocks noGrp="1"/>
          </p:cNvSpPr>
          <p:nvPr>
            <p:ph type="body" idx="7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3" name="Google Shape;183;p39"/>
          <p:cNvSpPr txBox="1">
            <a:spLocks noGrp="1"/>
          </p:cNvSpPr>
          <p:nvPr>
            <p:ph type="body" idx="8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4" name="Google Shape;184;p39"/>
          <p:cNvSpPr txBox="1">
            <a:spLocks noGrp="1"/>
          </p:cNvSpPr>
          <p:nvPr>
            <p:ph type="body" idx="9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5" name="Google Shape;185;p39"/>
          <p:cNvSpPr txBox="1">
            <a:spLocks noGrp="1"/>
          </p:cNvSpPr>
          <p:nvPr>
            <p:ph type="body" idx="13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6" name="Google Shape;186;p39"/>
          <p:cNvSpPr txBox="1">
            <a:spLocks noGrp="1"/>
          </p:cNvSpPr>
          <p:nvPr>
            <p:ph type="body" idx="14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7" name="Google Shape;187;p39"/>
          <p:cNvSpPr txBox="1">
            <a:spLocks noGrp="1"/>
          </p:cNvSpPr>
          <p:nvPr>
            <p:ph type="body" idx="15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8" name="Google Shape;188;p39"/>
          <p:cNvSpPr txBox="1">
            <a:spLocks noGrp="1"/>
          </p:cNvSpPr>
          <p:nvPr>
            <p:ph type="body" idx="16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9" name="Google Shape;189;p39"/>
          <p:cNvSpPr txBox="1">
            <a:spLocks noGrp="1"/>
          </p:cNvSpPr>
          <p:nvPr>
            <p:ph type="body" idx="17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90" name="Google Shape;190;p3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etitive Landscape">
  <p:cSld name="ONE_COLUMN_TEXT">
    <p:bg>
      <p:bgPr>
        <a:solidFill>
          <a:schemeClr val="dk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0"/>
          <p:cNvSpPr txBox="1">
            <a:spLocks noGrp="1"/>
          </p:cNvSpPr>
          <p:nvPr>
            <p:ph type="body" idx="1"/>
          </p:nvPr>
        </p:nvSpPr>
        <p:spPr>
          <a:xfrm>
            <a:off x="791150" y="738025"/>
            <a:ext cx="39183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3" name="Google Shape;193;p40"/>
          <p:cNvSpPr txBox="1">
            <a:spLocks noGrp="1"/>
          </p:cNvSpPr>
          <p:nvPr>
            <p:ph type="subTitle" idx="2"/>
          </p:nvPr>
        </p:nvSpPr>
        <p:spPr>
          <a:xfrm>
            <a:off x="791150" y="522625"/>
            <a:ext cx="391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194" name="Google Shape;194;p40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Trends + Data">
  <p:cSld name="MAIN_POINT">
    <p:bg>
      <p:bgPr>
        <a:solidFill>
          <a:schemeClr val="dk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1"/>
          <p:cNvSpPr txBox="1">
            <a:spLocks noGrp="1"/>
          </p:cNvSpPr>
          <p:nvPr>
            <p:ph type="subTitle" idx="1"/>
          </p:nvPr>
        </p:nvSpPr>
        <p:spPr>
          <a:xfrm>
            <a:off x="690250" y="415625"/>
            <a:ext cx="12618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7" name="Google Shape;197;p41"/>
          <p:cNvSpPr txBox="1">
            <a:spLocks noGrp="1"/>
          </p:cNvSpPr>
          <p:nvPr>
            <p:ph type="subTitle" idx="2"/>
          </p:nvPr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>
            <a:endParaRPr/>
          </a:p>
        </p:txBody>
      </p:sp>
      <p:sp>
        <p:nvSpPr>
          <p:cNvPr id="198" name="Google Shape;198;p41"/>
          <p:cNvSpPr txBox="1">
            <a:spLocks noGrp="1"/>
          </p:cNvSpPr>
          <p:nvPr>
            <p:ph type="body" idx="3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9" name="Google Shape;199;p4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WOT Analysis">
  <p:cSld name="CUSTOM_14">
    <p:bg>
      <p:bgPr>
        <a:solidFill>
          <a:schemeClr val="dk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2"/>
          <p:cNvSpPr txBox="1">
            <a:spLocks noGrp="1"/>
          </p:cNvSpPr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02" name="Google Shape;202;p42"/>
          <p:cNvSpPr txBox="1">
            <a:spLocks noGrp="1"/>
          </p:cNvSpPr>
          <p:nvPr>
            <p:ph type="title" idx="2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03" name="Google Shape;203;p42"/>
          <p:cNvSpPr txBox="1">
            <a:spLocks noGrp="1"/>
          </p:cNvSpPr>
          <p:nvPr>
            <p:ph type="title" idx="3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04" name="Google Shape;204;p42"/>
          <p:cNvSpPr txBox="1">
            <a:spLocks noGrp="1"/>
          </p:cNvSpPr>
          <p:nvPr>
            <p:ph type="title" idx="4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05" name="Google Shape;205;p42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06" name="Google Shape;206;p42"/>
          <p:cNvSpPr txBox="1">
            <a:spLocks noGrp="1"/>
          </p:cNvSpPr>
          <p:nvPr>
            <p:ph type="body" idx="5"/>
          </p:nvPr>
        </p:nvSpPr>
        <p:spPr>
          <a:xfrm>
            <a:off x="480425" y="610475"/>
            <a:ext cx="48783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07" name="Google Shape;207;p4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/ Thank You">
  <p:cSld name="CUSTOM_13">
    <p:bg>
      <p:bgPr>
        <a:solidFill>
          <a:schemeClr val="lt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3"/>
          <p:cNvSpPr txBox="1">
            <a:spLocks noGrp="1"/>
          </p:cNvSpPr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10" name="Google Shape;210;p43"/>
          <p:cNvSpPr txBox="1">
            <a:spLocks noGrp="1"/>
          </p:cNvSpPr>
          <p:nvPr>
            <p:ph type="body" idx="1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11" name="Google Shape;211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TITLE_AND_DESCRIPTION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4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14" name="Google Shape;214;p44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15" name="Google Shape;215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Size / Pie Graph">
  <p:cSld name="CAPTION_ONLY">
    <p:bg>
      <p:bgPr>
        <a:solidFill>
          <a:schemeClr val="dk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5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5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19" name="Google Shape;219;p45"/>
          <p:cNvSpPr txBox="1">
            <a:spLocks noGrp="1"/>
          </p:cNvSpPr>
          <p:nvPr>
            <p:ph type="body" idx="2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220" name="Google Shape;220;p4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45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5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name="adj1" fmla="val 8241844"/>
              <a:gd name="adj2" fmla="val 1255493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fferentiators / 4 column text">
  <p:cSld name="BIG_NUMBER">
    <p:bg>
      <p:bgPr>
        <a:solidFill>
          <a:schemeClr val="dk1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6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endParaRPr sz="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6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endParaRPr sz="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6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endParaRPr sz="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6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endParaRPr sz="200" b="0" i="0" u="none" strike="noStrik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6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29" name="Google Shape;229;p46"/>
          <p:cNvSpPr txBox="1">
            <a:spLocks noGrp="1"/>
          </p:cNvSpPr>
          <p:nvPr>
            <p:ph type="body" idx="2"/>
          </p:nvPr>
        </p:nvSpPr>
        <p:spPr>
          <a:xfrm>
            <a:off x="480425" y="610475"/>
            <a:ext cx="4878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0" name="Google Shape;230;p4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blank">
  <p:cSld name="BLANK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7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33" name="Google Shape;233;p47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34" name="Google Shape;234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text">
  <p:cSld name="TITLE_1">
    <p:bg>
      <p:bgPr>
        <a:solidFill>
          <a:schemeClr val="dk1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8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38" name="Google Shape;238;p48"/>
          <p:cNvSpPr txBox="1">
            <a:spLocks noGrp="1"/>
          </p:cNvSpPr>
          <p:nvPr>
            <p:ph type="body" idx="2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marL="914400" lvl="1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marL="1371600" lvl="2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marL="1828800" lvl="3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marL="2286000" lvl="4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marL="2743200" lvl="5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marL="3200400" lvl="6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marL="3657600" lvl="7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marL="4114800" lvl="8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4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Background Image + Text">
  <p:cSld name="CUSTOM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49"/>
          <p:cNvSpPr txBox="1">
            <a:spLocks noGrp="1"/>
          </p:cNvSpPr>
          <p:nvPr>
            <p:ph type="body" idx="1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74300" tIns="0" rIns="274300" bIns="27430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43" name="Google Shape;243;p49"/>
          <p:cNvSpPr txBox="1">
            <a:spLocks noGrp="1"/>
          </p:cNvSpPr>
          <p:nvPr>
            <p:ph type="subTitle" idx="3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74300" tIns="274300" rIns="27430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44" name="Google Shape;244;p49"/>
          <p:cNvSpPr txBox="1">
            <a:spLocks noGrp="1"/>
          </p:cNvSpPr>
          <p:nvPr>
            <p:ph type="body" idx="4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37150" tIns="137150" rIns="137150" bIns="13715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45" name="Google Shape;245;p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+ Image">
  <p:cSld name="CUSTOM_1">
    <p:bg>
      <p:bgPr>
        <a:solidFill>
          <a:schemeClr val="lt2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0"/>
          <p:cNvSpPr>
            <a:spLocks noGrp="1"/>
          </p:cNvSpPr>
          <p:nvPr>
            <p:ph type="pic" idx="2"/>
          </p:nvPr>
        </p:nvSpPr>
        <p:spPr>
          <a:xfrm>
            <a:off x="5485725" y="523025"/>
            <a:ext cx="3135300" cy="409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48" name="Google Shape;248;p50"/>
          <p:cNvSpPr txBox="1">
            <a:spLocks noGrp="1"/>
          </p:cNvSpPr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49" name="Google Shape;249;p50"/>
          <p:cNvSpPr txBox="1">
            <a:spLocks noGrp="1"/>
          </p:cNvSpPr>
          <p:nvPr>
            <p:ph type="body" idx="1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0" name="Google Shape;250;p50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als + 5 Images">
  <p:cSld name="CUSTOM_2">
    <p:bg>
      <p:bgPr>
        <a:solidFill>
          <a:schemeClr val="dk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1"/>
          <p:cNvSpPr txBox="1">
            <a:spLocks noGrp="1"/>
          </p:cNvSpPr>
          <p:nvPr>
            <p:ph type="body" idx="1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3" name="Google Shape;253;p51"/>
          <p:cNvSpPr txBox="1">
            <a:spLocks noGrp="1"/>
          </p:cNvSpPr>
          <p:nvPr>
            <p:ph type="body" idx="2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4" name="Google Shape;254;p51"/>
          <p:cNvSpPr txBox="1">
            <a:spLocks noGrp="1"/>
          </p:cNvSpPr>
          <p:nvPr>
            <p:ph type="body" idx="3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5" name="Google Shape;255;p51"/>
          <p:cNvSpPr txBox="1">
            <a:spLocks noGrp="1"/>
          </p:cNvSpPr>
          <p:nvPr>
            <p:ph type="body" idx="4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6" name="Google Shape;256;p51"/>
          <p:cNvSpPr txBox="1">
            <a:spLocks noGrp="1"/>
          </p:cNvSpPr>
          <p:nvPr>
            <p:ph type="body" idx="5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7" name="Google Shape;257;p51"/>
          <p:cNvSpPr txBox="1">
            <a:spLocks noGrp="1"/>
          </p:cNvSpPr>
          <p:nvPr>
            <p:ph type="body" idx="6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cxnSp>
        <p:nvCxnSpPr>
          <p:cNvPr id="258" name="Google Shape;258;p51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9" name="Google Shape;259;p51"/>
          <p:cNvSpPr>
            <a:spLocks noGrp="1"/>
          </p:cNvSpPr>
          <p:nvPr>
            <p:ph type="pic" idx="7"/>
          </p:nvPr>
        </p:nvSpPr>
        <p:spPr>
          <a:xfrm>
            <a:off x="7049625" y="5230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0" name="Google Shape;260;p51"/>
          <p:cNvSpPr>
            <a:spLocks noGrp="1"/>
          </p:cNvSpPr>
          <p:nvPr>
            <p:ph type="pic" idx="8"/>
          </p:nvPr>
        </p:nvSpPr>
        <p:spPr>
          <a:xfrm>
            <a:off x="784775" y="5221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1" name="Google Shape;261;p51"/>
          <p:cNvSpPr>
            <a:spLocks noGrp="1"/>
          </p:cNvSpPr>
          <p:nvPr>
            <p:ph type="pic" idx="9"/>
          </p:nvPr>
        </p:nvSpPr>
        <p:spPr>
          <a:xfrm>
            <a:off x="2343950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2" name="Google Shape;262;p51"/>
          <p:cNvSpPr>
            <a:spLocks noGrp="1"/>
          </p:cNvSpPr>
          <p:nvPr>
            <p:ph type="pic" idx="13"/>
          </p:nvPr>
        </p:nvSpPr>
        <p:spPr>
          <a:xfrm>
            <a:off x="3915213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3" name="Google Shape;263;p51"/>
          <p:cNvSpPr>
            <a:spLocks noGrp="1"/>
          </p:cNvSpPr>
          <p:nvPr>
            <p:ph type="pic" idx="14"/>
          </p:nvPr>
        </p:nvSpPr>
        <p:spPr>
          <a:xfrm>
            <a:off x="5490975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4" name="Google Shape;264;p51"/>
          <p:cNvSpPr txBox="1">
            <a:spLocks noGrp="1"/>
          </p:cNvSpPr>
          <p:nvPr>
            <p:ph type="body" idx="15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65" name="Google Shape;265;p51"/>
          <p:cNvSpPr txBox="1">
            <a:spLocks noGrp="1"/>
          </p:cNvSpPr>
          <p:nvPr>
            <p:ph type="subTitle" idx="16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66" name="Google Shape;266;p51"/>
          <p:cNvSpPr txBox="1">
            <a:spLocks noGrp="1"/>
          </p:cNvSpPr>
          <p:nvPr>
            <p:ph type="body" idx="17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67" name="Google Shape;267;p51"/>
          <p:cNvSpPr txBox="1">
            <a:spLocks noGrp="1"/>
          </p:cNvSpPr>
          <p:nvPr>
            <p:ph type="body" idx="18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68" name="Google Shape;268;p51"/>
          <p:cNvSpPr txBox="1">
            <a:spLocks noGrp="1"/>
          </p:cNvSpPr>
          <p:nvPr>
            <p:ph type="body" idx="19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69" name="Google Shape;269;p51"/>
          <p:cNvSpPr txBox="1">
            <a:spLocks noGrp="1"/>
          </p:cNvSpPr>
          <p:nvPr>
            <p:ph type="body" idx="20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70" name="Google Shape;270;p5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egy Canvas / Line Graph">
  <p:cSld name="CUSTOM_3">
    <p:bg>
      <p:bgPr>
        <a:solidFill>
          <a:schemeClr val="dk1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2"/>
          <p:cNvSpPr txBox="1">
            <a:spLocks noGrp="1"/>
          </p:cNvSpPr>
          <p:nvPr>
            <p:ph type="body" idx="1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73" name="Google Shape;273;p52"/>
          <p:cNvSpPr txBox="1">
            <a:spLocks noGrp="1"/>
          </p:cNvSpPr>
          <p:nvPr>
            <p:ph type="subTitle" idx="2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74" name="Google Shape;274;p5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4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3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77" name="Google Shape;277;p53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78" name="Google Shape;278;p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PIs / Objectives">
  <p:cSld name="CUSTOM_5">
    <p:bg>
      <p:bgPr>
        <a:solidFill>
          <a:schemeClr val="dk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4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4"/>
          <p:cNvSpPr txBox="1">
            <a:spLocks noGrp="1"/>
          </p:cNvSpPr>
          <p:nvPr>
            <p:ph type="body" idx="1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82" name="Google Shape;282;p54"/>
          <p:cNvSpPr txBox="1">
            <a:spLocks noGrp="1"/>
          </p:cNvSpPr>
          <p:nvPr>
            <p:ph type="body" idx="2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83" name="Google Shape;283;p54"/>
          <p:cNvSpPr txBox="1">
            <a:spLocks noGrp="1"/>
          </p:cNvSpPr>
          <p:nvPr>
            <p:ph type="body" idx="3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84" name="Google Shape;284;p54"/>
          <p:cNvSpPr txBox="1">
            <a:spLocks noGrp="1"/>
          </p:cNvSpPr>
          <p:nvPr>
            <p:ph type="body" idx="4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85" name="Google Shape;285;p54"/>
          <p:cNvSpPr>
            <a:spLocks noGrp="1"/>
          </p:cNvSpPr>
          <p:nvPr>
            <p:ph type="pic" idx="5"/>
          </p:nvPr>
        </p:nvSpPr>
        <p:spPr>
          <a:xfrm>
            <a:off x="7049625" y="15881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6" name="Google Shape;286;p54"/>
          <p:cNvSpPr>
            <a:spLocks noGrp="1"/>
          </p:cNvSpPr>
          <p:nvPr>
            <p:ph type="pic" idx="6"/>
          </p:nvPr>
        </p:nvSpPr>
        <p:spPr>
          <a:xfrm>
            <a:off x="3915213" y="15886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7" name="Google Shape;287;p54"/>
          <p:cNvSpPr>
            <a:spLocks noGrp="1"/>
          </p:cNvSpPr>
          <p:nvPr>
            <p:ph type="pic" idx="7"/>
          </p:nvPr>
        </p:nvSpPr>
        <p:spPr>
          <a:xfrm>
            <a:off x="5490975" y="15886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8" name="Google Shape;288;p54"/>
          <p:cNvSpPr txBox="1">
            <a:spLocks noGrp="1"/>
          </p:cNvSpPr>
          <p:nvPr>
            <p:ph type="subTitle" idx="8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89" name="Google Shape;289;p54"/>
          <p:cNvSpPr txBox="1">
            <a:spLocks noGrp="1"/>
          </p:cNvSpPr>
          <p:nvPr>
            <p:ph type="subTitle" idx="9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90" name="Google Shape;290;p54"/>
          <p:cNvSpPr txBox="1">
            <a:spLocks noGrp="1"/>
          </p:cNvSpPr>
          <p:nvPr>
            <p:ph type="subTitle" idx="13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91" name="Google Shape;291;p54"/>
          <p:cNvSpPr txBox="1">
            <a:spLocks noGrp="1"/>
          </p:cNvSpPr>
          <p:nvPr>
            <p:ph type="body" idx="14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marL="914400" lvl="1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marL="1371600" lvl="2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marL="1828800" lvl="3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marL="2286000" lvl="4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marL="2743200" lvl="5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marL="3200400" lvl="6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marL="3657600" lvl="7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marL="4114800" lvl="8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92" name="Google Shape;292;p54"/>
          <p:cNvSpPr txBox="1">
            <a:spLocks noGrp="1"/>
          </p:cNvSpPr>
          <p:nvPr>
            <p:ph type="body" idx="15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3" name="Google Shape;293;p54"/>
          <p:cNvSpPr txBox="1">
            <a:spLocks noGrp="1"/>
          </p:cNvSpPr>
          <p:nvPr>
            <p:ph type="body" idx="16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4" name="Google Shape;294;p54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ction Plan + 5 Images">
  <p:cSld name="CUSTOM_6">
    <p:bg>
      <p:bgPr>
        <a:solidFill>
          <a:schemeClr val="accent6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5"/>
          <p:cNvSpPr txBox="1">
            <a:spLocks noGrp="1"/>
          </p:cNvSpPr>
          <p:nvPr>
            <p:ph type="body" idx="1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7" name="Google Shape;297;p55"/>
          <p:cNvSpPr txBox="1">
            <a:spLocks noGrp="1"/>
          </p:cNvSpPr>
          <p:nvPr>
            <p:ph type="body" idx="2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cxnSp>
        <p:nvCxnSpPr>
          <p:cNvPr id="298" name="Google Shape;298;p55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9" name="Google Shape;299;p55"/>
          <p:cNvSpPr>
            <a:spLocks noGrp="1"/>
          </p:cNvSpPr>
          <p:nvPr>
            <p:ph type="pic" idx="3"/>
          </p:nvPr>
        </p:nvSpPr>
        <p:spPr>
          <a:xfrm>
            <a:off x="7049625" y="5230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0" name="Google Shape;300;p55"/>
          <p:cNvSpPr>
            <a:spLocks noGrp="1"/>
          </p:cNvSpPr>
          <p:nvPr>
            <p:ph type="pic" idx="4"/>
          </p:nvPr>
        </p:nvSpPr>
        <p:spPr>
          <a:xfrm>
            <a:off x="784775" y="5221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1" name="Google Shape;301;p55"/>
          <p:cNvSpPr>
            <a:spLocks noGrp="1"/>
          </p:cNvSpPr>
          <p:nvPr>
            <p:ph type="pic" idx="5"/>
          </p:nvPr>
        </p:nvSpPr>
        <p:spPr>
          <a:xfrm>
            <a:off x="2343950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2" name="Google Shape;302;p55"/>
          <p:cNvSpPr>
            <a:spLocks noGrp="1"/>
          </p:cNvSpPr>
          <p:nvPr>
            <p:ph type="pic" idx="6"/>
          </p:nvPr>
        </p:nvSpPr>
        <p:spPr>
          <a:xfrm>
            <a:off x="3915213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3" name="Google Shape;303;p55"/>
          <p:cNvSpPr>
            <a:spLocks noGrp="1"/>
          </p:cNvSpPr>
          <p:nvPr>
            <p:ph type="pic" idx="7"/>
          </p:nvPr>
        </p:nvSpPr>
        <p:spPr>
          <a:xfrm>
            <a:off x="5490975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4" name="Google Shape;304;p55"/>
          <p:cNvSpPr txBox="1">
            <a:spLocks noGrp="1"/>
          </p:cNvSpPr>
          <p:nvPr>
            <p:ph type="body" idx="8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05" name="Google Shape;305;p55"/>
          <p:cNvSpPr txBox="1">
            <a:spLocks noGrp="1"/>
          </p:cNvSpPr>
          <p:nvPr>
            <p:ph type="subTitle" idx="9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06" name="Google Shape;306;p55"/>
          <p:cNvSpPr txBox="1">
            <a:spLocks noGrp="1"/>
          </p:cNvSpPr>
          <p:nvPr>
            <p:ph type="body" idx="13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7" name="Google Shape;307;p55"/>
          <p:cNvSpPr txBox="1">
            <a:spLocks noGrp="1"/>
          </p:cNvSpPr>
          <p:nvPr>
            <p:ph type="body" idx="14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8" name="Google Shape;308;p55"/>
          <p:cNvSpPr txBox="1">
            <a:spLocks noGrp="1"/>
          </p:cNvSpPr>
          <p:nvPr>
            <p:ph type="body" idx="15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9" name="Google Shape;309;p55"/>
          <p:cNvSpPr txBox="1">
            <a:spLocks noGrp="1"/>
          </p:cNvSpPr>
          <p:nvPr>
            <p:ph type="body" idx="16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0" name="Google Shape;310;p55"/>
          <p:cNvSpPr txBox="1">
            <a:spLocks noGrp="1"/>
          </p:cNvSpPr>
          <p:nvPr>
            <p:ph type="body" idx="17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1" name="Google Shape;311;p55"/>
          <p:cNvSpPr txBox="1">
            <a:spLocks noGrp="1"/>
          </p:cNvSpPr>
          <p:nvPr>
            <p:ph type="body" idx="18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2" name="Google Shape;312;p55"/>
          <p:cNvSpPr txBox="1">
            <a:spLocks noGrp="1"/>
          </p:cNvSpPr>
          <p:nvPr>
            <p:ph type="body" idx="19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3" name="Google Shape;313;p55"/>
          <p:cNvSpPr txBox="1">
            <a:spLocks noGrp="1"/>
          </p:cNvSpPr>
          <p:nvPr>
            <p:ph type="body" idx="20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4" name="Google Shape;314;p5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Graphic">
  <p:cSld name="CUSTOM_9">
    <p:bg>
      <p:bgPr>
        <a:solidFill>
          <a:schemeClr val="dk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6"/>
          <p:cNvSpPr txBox="1">
            <a:spLocks noGrp="1"/>
          </p:cNvSpPr>
          <p:nvPr>
            <p:ph type="body" idx="1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17" name="Google Shape;317;p56"/>
          <p:cNvSpPr txBox="1">
            <a:spLocks noGrp="1"/>
          </p:cNvSpPr>
          <p:nvPr>
            <p:ph type="body" idx="2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marL="914400" lvl="1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marL="1371600" lvl="2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marL="1828800" lvl="3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marL="2286000" lvl="4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marL="2743200" lvl="5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marL="3200400" lvl="6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marL="3657600" lvl="7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marL="4114800" lvl="8" indent="-406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18" name="Google Shape;318;p5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enue / Graphic">
  <p:cSld name="CUSTOM_12">
    <p:bg>
      <p:bgPr>
        <a:solidFill>
          <a:schemeClr val="dk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7"/>
          <p:cNvSpPr txBox="1">
            <a:spLocks noGrp="1"/>
          </p:cNvSpPr>
          <p:nvPr>
            <p:ph type="body" idx="1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1" name="Google Shape;321;p57"/>
          <p:cNvSpPr txBox="1">
            <a:spLocks noGrp="1"/>
          </p:cNvSpPr>
          <p:nvPr>
            <p:ph type="subTitle" idx="2"/>
          </p:nvPr>
        </p:nvSpPr>
        <p:spPr>
          <a:xfrm>
            <a:off x="466802" y="445100"/>
            <a:ext cx="24036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22" name="Google Shape;322;p5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31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5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42d93776e7_0_6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25" name="Google Shape;325;g342d93776e7_0_6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26" name="Google Shape;326;g342d93776e7_0_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6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42d93776e7_0_15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29" name="Google Shape;329;g342d93776e7_0_15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30" name="Google Shape;330;g342d93776e7_0_1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 b="0" i="0" u="none" strike="noStrike" cap="none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sz="1400" b="0" i="0" u="none" strike="noStrike" cap="non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sz="1400" b="0" i="0" u="none" strike="noStrike" cap="non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sz="1400" b="0" i="0" u="none" strike="noStrike" cap="non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sz="1400" b="0" i="0" u="none" strike="noStrike" cap="non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sz="1400" b="0" i="0" u="none" strike="noStrike" cap="non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sz="1400" b="0" i="0" u="none" strike="noStrike" cap="non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sz="1400" b="0" i="0" u="none" strike="noStrike" cap="non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sz="1400" b="0" i="0" u="none" strike="noStrike" cap="non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 sz="14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"/>
          <p:cNvSpPr txBox="1">
            <a:spLocks noGrp="1"/>
          </p:cNvSpPr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5200">
                <a:latin typeface="Arial"/>
                <a:ea typeface="Arial"/>
                <a:cs typeface="Arial"/>
                <a:sym typeface="Arial"/>
              </a:rPr>
              <a:t>Manual Testing Fundamentals</a:t>
            </a:r>
            <a:endParaRPr sz="5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 sz="5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"/>
          <p:cNvSpPr txBox="1">
            <a:spLocks noGrp="1"/>
          </p:cNvSpPr>
          <p:nvPr>
            <p:ph type="subTitle" idx="2"/>
          </p:nvPr>
        </p:nvSpPr>
        <p:spPr>
          <a:xfrm>
            <a:off x="2689200" y="2866200"/>
            <a:ext cx="37656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SQA: Manual &amp; Automated Testing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"/>
          <p:cNvSpPr txBox="1"/>
          <p:nvPr/>
        </p:nvSpPr>
        <p:spPr>
          <a:xfrm>
            <a:off x="760450" y="230875"/>
            <a:ext cx="34341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Verification</a:t>
            </a:r>
            <a:endParaRPr sz="5200">
              <a:solidFill>
                <a:srgbClr val="FFFFFF"/>
              </a:solidFill>
            </a:endParaRPr>
          </a:p>
        </p:txBody>
      </p:sp>
      <p:sp>
        <p:nvSpPr>
          <p:cNvPr id="342" name="Google Shape;342;p2"/>
          <p:cNvSpPr txBox="1"/>
          <p:nvPr/>
        </p:nvSpPr>
        <p:spPr>
          <a:xfrm>
            <a:off x="384550" y="1001125"/>
            <a:ext cx="39048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 dirty="0">
                <a:solidFill>
                  <a:srgbClr val="FF0000"/>
                </a:solidFill>
              </a:rPr>
              <a:t>Ensure the product is build correctly</a:t>
            </a:r>
            <a:endParaRPr sz="1500" dirty="0">
              <a:solidFill>
                <a:srgbClr val="FF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 dirty="0">
                <a:solidFill>
                  <a:srgbClr val="FFFFFF"/>
                </a:solidFill>
              </a:rPr>
              <a:t>Static (review, inspection)</a:t>
            </a:r>
            <a:endParaRPr sz="1500" dirty="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 dirty="0">
                <a:solidFill>
                  <a:srgbClr val="FFFFFF"/>
                </a:solidFill>
              </a:rPr>
              <a:t>Process-oriented</a:t>
            </a:r>
            <a:endParaRPr sz="1500" dirty="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 dirty="0">
                <a:solidFill>
                  <a:srgbClr val="FFFFFF"/>
                </a:solidFill>
              </a:rPr>
              <a:t>During the development phases</a:t>
            </a:r>
            <a:endParaRPr sz="1500" dirty="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 dirty="0">
                <a:solidFill>
                  <a:srgbClr val="FFFFFF"/>
                </a:solidFill>
              </a:rPr>
              <a:t>Intermediate products (requirements, design, code)</a:t>
            </a:r>
            <a:endParaRPr sz="1500" dirty="0">
              <a:solidFill>
                <a:srgbClr val="FFFFFF"/>
              </a:solidFill>
            </a:endParaRPr>
          </a:p>
        </p:txBody>
      </p:sp>
      <p:sp>
        <p:nvSpPr>
          <p:cNvPr id="343" name="Google Shape;343;p2"/>
          <p:cNvSpPr txBox="1"/>
          <p:nvPr/>
        </p:nvSpPr>
        <p:spPr>
          <a:xfrm>
            <a:off x="4289250" y="230875"/>
            <a:ext cx="35916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FFFFF"/>
                </a:solidFill>
              </a:rPr>
              <a:t>Validation</a:t>
            </a:r>
            <a:endParaRPr sz="5200">
              <a:solidFill>
                <a:srgbClr val="FFFFFF"/>
              </a:solidFill>
            </a:endParaRPr>
          </a:p>
        </p:txBody>
      </p:sp>
      <p:cxnSp>
        <p:nvCxnSpPr>
          <p:cNvPr id="344" name="Google Shape;344;p2"/>
          <p:cNvCxnSpPr/>
          <p:nvPr/>
        </p:nvCxnSpPr>
        <p:spPr>
          <a:xfrm>
            <a:off x="4371175" y="1136025"/>
            <a:ext cx="0" cy="3185100"/>
          </a:xfrm>
          <a:prstGeom prst="straightConnector1">
            <a:avLst/>
          </a:prstGeom>
          <a:noFill/>
          <a:ln w="76200" cap="flat" cmpd="sng">
            <a:solidFill>
              <a:srgbClr val="ADADA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5" name="Google Shape;345;p2"/>
          <p:cNvSpPr txBox="1"/>
          <p:nvPr/>
        </p:nvSpPr>
        <p:spPr>
          <a:xfrm>
            <a:off x="4512450" y="1001125"/>
            <a:ext cx="4095000" cy="249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 dirty="0">
                <a:solidFill>
                  <a:srgbClr val="FF0000"/>
                </a:solidFill>
              </a:rPr>
              <a:t>Ensure the right product is built</a:t>
            </a:r>
            <a:endParaRPr sz="1500" dirty="0">
              <a:solidFill>
                <a:srgbClr val="FF0000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 dirty="0">
                <a:solidFill>
                  <a:srgbClr val="FFFFFF"/>
                </a:solidFill>
              </a:rPr>
              <a:t>Dynamic (testing the running product)</a:t>
            </a:r>
            <a:endParaRPr sz="1500" dirty="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 dirty="0">
                <a:solidFill>
                  <a:srgbClr val="FFFFFF"/>
                </a:solidFill>
              </a:rPr>
              <a:t>Product oriented</a:t>
            </a:r>
            <a:endParaRPr sz="1500" dirty="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 dirty="0">
                <a:solidFill>
                  <a:srgbClr val="FFFFFF"/>
                </a:solidFill>
              </a:rPr>
              <a:t>After product is developed</a:t>
            </a:r>
            <a:endParaRPr sz="1500" dirty="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 dirty="0">
                <a:solidFill>
                  <a:srgbClr val="FFFFFF"/>
                </a:solidFill>
              </a:rPr>
              <a:t>The final product (functional behavior)</a:t>
            </a:r>
            <a:endParaRPr sz="1500" dirty="0">
              <a:solidFill>
                <a:srgbClr val="FFFFFF"/>
              </a:solidFill>
            </a:endParaRPr>
          </a:p>
        </p:txBody>
      </p:sp>
      <p:sp>
        <p:nvSpPr>
          <p:cNvPr id="346" name="Google Shape;346;p2"/>
          <p:cNvSpPr/>
          <p:nvPr/>
        </p:nvSpPr>
        <p:spPr>
          <a:xfrm>
            <a:off x="742250" y="3844450"/>
            <a:ext cx="2994000" cy="633600"/>
          </a:xfrm>
          <a:prstGeom prst="roundRect">
            <a:avLst>
              <a:gd name="adj" fmla="val 16667"/>
            </a:avLst>
          </a:prstGeom>
          <a:solidFill>
            <a:srgbClr val="ADADAD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"Are we building the product right?"</a:t>
            </a:r>
            <a:endParaRPr b="1"/>
          </a:p>
        </p:txBody>
      </p:sp>
      <p:sp>
        <p:nvSpPr>
          <p:cNvPr id="347" name="Google Shape;347;p2"/>
          <p:cNvSpPr/>
          <p:nvPr/>
        </p:nvSpPr>
        <p:spPr>
          <a:xfrm>
            <a:off x="5062950" y="3844450"/>
            <a:ext cx="2994000" cy="633600"/>
          </a:xfrm>
          <a:prstGeom prst="roundRect">
            <a:avLst>
              <a:gd name="adj" fmla="val 16667"/>
            </a:avLst>
          </a:prstGeom>
          <a:solidFill>
            <a:srgbClr val="ADADAD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"Are we building the right product?"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42d93776e7_0_195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Test Execution Overview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53" name="Google Shape;353;g342d93776e7_0_195"/>
          <p:cNvSpPr txBox="1"/>
          <p:nvPr/>
        </p:nvSpPr>
        <p:spPr>
          <a:xfrm>
            <a:off x="155950" y="924925"/>
            <a:ext cx="88278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Prepare test environment</a:t>
            </a:r>
            <a:endParaRPr sz="1500">
              <a:solidFill>
                <a:srgbClr val="FFFFFF"/>
              </a:solidFill>
            </a:endParaRPr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Set Environment according to the need (Ex: Test URL/Server)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Set dataset (Ex: Different size/format files for File Upload)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Set operating system, or device according to the testing configuration (Android/iOS version)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Execute test cases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Record results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Report any defects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42d93776e7_0_68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Type of execution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59" name="Google Shape;359;g342d93776e7_0_68"/>
          <p:cNvSpPr txBox="1"/>
          <p:nvPr/>
        </p:nvSpPr>
        <p:spPr>
          <a:xfrm>
            <a:off x="155950" y="924925"/>
            <a:ext cx="8697900" cy="3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Positive and negative testing are two complementary software testing techniques</a:t>
            </a:r>
            <a:endParaRPr sz="1600">
              <a:solidFill>
                <a:srgbClr val="FFFFFF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 b="1">
                <a:solidFill>
                  <a:srgbClr val="FFFFFF"/>
                </a:solidFill>
              </a:rPr>
              <a:t>Positive case scenario:</a:t>
            </a:r>
            <a:r>
              <a:rPr lang="en" sz="1600">
                <a:solidFill>
                  <a:srgbClr val="FFFFFF"/>
                </a:solidFill>
              </a:rPr>
              <a:t> Positive testing verifies that the software behaves as expected under normal conditions with valid inputs</a:t>
            </a:r>
            <a:endParaRPr sz="1600">
              <a:solidFill>
                <a:srgbClr val="FFFFFF"/>
              </a:solidFill>
            </a:endParaRPr>
          </a:p>
          <a:p>
            <a:pPr marL="914400" lvl="1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</a:pPr>
            <a:r>
              <a:rPr lang="en" sz="1600">
                <a:solidFill>
                  <a:srgbClr val="FFFFFF"/>
                </a:solidFill>
              </a:rPr>
              <a:t>Regular/Happy path scenario</a:t>
            </a:r>
            <a:endParaRPr sz="1600">
              <a:solidFill>
                <a:srgbClr val="FFFFFF"/>
              </a:solidFill>
            </a:endParaRPr>
          </a:p>
          <a:p>
            <a:pPr marL="914400" lvl="1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</a:pPr>
            <a:r>
              <a:rPr lang="en" sz="1600">
                <a:solidFill>
                  <a:srgbClr val="FFFFFF"/>
                </a:solidFill>
              </a:rPr>
              <a:t>Edge case/Corner case scenario</a:t>
            </a:r>
            <a:endParaRPr sz="1600">
              <a:solidFill>
                <a:srgbClr val="FFFFFF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 b="1">
                <a:solidFill>
                  <a:srgbClr val="FFFFFF"/>
                </a:solidFill>
              </a:rPr>
              <a:t>Negative case:</a:t>
            </a:r>
            <a:r>
              <a:rPr lang="en" sz="1600">
                <a:solidFill>
                  <a:srgbClr val="FFFFFF"/>
                </a:solidFill>
              </a:rPr>
              <a:t> </a:t>
            </a:r>
            <a:r>
              <a:rPr lang="en" sz="1600">
                <a:solidFill>
                  <a:srgbClr val="EEF0FF"/>
                </a:solidFill>
                <a:highlight>
                  <a:srgbClr val="101218"/>
                </a:highlight>
              </a:rPr>
              <a:t>Negative testing ensures that the software can handle invalid or unexpected inputs gracefully, potentially preventing crashes or security vulnerabilities</a:t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Positive Testing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65" name="Google Shape;365;p3"/>
          <p:cNvSpPr txBox="1"/>
          <p:nvPr/>
        </p:nvSpPr>
        <p:spPr>
          <a:xfrm>
            <a:off x="155950" y="924925"/>
            <a:ext cx="62844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Function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Boundary value testing (Ex: Amount 100-100000) 1 &lt;= x &gt;1lc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Input validation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Data flow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User interface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Use case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Database testing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42d93776e7_0_157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Negative Testing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71" name="Google Shape;371;g342d93776e7_0_157"/>
          <p:cNvSpPr txBox="1"/>
          <p:nvPr/>
        </p:nvSpPr>
        <p:spPr>
          <a:xfrm>
            <a:off x="155950" y="924925"/>
            <a:ext cx="78213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Out of boundary value testing </a:t>
            </a:r>
            <a:r>
              <a:rPr lang="en" sz="1500">
                <a:solidFill>
                  <a:schemeClr val="dk1"/>
                </a:solidFill>
              </a:rPr>
              <a:t>(Ex: Min Amount 100 - &gt; 99, 100, 101) 1 &lt;= x 1lc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Invalid data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Empty or Null input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Incorrect format testing (Ex: Username -&gt; . _1)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Data injection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Exceeding data limits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Unauthorized access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Invalid file upload testing</a:t>
            </a:r>
            <a:endParaRPr sz="1500">
              <a:solidFill>
                <a:srgbClr val="FFFFFF"/>
              </a:solidFill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Char char="●"/>
            </a:pPr>
            <a:r>
              <a:rPr lang="en" sz="1500">
                <a:solidFill>
                  <a:srgbClr val="FFFFFF"/>
                </a:solidFill>
              </a:rPr>
              <a:t>Stress testing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"/>
          <p:cNvSpPr txBox="1">
            <a:spLocks noGrp="1"/>
          </p:cNvSpPr>
          <p:nvPr>
            <p:ph type="title"/>
          </p:nvPr>
        </p:nvSpPr>
        <p:spPr>
          <a:xfrm>
            <a:off x="632850" y="400625"/>
            <a:ext cx="7878300" cy="17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5200">
                <a:latin typeface="Arial"/>
                <a:ea typeface="Arial"/>
                <a:cs typeface="Arial"/>
                <a:sym typeface="Arial"/>
              </a:rPr>
              <a:t>Any Questions?</a:t>
            </a:r>
            <a:endParaRPr/>
          </a:p>
        </p:txBody>
      </p:sp>
      <p:sp>
        <p:nvSpPr>
          <p:cNvPr id="377" name="Google Shape;377;p11"/>
          <p:cNvSpPr txBox="1">
            <a:spLocks noGrp="1"/>
          </p:cNvSpPr>
          <p:nvPr>
            <p:ph type="subTitle" idx="2"/>
          </p:nvPr>
        </p:nvSpPr>
        <p:spPr>
          <a:xfrm>
            <a:off x="2068350" y="3665300"/>
            <a:ext cx="50073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Thank you!</a:t>
            </a:r>
            <a:endParaRPr/>
          </a:p>
        </p:txBody>
      </p:sp>
      <p:pic>
        <p:nvPicPr>
          <p:cNvPr id="378" name="Google Shape;37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18263" y="1671975"/>
            <a:ext cx="2879281" cy="179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Microsoft Macintosh PowerPoint</Application>
  <PresentationFormat>On-screen Show (16:9)</PresentationFormat>
  <Paragraphs>51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Hepta Slab</vt:lpstr>
      <vt:lpstr>Barlow Medium</vt:lpstr>
      <vt:lpstr>Barlow ExtraLight</vt:lpstr>
      <vt:lpstr>Barlow</vt:lpstr>
      <vt:lpstr>Arial</vt:lpstr>
      <vt:lpstr>Barlow Light</vt:lpstr>
      <vt:lpstr>Hepta Slab Light</vt:lpstr>
      <vt:lpstr>Hepta Slab Medium</vt:lpstr>
      <vt:lpstr>Strategy Plan</vt:lpstr>
      <vt:lpstr>Manual Testing Fundamentals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shakibrybmn@gmail.com</cp:lastModifiedBy>
  <cp:revision>1</cp:revision>
  <dcterms:modified xsi:type="dcterms:W3CDTF">2026-04-08T13:36:52Z</dcterms:modified>
</cp:coreProperties>
</file>