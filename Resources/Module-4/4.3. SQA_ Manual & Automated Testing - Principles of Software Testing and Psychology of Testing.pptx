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94"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Barlow Light" panose="00000400000000000000" pitchFamily="2" charset="77"/>
      <p:regular r:id="rId22"/>
      <p:bold r:id="rId23"/>
      <p:italic r:id="rId24"/>
      <p:boldItalic r:id="rId25"/>
    </p:embeddedFont>
    <p:embeddedFont>
      <p:font typeface="Barlow Medium" panose="00000600000000000000" pitchFamily="2" charset="77"/>
      <p:regular r:id="rId26"/>
      <p:bold r:id="rId27"/>
      <p:italic r:id="rId28"/>
      <p:boldItalic r:id="rId29"/>
    </p:embeddedFont>
    <p:embeddedFont>
      <p:font typeface="Century Gothic" panose="020B0502020202020204" pitchFamily="34" charset="0"/>
      <p:regular r:id="rId30"/>
      <p:bold r:id="rId31"/>
      <p:italic r:id="rId32"/>
      <p:boldItalic r:id="rId33"/>
    </p:embeddedFont>
    <p:embeddedFont>
      <p:font typeface="Hepta Slab" pitchFamily="2" charset="77"/>
      <p:regular r:id="rId34"/>
      <p:bold r:id="rId35"/>
    </p:embeddedFont>
    <p:embeddedFont>
      <p:font typeface="Wingdings 3" pitchFamily="2" charset="2"/>
      <p:regular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C+EQ0MjO2VbVpgSi0+O3yGqiVG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C5691C-FE0A-4A92-9688-11ADB6E5AE1F}">
  <a:tblStyle styleId="{35C5691C-FE0A-4A92-9688-11ADB6E5AE1F}"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6"/>
    <p:restoredTop sz="94698"/>
  </p:normalViewPr>
  <p:slideViewPr>
    <p:cSldViewPr snapToGrid="0">
      <p:cViewPr varScale="1">
        <p:scale>
          <a:sx n="192" d="100"/>
          <a:sy n="192" d="100"/>
        </p:scale>
        <p:origin x="184"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font" Target="fonts/font1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82bac4281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g382bac4281b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BD" b="1" dirty="0"/>
              <a:t>🧪 </a:t>
            </a:r>
            <a:r>
              <a:rPr lang="en-GB" b="1" dirty="0"/>
              <a:t>Software Testing Principles (Short &amp; Simple)</a:t>
            </a:r>
          </a:p>
          <a:p>
            <a:br>
              <a:rPr lang="en-GB" dirty="0"/>
            </a:br>
            <a:endParaRPr lang="en-GB" dirty="0"/>
          </a:p>
          <a:p>
            <a:r>
              <a:rPr lang="en-GB" b="1" dirty="0"/>
              <a:t>1️⃣ Testing shows presence of defects</a:t>
            </a:r>
          </a:p>
          <a:p>
            <a:br>
              <a:rPr lang="en-GB" dirty="0"/>
            </a:br>
            <a:endParaRPr lang="en-GB" dirty="0"/>
          </a:p>
          <a:p>
            <a:r>
              <a:rPr lang="en-BD" dirty="0"/>
              <a:t>👉 </a:t>
            </a:r>
            <a:r>
              <a:rPr lang="en-GB" dirty="0"/>
              <a:t>Testing can find bugs, but </a:t>
            </a:r>
            <a:r>
              <a:rPr lang="en-GB" b="1" dirty="0"/>
              <a:t>can’t prove no bugs exist</a:t>
            </a:r>
            <a:endParaRPr lang="en-GB" dirty="0"/>
          </a:p>
          <a:p>
            <a:r>
              <a:rPr lang="en-BD" dirty="0"/>
              <a:t>📌 </a:t>
            </a:r>
            <a:r>
              <a:rPr lang="en-GB" dirty="0"/>
              <a:t>Example: App works fine in testing → still may fail in real use</a:t>
            </a:r>
          </a:p>
          <a:p>
            <a:br>
              <a:rPr lang="en-GB" dirty="0"/>
            </a:br>
            <a:endParaRPr lang="en-GB" dirty="0"/>
          </a:p>
          <a:p>
            <a:r>
              <a:rPr lang="en-GB" b="1" dirty="0"/>
              <a:t>2️⃣ Exhaustive testing is not possible</a:t>
            </a:r>
          </a:p>
          <a:p>
            <a:br>
              <a:rPr lang="en-GB" dirty="0"/>
            </a:br>
            <a:endParaRPr lang="en-GB" dirty="0"/>
          </a:p>
          <a:p>
            <a:r>
              <a:rPr lang="en-BD" dirty="0"/>
              <a:t>👉 </a:t>
            </a:r>
            <a:r>
              <a:rPr lang="en-GB" dirty="0"/>
              <a:t>You can’t test everything</a:t>
            </a:r>
          </a:p>
          <a:p>
            <a:r>
              <a:rPr lang="en-BD" dirty="0"/>
              <a:t>📌 </a:t>
            </a:r>
            <a:r>
              <a:rPr lang="en-GB" dirty="0"/>
              <a:t>Example: Infinite input combinations → test only important ones</a:t>
            </a:r>
          </a:p>
          <a:p>
            <a:br>
              <a:rPr lang="en-GB" dirty="0"/>
            </a:br>
            <a:endParaRPr lang="en-GB" dirty="0"/>
          </a:p>
          <a:p>
            <a:r>
              <a:rPr lang="en-GB" b="1" dirty="0"/>
              <a:t>3️⃣ Early Testing</a:t>
            </a:r>
          </a:p>
          <a:p>
            <a:br>
              <a:rPr lang="en-GB" dirty="0"/>
            </a:br>
            <a:endParaRPr lang="en-GB" dirty="0"/>
          </a:p>
          <a:p>
            <a:r>
              <a:rPr lang="en-BD" dirty="0"/>
              <a:t>👉 </a:t>
            </a:r>
            <a:r>
              <a:rPr lang="en-GB" dirty="0"/>
              <a:t>Start testing early to reduce cost</a:t>
            </a:r>
          </a:p>
          <a:p>
            <a:r>
              <a:rPr lang="en-BD" dirty="0"/>
              <a:t>📌 </a:t>
            </a:r>
            <a:r>
              <a:rPr lang="en-GB" dirty="0"/>
              <a:t>Example: Catch requirement mistakes before coding</a:t>
            </a:r>
          </a:p>
          <a:p>
            <a:br>
              <a:rPr lang="en-GB" dirty="0"/>
            </a:br>
            <a:endParaRPr lang="en-GB" dirty="0"/>
          </a:p>
          <a:p>
            <a:r>
              <a:rPr lang="en-GB" b="1" dirty="0"/>
              <a:t>4️⃣ Defect Clustering</a:t>
            </a:r>
          </a:p>
          <a:p>
            <a:br>
              <a:rPr lang="en-GB" dirty="0"/>
            </a:br>
            <a:endParaRPr lang="en-GB" dirty="0"/>
          </a:p>
          <a:p>
            <a:r>
              <a:rPr lang="en-BD" dirty="0"/>
              <a:t>👉 </a:t>
            </a:r>
            <a:r>
              <a:rPr lang="en-GB" dirty="0"/>
              <a:t>Most bugs are found in a few areas</a:t>
            </a:r>
          </a:p>
          <a:p>
            <a:r>
              <a:rPr lang="en-BD" dirty="0"/>
              <a:t>📌 </a:t>
            </a:r>
            <a:r>
              <a:rPr lang="en-GB" dirty="0"/>
              <a:t>Example: Login module has most issues</a:t>
            </a:r>
          </a:p>
          <a:p>
            <a:br>
              <a:rPr lang="en-GB" dirty="0"/>
            </a:br>
            <a:endParaRPr lang="en-GB" dirty="0"/>
          </a:p>
          <a:p>
            <a:r>
              <a:rPr lang="en-GB" b="1" dirty="0"/>
              <a:t>5️⃣ Pesticide Paradox</a:t>
            </a:r>
          </a:p>
          <a:p>
            <a:br>
              <a:rPr lang="en-GB" dirty="0"/>
            </a:br>
            <a:endParaRPr lang="en-GB" dirty="0"/>
          </a:p>
          <a:p>
            <a:r>
              <a:rPr lang="en-BD" dirty="0"/>
              <a:t>👉 </a:t>
            </a:r>
            <a:r>
              <a:rPr lang="en-GB" dirty="0"/>
              <a:t>Same tests stop finding new bugs over time</a:t>
            </a:r>
          </a:p>
          <a:p>
            <a:r>
              <a:rPr lang="en-BD" dirty="0"/>
              <a:t>📌 </a:t>
            </a:r>
            <a:r>
              <a:rPr lang="en-GB" dirty="0"/>
              <a:t>Example: Update test cases regularly</a:t>
            </a:r>
          </a:p>
          <a:p>
            <a:br>
              <a:rPr lang="en-GB" dirty="0"/>
            </a:br>
            <a:endParaRPr lang="en-GB" dirty="0"/>
          </a:p>
          <a:p>
            <a:r>
              <a:rPr lang="en-GB" b="1" dirty="0"/>
              <a:t>6️⃣ Testing is Context-Dependent</a:t>
            </a:r>
          </a:p>
          <a:p>
            <a:br>
              <a:rPr lang="en-GB" dirty="0"/>
            </a:br>
            <a:endParaRPr lang="en-GB" dirty="0"/>
          </a:p>
          <a:p>
            <a:r>
              <a:rPr lang="en-BD" dirty="0"/>
              <a:t>👉 </a:t>
            </a:r>
            <a:r>
              <a:rPr lang="en-GB" dirty="0"/>
              <a:t>Testing approach depends on project type</a:t>
            </a:r>
          </a:p>
          <a:p>
            <a:r>
              <a:rPr lang="en-BD" dirty="0"/>
              <a:t>📌 </a:t>
            </a:r>
            <a:r>
              <a:rPr lang="en-GB" dirty="0"/>
              <a:t>Example: Banking app vs game testing is different</a:t>
            </a:r>
          </a:p>
          <a:p>
            <a:br>
              <a:rPr lang="en-GB" dirty="0"/>
            </a:br>
            <a:endParaRPr lang="en-GB" dirty="0"/>
          </a:p>
          <a:p>
            <a:r>
              <a:rPr lang="en-GB" b="1" dirty="0"/>
              <a:t>7️⃣ Absence of Errors Fallacy</a:t>
            </a:r>
          </a:p>
          <a:p>
            <a:br>
              <a:rPr lang="en-GB" dirty="0"/>
            </a:br>
            <a:endParaRPr lang="en-GB" dirty="0"/>
          </a:p>
          <a:p>
            <a:r>
              <a:rPr lang="en-BD" dirty="0"/>
              <a:t>👉 </a:t>
            </a:r>
            <a:r>
              <a:rPr lang="en-GB" dirty="0"/>
              <a:t>No bugs ≠ Good product</a:t>
            </a:r>
          </a:p>
          <a:p>
            <a:r>
              <a:rPr lang="en-BD" dirty="0"/>
              <a:t>📌 </a:t>
            </a:r>
            <a:r>
              <a:rPr lang="en-GB" dirty="0"/>
              <a:t>Example: Bug-free app but doesn’t meet user needs</a:t>
            </a:r>
          </a:p>
          <a:p>
            <a:br>
              <a:rPr lang="en-GB" dirty="0"/>
            </a:br>
            <a:endParaRPr lang="en-GB" dirty="0"/>
          </a:p>
          <a:p>
            <a:r>
              <a:rPr lang="en-BD" b="1" dirty="0"/>
              <a:t>📌 </a:t>
            </a:r>
            <a:r>
              <a:rPr lang="en-GB" b="1" dirty="0"/>
              <a:t>One-line Summary</a:t>
            </a:r>
          </a:p>
          <a:p>
            <a:br>
              <a:rPr lang="en-GB" dirty="0"/>
            </a:br>
            <a:endParaRPr lang="en-GB" dirty="0"/>
          </a:p>
          <a:p>
            <a:r>
              <a:rPr lang="en-BD" dirty="0"/>
              <a:t>👉 </a:t>
            </a:r>
            <a:r>
              <a:rPr lang="en-GB" b="1" dirty="0"/>
              <a:t>Testing finds bugs, not perfection — test smart, early, and adapt</a:t>
            </a:r>
            <a:endParaRPr lang="en-GB"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82bac4281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g382bac4281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82bac4281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g382bac4281b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82bac4281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g382bac4281b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82bac4281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382bac4281b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82bac4281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g382bac4281b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82bac4281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g382bac4281b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82bac4281b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7" name="Google Shape;387;g382bac4281b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82bac4281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g382bac4281b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8a5f54462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9" name="Google Shape;399;g38a5f54462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8a5f544626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8a5f544626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8a5f544626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g38a5f544626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8a5f544626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7" name="Google Shape;417;g38a5f544626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8a5f544626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3" name="Google Shape;423;g38a5f544626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8a5f54462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38a5f54462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82bac4281b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g382bac4281b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0" name="Google Shape;44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858618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48A87A34-81AB-432B-8DAE-1953F412C126}" type="datetimeFigureOut">
              <a:rPr lang="en-US" smtClean="0"/>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7152910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GB"/>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1097141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7004448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0148144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4/8/26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6146085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4/8/26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22713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GB"/>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4/8/26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6179525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9275523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95465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GB"/>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211199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GB"/>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GB"/>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418618927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GB"/>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0171292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GB"/>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374732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GB"/>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4/8/26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279253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6974136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8234588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secHead">
  <p:cSld name="1_Title Slide">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32850" y="1124700"/>
            <a:ext cx="7878300" cy="1741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5400"/>
              <a:buFont typeface="Hepta Slab"/>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 name="Google Shape;11;p13"/>
          <p:cNvSpPr txBox="1">
            <a:spLocks noGrp="1"/>
          </p:cNvSpPr>
          <p:nvPr>
            <p:ph type="body" idx="1"/>
          </p:nvPr>
        </p:nvSpPr>
        <p:spPr>
          <a:xfrm>
            <a:off x="4064100" y="4335200"/>
            <a:ext cx="1015800" cy="266100"/>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lvl1pPr marL="457200" lvl="0"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1pPr>
            <a:lvl2pPr marL="914400" lvl="1"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2pPr>
            <a:lvl3pPr marL="1371600" lvl="2"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3pPr>
            <a:lvl4pPr marL="1828800" lvl="3"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4pPr>
            <a:lvl5pPr marL="2286000" lvl="4" indent="-298450" algn="l">
              <a:lnSpc>
                <a:spcPct val="100000"/>
              </a:lnSpc>
              <a:spcBef>
                <a:spcPts val="0"/>
              </a:spcBef>
              <a:spcAft>
                <a:spcPts val="0"/>
              </a:spcAft>
              <a:buSzPts val="1100"/>
              <a:buFont typeface="Barlow Medium"/>
              <a:buChar char="○"/>
              <a:defRPr>
                <a:latin typeface="Barlow Medium"/>
                <a:ea typeface="Barlow Medium"/>
                <a:cs typeface="Barlow Medium"/>
                <a:sym typeface="Barlow Medium"/>
              </a:defRPr>
            </a:lvl5pPr>
            <a:lvl6pPr marL="2743200" lvl="5"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6pPr>
            <a:lvl7pPr marL="3200400" lvl="6"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7pPr>
            <a:lvl8pPr marL="3657600" lvl="7"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8pPr>
            <a:lvl9pPr marL="4114800" lvl="8" indent="-29845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9pPr>
          </a:lstStyle>
          <a:p>
            <a:endParaRPr/>
          </a:p>
        </p:txBody>
      </p:sp>
      <p:sp>
        <p:nvSpPr>
          <p:cNvPr id="12" name="Google Shape;12;p13"/>
          <p:cNvSpPr txBox="1">
            <a:spLocks noGrp="1"/>
          </p:cNvSpPr>
          <p:nvPr>
            <p:ph type="subTitle" idx="2"/>
          </p:nvPr>
        </p:nvSpPr>
        <p:spPr>
          <a:xfrm>
            <a:off x="2857500" y="2902000"/>
            <a:ext cx="3765600" cy="934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a:endParaRPr/>
          </a:p>
        </p:txBody>
      </p:sp>
      <p:sp>
        <p:nvSpPr>
          <p:cNvPr id="13" name="Google Shape;13;p1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554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0"/>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48A87A34-81AB-432B-8DAE-1953F412C126}" type="datetimeFigureOut">
              <a:rPr lang="en-US" smtClean="0"/>
              <a:pPr/>
              <a:t>4/8/26</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39040097"/>
      </p:ext>
    </p:extLst>
  </p:cSld>
  <p:clrMap bg1="dk1" tx1="lt1" bg2="dk2" tx2="lt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 id="2147483911" r:id="rId17"/>
    <p:sldLayoutId id="2147483912"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lt1"/>
              </a:buClr>
              <a:buSzPts val="1100"/>
              <a:buNone/>
            </a:pPr>
            <a:r>
              <a:rPr lang="en" sz="5200">
                <a:latin typeface="Arial"/>
                <a:ea typeface="Arial"/>
                <a:cs typeface="Arial"/>
                <a:sym typeface="Arial"/>
              </a:rPr>
              <a:t>Principles of Software Testing</a:t>
            </a:r>
            <a:endParaRPr/>
          </a:p>
        </p:txBody>
      </p:sp>
      <p:sp>
        <p:nvSpPr>
          <p:cNvPr id="336" name="Google Shape;336;p1"/>
          <p:cNvSpPr txBox="1">
            <a:spLocks noGrp="1"/>
          </p:cNvSpPr>
          <p:nvPr>
            <p:ph type="subTitle" idx="2"/>
          </p:nvPr>
        </p:nvSpPr>
        <p:spPr>
          <a:xfrm>
            <a:off x="2689200" y="2911174"/>
            <a:ext cx="3765600" cy="93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lt1"/>
              </a:buClr>
              <a:buSzPts val="1100"/>
              <a:buNone/>
            </a:pPr>
            <a:r>
              <a:rPr lang="en"/>
              <a:t>SQA: Manual &amp; Automated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
          <p:cNvSpPr txBox="1">
            <a:spLocks noGrp="1"/>
          </p:cNvSpPr>
          <p:nvPr>
            <p:ph type="title"/>
          </p:nvPr>
        </p:nvSpPr>
        <p:spPr>
          <a:xfrm>
            <a:off x="98600" y="-71030"/>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Background</a:t>
            </a:r>
            <a:endParaRPr sz="3400"/>
          </a:p>
        </p:txBody>
      </p:sp>
      <p:sp>
        <p:nvSpPr>
          <p:cNvPr id="342" name="Google Shape;342;p2"/>
          <p:cNvSpPr txBox="1"/>
          <p:nvPr/>
        </p:nvSpPr>
        <p:spPr>
          <a:xfrm>
            <a:off x="384550" y="469278"/>
            <a:ext cx="8425500" cy="45714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0" i="0" u="none" strike="noStrike" cap="none">
                <a:solidFill>
                  <a:srgbClr val="FFFFFF"/>
                </a:solidFill>
                <a:latin typeface="Arial"/>
                <a:ea typeface="Arial"/>
                <a:cs typeface="Arial"/>
                <a:sym typeface="Arial"/>
              </a:rPr>
              <a:t>Software testing is a crucial part of the software development process, making sure that products are robust, functional, and up to users' needs and desires. </a:t>
            </a:r>
            <a:endParaRPr sz="1500" b="0"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0" i="0" u="none" strike="noStrike" cap="none">
                <a:solidFill>
                  <a:srgbClr val="FFFFFF"/>
                </a:solidFill>
                <a:latin typeface="Arial"/>
                <a:ea typeface="Arial"/>
                <a:cs typeface="Arial"/>
                <a:sym typeface="Arial"/>
              </a:rPr>
              <a:t>But still, testing is more than simply verifying whether "everything works", it requires performing it efficiently and effectively</a:t>
            </a:r>
            <a:endParaRPr sz="1500" b="0"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0" i="0" u="none" strike="noStrike" cap="none">
                <a:solidFill>
                  <a:srgbClr val="FFFFFF"/>
                </a:solidFill>
                <a:latin typeface="Arial"/>
                <a:ea typeface="Arial"/>
                <a:cs typeface="Arial"/>
                <a:sym typeface="Arial"/>
              </a:rPr>
              <a:t>It is important that you achieve optimum test results while conducting software testing without deviating from the goal</a:t>
            </a:r>
            <a:endParaRPr sz="1500" b="0"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0" i="0" u="none" strike="noStrike" cap="none">
                <a:solidFill>
                  <a:srgbClr val="FFFFFF"/>
                </a:solidFill>
                <a:latin typeface="Arial"/>
                <a:ea typeface="Arial"/>
                <a:cs typeface="Arial"/>
                <a:sym typeface="Arial"/>
              </a:rPr>
              <a:t>But how you determine that you are following the right strategy for testing? </a:t>
            </a:r>
            <a:endParaRPr sz="1500" b="0"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0" i="0" u="none" strike="noStrike" cap="none">
                <a:solidFill>
                  <a:srgbClr val="FFFFFF"/>
                </a:solidFill>
                <a:latin typeface="Arial"/>
                <a:ea typeface="Arial"/>
                <a:cs typeface="Arial"/>
                <a:sym typeface="Arial"/>
              </a:rPr>
              <a:t>For that, you need to stick to some basic testing principles. </a:t>
            </a:r>
            <a:endParaRPr sz="1500" b="0"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0" i="0" u="none" strike="noStrike" cap="none">
                <a:solidFill>
                  <a:srgbClr val="FFFFFF"/>
                </a:solidFill>
                <a:latin typeface="Arial"/>
                <a:ea typeface="Arial"/>
                <a:cs typeface="Arial"/>
                <a:sym typeface="Arial"/>
              </a:rPr>
              <a:t>There are the common seven testing principles that are widely practiced in the software industry.</a:t>
            </a:r>
            <a:endParaRPr sz="1500" b="0" i="0" u="none" strike="noStrike" cap="non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382bac4281b_0_77"/>
          <p:cNvSpPr txBox="1">
            <a:spLocks noGrp="1"/>
          </p:cNvSpPr>
          <p:nvPr>
            <p:ph type="title"/>
          </p:nvPr>
        </p:nvSpPr>
        <p:spPr>
          <a:xfrm>
            <a:off x="98600" y="171425"/>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Software Testing Principles: At a glance</a:t>
            </a:r>
            <a:endParaRPr sz="3400"/>
          </a:p>
        </p:txBody>
      </p:sp>
      <p:pic>
        <p:nvPicPr>
          <p:cNvPr id="348" name="Google Shape;348;g382bac4281b_0_77"/>
          <p:cNvPicPr preferRelativeResize="0"/>
          <p:nvPr/>
        </p:nvPicPr>
        <p:blipFill rotWithShape="1">
          <a:blip r:embed="rId3">
            <a:alphaModFix/>
          </a:blip>
          <a:srcRect/>
          <a:stretch/>
        </p:blipFill>
        <p:spPr>
          <a:xfrm>
            <a:off x="1516925" y="838000"/>
            <a:ext cx="5874749" cy="3937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382bac4281b_0_0"/>
          <p:cNvSpPr txBox="1">
            <a:spLocks noGrp="1"/>
          </p:cNvSpPr>
          <p:nvPr>
            <p:ph type="title"/>
          </p:nvPr>
        </p:nvSpPr>
        <p:spPr>
          <a:xfrm>
            <a:off x="98600" y="171425"/>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dirty="0">
                <a:latin typeface="Arial"/>
                <a:ea typeface="Arial"/>
                <a:cs typeface="Arial"/>
                <a:sym typeface="Arial"/>
              </a:rPr>
              <a:t>Principle 1: Testing shows the presence of defects</a:t>
            </a:r>
            <a:endParaRPr sz="3400" dirty="0"/>
          </a:p>
        </p:txBody>
      </p:sp>
      <p:sp>
        <p:nvSpPr>
          <p:cNvPr id="354" name="Google Shape;354;g382bac4281b_0_0"/>
          <p:cNvSpPr txBox="1"/>
          <p:nvPr/>
        </p:nvSpPr>
        <p:spPr>
          <a:xfrm>
            <a:off x="384550" y="1342064"/>
            <a:ext cx="8425500" cy="31863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 Testing can prove the presence of defects.</a:t>
            </a:r>
            <a:endParaRPr sz="1500" b="1" i="0" u="none" strike="noStrike" cap="none" dirty="0">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 Deviations discovered while testing show a failure.</a:t>
            </a:r>
            <a:endParaRPr sz="1500" b="1" i="0" u="none" strike="noStrike" cap="none" dirty="0">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 The cause of the failure might not be obvious.</a:t>
            </a:r>
            <a:endParaRPr sz="1500" b="1" i="0" u="none" strike="noStrike" cap="none" dirty="0">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 Testing reduces the probability of defects remaining undiscovered. </a:t>
            </a:r>
            <a:endParaRPr sz="1500" b="1" i="0" u="none" strike="noStrike" cap="none" dirty="0">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The absence of failure does not prove the correctness of the software.</a:t>
            </a:r>
            <a:endParaRPr sz="1500" b="1" i="0" u="none" strike="noStrike" cap="none" dirty="0">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 The test procedure itself might contain error</a:t>
            </a:r>
            <a:endParaRPr sz="1500" b="1" i="0" u="none" strike="noStrike" cap="none" dirty="0">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 The test conditions might be unsuitable for finding errors.</a:t>
            </a:r>
            <a:endParaRPr sz="1500" b="1" i="0" u="none" strike="noStrike" cap="none" dirty="0">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382bac4281b_0_5"/>
          <p:cNvSpPr txBox="1">
            <a:spLocks noGrp="1"/>
          </p:cNvSpPr>
          <p:nvPr>
            <p:ph type="title"/>
          </p:nvPr>
        </p:nvSpPr>
        <p:spPr>
          <a:xfrm>
            <a:off x="98600" y="171425"/>
            <a:ext cx="89226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Principle 2: Exhaustive testing is not possible</a:t>
            </a:r>
            <a:endParaRPr sz="3400"/>
          </a:p>
        </p:txBody>
      </p:sp>
      <p:sp>
        <p:nvSpPr>
          <p:cNvPr id="360" name="Google Shape;360;g382bac4281b_0_5"/>
          <p:cNvSpPr txBox="1"/>
          <p:nvPr/>
        </p:nvSpPr>
        <p:spPr>
          <a:xfrm>
            <a:off x="384550" y="802624"/>
            <a:ext cx="8425500" cy="41097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Exhaustive testing: </a:t>
            </a:r>
            <a:r>
              <a:rPr lang="en" sz="1500" i="0" u="none" strike="noStrike" cap="none">
                <a:solidFill>
                  <a:srgbClr val="FFFFFF"/>
                </a:solidFill>
              </a:rPr>
              <a:t>A test approach in which the test suite comprises all combinations of input values and preconditions</a:t>
            </a:r>
            <a:endParaRPr sz="1500" i="0" u="none" strike="noStrike" cap="none">
              <a:solidFill>
                <a:srgbClr val="FFFFFF"/>
              </a:solidFil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Test case explosion: </a:t>
            </a:r>
            <a:r>
              <a:rPr lang="en" sz="1500" i="0" u="none" strike="noStrike" cap="none">
                <a:solidFill>
                  <a:srgbClr val="FFFFFF"/>
                </a:solidFill>
              </a:rPr>
              <a:t>Defines the exponential increase of efforts and costs when testing exhaustively</a:t>
            </a:r>
            <a:endParaRPr sz="1500" i="0" u="none" strike="noStrike" cap="none">
              <a:solidFill>
                <a:srgbClr val="FFFFFF"/>
              </a:solidFil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Sample test: </a:t>
            </a:r>
            <a:r>
              <a:rPr lang="en" sz="1500" i="0" u="none" strike="noStrike" cap="none">
                <a:solidFill>
                  <a:srgbClr val="FFFFFF"/>
                </a:solidFill>
              </a:rPr>
              <a:t>The test includes only a (systematically or randomly derived) subset of all possible input values</a:t>
            </a:r>
            <a:endParaRPr sz="1500" i="0" u="none" strike="noStrike" cap="none">
              <a:solidFill>
                <a:srgbClr val="FFFFFF"/>
              </a:solidFil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Under real life conditions, </a:t>
            </a:r>
            <a:r>
              <a:rPr lang="en" sz="1500" i="0" u="none" strike="noStrike" cap="none">
                <a:solidFill>
                  <a:srgbClr val="FFFFFF"/>
                </a:solidFill>
              </a:rPr>
              <a:t>sample tests are generally used.</a:t>
            </a:r>
            <a:r>
              <a:rPr lang="en" sz="1500" b="1" i="0" u="none" strike="noStrike" cap="none">
                <a:solidFill>
                  <a:srgbClr val="FFFFFF"/>
                </a:solidFill>
                <a:latin typeface="Arial"/>
                <a:ea typeface="Arial"/>
                <a:cs typeface="Arial"/>
                <a:sym typeface="Arial"/>
              </a:rPr>
              <a:t> </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i="0" u="none" strike="noStrike" cap="none">
                <a:solidFill>
                  <a:srgbClr val="FFFFFF"/>
                </a:solidFill>
              </a:rPr>
              <a:t>Testing</a:t>
            </a:r>
            <a:r>
              <a:rPr lang="en" sz="1500" b="1" i="0" u="none" strike="noStrike" cap="none">
                <a:solidFill>
                  <a:srgbClr val="FFFFFF"/>
                </a:solidFill>
                <a:latin typeface="Arial"/>
                <a:ea typeface="Arial"/>
                <a:cs typeface="Arial"/>
                <a:sym typeface="Arial"/>
              </a:rPr>
              <a:t> all combination</a:t>
            </a:r>
            <a:r>
              <a:rPr lang="en" sz="1500" b="1">
                <a:solidFill>
                  <a:srgbClr val="FFFFFF"/>
                </a:solidFill>
              </a:rPr>
              <a:t> </a:t>
            </a:r>
            <a:r>
              <a:rPr lang="en" sz="1500" b="1" i="0" u="none" strike="noStrike" cap="none">
                <a:solidFill>
                  <a:srgbClr val="FFFFFF"/>
                </a:solidFill>
                <a:latin typeface="Arial"/>
                <a:ea typeface="Arial"/>
                <a:cs typeface="Arial"/>
                <a:sym typeface="Arial"/>
              </a:rPr>
              <a:t>of inputs and preconditions </a:t>
            </a:r>
            <a:r>
              <a:rPr lang="en" sz="1500" i="0" u="none" strike="noStrike" cap="none">
                <a:solidFill>
                  <a:srgbClr val="FFFFFF"/>
                </a:solidFill>
              </a:rPr>
              <a:t>is</a:t>
            </a:r>
            <a:r>
              <a:rPr lang="en" sz="1500" b="1" i="0" u="none" strike="noStrike" cap="none">
                <a:solidFill>
                  <a:srgbClr val="FFFFFF"/>
                </a:solidFill>
                <a:latin typeface="Arial"/>
                <a:ea typeface="Arial"/>
                <a:cs typeface="Arial"/>
                <a:sym typeface="Arial"/>
              </a:rPr>
              <a:t> only economically feasible </a:t>
            </a:r>
            <a:r>
              <a:rPr lang="en" sz="1500" i="0" u="none" strike="noStrike" cap="none">
                <a:solidFill>
                  <a:srgbClr val="FFFFFF"/>
                </a:solidFill>
              </a:rPr>
              <a:t>in trivial case</a:t>
            </a:r>
            <a:endParaRPr sz="1500" i="0" u="none" strike="noStrike" cap="none">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382bac4281b_0_10"/>
          <p:cNvSpPr txBox="1">
            <a:spLocks noGrp="1"/>
          </p:cNvSpPr>
          <p:nvPr>
            <p:ph type="title"/>
          </p:nvPr>
        </p:nvSpPr>
        <p:spPr>
          <a:xfrm>
            <a:off x="98600" y="171425"/>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Principle 3: Early testing</a:t>
            </a:r>
            <a:endParaRPr sz="3400"/>
          </a:p>
        </p:txBody>
      </p:sp>
      <p:sp>
        <p:nvSpPr>
          <p:cNvPr id="366" name="Google Shape;366;g382bac4281b_0_10"/>
          <p:cNvSpPr txBox="1"/>
          <p:nvPr/>
        </p:nvSpPr>
        <p:spPr>
          <a:xfrm>
            <a:off x="384550" y="875625"/>
            <a:ext cx="8567400" cy="41097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The earlier a defect is discovered, the less costly is its correction.</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Highest cost effectiveness when errors are corrected before implementation</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Concepts and specifications may already be tested.</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Defects discovered at the conception phase are corrected with the least effort &amp; costs.</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Preparing a test is time consuming as well.</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Testing involves more than just test execution.</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Test activities can be prepared before software development is completed.</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Testing activities (including reviews) should run in parallel to software specification and design.</a:t>
            </a:r>
            <a:endParaRPr sz="1500" b="1" i="0" u="none" strike="noStrike" cap="non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382bac4281b_0_17"/>
          <p:cNvSpPr txBox="1">
            <a:spLocks noGrp="1"/>
          </p:cNvSpPr>
          <p:nvPr>
            <p:ph type="title"/>
          </p:nvPr>
        </p:nvSpPr>
        <p:spPr>
          <a:xfrm>
            <a:off x="98600" y="171425"/>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Principle 4: Defect clustering</a:t>
            </a:r>
            <a:endParaRPr sz="3400"/>
          </a:p>
        </p:txBody>
      </p:sp>
      <p:sp>
        <p:nvSpPr>
          <p:cNvPr id="372" name="Google Shape;372;g382bac4281b_0_17"/>
          <p:cNvSpPr txBox="1"/>
          <p:nvPr/>
        </p:nvSpPr>
        <p:spPr>
          <a:xfrm>
            <a:off x="384550" y="875619"/>
            <a:ext cx="8425500" cy="31863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Find a defect and you will find more defects nearby!</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Defects often appear clustered like mushrooms or cockroaches</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It is worth screening the same module where one defect was found</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Testers must be flexible</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Once a defect is found it is a good idea to reconsider the direction of further testing.</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The location of a defect might be screened at higher detail level, e.g. starting additional tests or modifying existing tests.</a:t>
            </a:r>
            <a:endParaRPr sz="1500" b="1" i="0" u="none" strike="noStrike" cap="non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382bac4281b_0_22"/>
          <p:cNvSpPr txBox="1">
            <a:spLocks noGrp="1"/>
          </p:cNvSpPr>
          <p:nvPr>
            <p:ph type="title"/>
          </p:nvPr>
        </p:nvSpPr>
        <p:spPr>
          <a:xfrm>
            <a:off x="98600" y="32279"/>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Principle 5: Pesticide paradox</a:t>
            </a:r>
            <a:endParaRPr sz="3400"/>
          </a:p>
        </p:txBody>
      </p:sp>
      <p:sp>
        <p:nvSpPr>
          <p:cNvPr id="378" name="Google Shape;378;g382bac4281b_0_22"/>
          <p:cNvSpPr txBox="1"/>
          <p:nvPr/>
        </p:nvSpPr>
        <p:spPr>
          <a:xfrm>
            <a:off x="384550" y="531067"/>
            <a:ext cx="8425500" cy="4801284"/>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Repeating tests under the same conditions is ineffective.</a:t>
            </a:r>
            <a:endParaRPr sz="1500" b="1" i="0" u="none" strike="noStrike" cap="none" dirty="0">
              <a:solidFill>
                <a:srgbClr val="FFFFFF"/>
              </a:solidFill>
              <a:latin typeface="Arial"/>
              <a:ea typeface="Arial"/>
              <a:cs typeface="Arial"/>
              <a:sym typeface="Arial"/>
            </a:endParaRPr>
          </a:p>
          <a:p>
            <a:pPr marL="914400" marR="0" lvl="1" indent="-323850" algn="l" rtl="0">
              <a:lnSpc>
                <a:spcPct val="200000"/>
              </a:lnSpc>
              <a:spcBef>
                <a:spcPts val="0"/>
              </a:spcBef>
              <a:spcAft>
                <a:spcPts val="0"/>
              </a:spcAft>
              <a:buClr>
                <a:srgbClr val="FFFFFF"/>
              </a:buClr>
              <a:buSzPts val="1500"/>
              <a:buChar char="○"/>
            </a:pPr>
            <a:r>
              <a:rPr lang="en" sz="1500" i="0" u="none" strike="noStrike" cap="none" dirty="0">
                <a:solidFill>
                  <a:srgbClr val="FFFFFF"/>
                </a:solidFill>
              </a:rPr>
              <a:t>Each test case should contain a unique combination of input parameters</a:t>
            </a:r>
            <a:endParaRPr sz="1500" i="0" u="none" strike="noStrike" cap="none" dirty="0">
              <a:solidFill>
                <a:srgbClr val="FFFFFF"/>
              </a:solidFill>
            </a:endParaRPr>
          </a:p>
          <a:p>
            <a:pPr marL="914400" marR="0" lvl="1" indent="-323850" algn="l" rtl="0">
              <a:lnSpc>
                <a:spcPct val="200000"/>
              </a:lnSpc>
              <a:spcBef>
                <a:spcPts val="0"/>
              </a:spcBef>
              <a:spcAft>
                <a:spcPts val="0"/>
              </a:spcAft>
              <a:buClr>
                <a:srgbClr val="FFFFFF"/>
              </a:buClr>
              <a:buSzPts val="1500"/>
              <a:buChar char="○"/>
            </a:pPr>
            <a:r>
              <a:rPr lang="en" sz="1500" i="0" u="none" strike="noStrike" cap="none" dirty="0">
                <a:solidFill>
                  <a:srgbClr val="FFFFFF"/>
                </a:solidFill>
              </a:rPr>
              <a:t>For a signal test objects, otherwise no additional information can be gained.</a:t>
            </a:r>
            <a:endParaRPr sz="1500" i="0" u="none" strike="noStrike" cap="none" dirty="0">
              <a:solidFill>
                <a:srgbClr val="FFFFFF"/>
              </a:solidFill>
            </a:endParaRPr>
          </a:p>
          <a:p>
            <a:pPr marL="914400" marR="0" lvl="1" indent="-323850" algn="l" rtl="0">
              <a:lnSpc>
                <a:spcPct val="200000"/>
              </a:lnSpc>
              <a:spcBef>
                <a:spcPts val="0"/>
              </a:spcBef>
              <a:spcAft>
                <a:spcPts val="0"/>
              </a:spcAft>
              <a:buClr>
                <a:srgbClr val="FFFFFF"/>
              </a:buClr>
              <a:buSzPts val="1500"/>
              <a:buChar char="○"/>
            </a:pPr>
            <a:r>
              <a:rPr lang="en" sz="1500" i="0" u="none" strike="noStrike" cap="none" dirty="0">
                <a:solidFill>
                  <a:srgbClr val="FFFFFF"/>
                </a:solidFill>
              </a:rPr>
              <a:t> If the same tests are repeated over and over again, no new bugs can be found</a:t>
            </a:r>
            <a:endParaRPr sz="1500" i="0" u="none" strike="noStrike" cap="none" dirty="0">
              <a:solidFill>
                <a:srgbClr val="FFFFFF"/>
              </a:solidFil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dirty="0">
                <a:solidFill>
                  <a:srgbClr val="FFFFFF"/>
                </a:solidFill>
                <a:latin typeface="Arial"/>
                <a:ea typeface="Arial"/>
                <a:cs typeface="Arial"/>
                <a:sym typeface="Arial"/>
              </a:rPr>
              <a:t> Tests must be revised regularly for different code modules.</a:t>
            </a:r>
            <a:endParaRPr sz="1500" b="1" i="0" u="none" strike="noStrike" cap="none" dirty="0">
              <a:solidFill>
                <a:srgbClr val="FFFFFF"/>
              </a:solidFill>
              <a:latin typeface="Arial"/>
              <a:ea typeface="Arial"/>
              <a:cs typeface="Arial"/>
              <a:sym typeface="Arial"/>
            </a:endParaRPr>
          </a:p>
          <a:p>
            <a:pPr marL="914400" marR="0" lvl="1" indent="-323850" algn="l" rtl="0">
              <a:lnSpc>
                <a:spcPct val="200000"/>
              </a:lnSpc>
              <a:spcBef>
                <a:spcPts val="0"/>
              </a:spcBef>
              <a:spcAft>
                <a:spcPts val="0"/>
              </a:spcAft>
              <a:buClr>
                <a:srgbClr val="FFFFFF"/>
              </a:buClr>
              <a:buSzPts val="1500"/>
              <a:buChar char="○"/>
            </a:pPr>
            <a:r>
              <a:rPr lang="en" sz="1500" i="0" u="none" strike="noStrike" cap="none" dirty="0">
                <a:solidFill>
                  <a:srgbClr val="FFFFFF"/>
                </a:solidFill>
              </a:rPr>
              <a:t>It is necessary to repeat a test after changes have been made in the code (bug fixing, new functionality).</a:t>
            </a:r>
            <a:endParaRPr sz="1500" i="0" u="none" strike="noStrike" cap="none" dirty="0">
              <a:solidFill>
                <a:srgbClr val="FFFFFF"/>
              </a:solidFill>
            </a:endParaRPr>
          </a:p>
          <a:p>
            <a:pPr marL="914400" marR="0" lvl="1" indent="-323850" algn="l" rtl="0">
              <a:lnSpc>
                <a:spcPct val="200000"/>
              </a:lnSpc>
              <a:spcBef>
                <a:spcPts val="0"/>
              </a:spcBef>
              <a:spcAft>
                <a:spcPts val="0"/>
              </a:spcAft>
              <a:buClr>
                <a:srgbClr val="FFFFFF"/>
              </a:buClr>
              <a:buSzPts val="1500"/>
              <a:buChar char="○"/>
            </a:pPr>
            <a:r>
              <a:rPr lang="en" sz="1500" i="0" u="none" strike="noStrike" cap="none" dirty="0">
                <a:solidFill>
                  <a:srgbClr val="FFFFFF"/>
                </a:solidFill>
              </a:rPr>
              <a:t>Automating tests can be an advantage if a group of tests cases is used regularly.</a:t>
            </a:r>
            <a:endParaRPr sz="1500" i="0" u="none" strike="noStrike" cap="none" dirty="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382bac4281b_0_27"/>
          <p:cNvSpPr txBox="1">
            <a:spLocks noGrp="1"/>
          </p:cNvSpPr>
          <p:nvPr>
            <p:ph type="title"/>
          </p:nvPr>
        </p:nvSpPr>
        <p:spPr>
          <a:xfrm>
            <a:off x="98600" y="171425"/>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Principle 6: Testing is context dependent</a:t>
            </a:r>
            <a:endParaRPr sz="3400"/>
          </a:p>
        </p:txBody>
      </p:sp>
      <p:sp>
        <p:nvSpPr>
          <p:cNvPr id="384" name="Google Shape;384;g382bac4281b_0_27"/>
          <p:cNvSpPr txBox="1"/>
          <p:nvPr/>
        </p:nvSpPr>
        <p:spPr>
          <a:xfrm>
            <a:off x="384550" y="875619"/>
            <a:ext cx="8425500" cy="41097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Testing is done differently in different contexts</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Different test objects are tested differently.</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The engine controller of a car requires tests different than those of an ecommerce application</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Test environmental (test bed) vs. production environment</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Test take place on an environment other than the production environment.</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The test environment should be very similar to the production environment.</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There will always be deviations between test environment and the production environment. These deviations impeach the conclusions drawn after testing.</a:t>
            </a:r>
            <a:endParaRPr sz="1500" b="1" i="0" u="none" strike="noStrike" cap="none">
              <a:solidFill>
                <a:srgbClr val="FFFFF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382bac4281b_0_34"/>
          <p:cNvSpPr txBox="1">
            <a:spLocks noGrp="1"/>
          </p:cNvSpPr>
          <p:nvPr>
            <p:ph type="title"/>
          </p:nvPr>
        </p:nvSpPr>
        <p:spPr>
          <a:xfrm>
            <a:off x="98600" y="171425"/>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Principle 7: Absence of errors fallacy</a:t>
            </a:r>
            <a:endParaRPr sz="3400"/>
          </a:p>
        </p:txBody>
      </p:sp>
      <p:sp>
        <p:nvSpPr>
          <p:cNvPr id="390" name="Google Shape;390;g382bac4281b_0_34"/>
          <p:cNvSpPr txBox="1"/>
          <p:nvPr/>
        </p:nvSpPr>
        <p:spPr>
          <a:xfrm>
            <a:off x="384550" y="875619"/>
            <a:ext cx="8425500" cy="31863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Successful testing find the most serious failure</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In most cases, testing will find all defects of the system (see principle 2), but the most serious defects should be found.</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This alone does not prove the quality of the software.</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The functionality of the software may not meet the needs and expectations of the users.</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You can not test quality into the product, it must be built in from the very beginning!</a:t>
            </a:r>
            <a:endParaRPr sz="1500" b="1" i="0" u="none" strike="noStrike" cap="none">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382bac4281b_0_39"/>
          <p:cNvSpPr txBox="1">
            <a:spLocks noGrp="1"/>
          </p:cNvSpPr>
          <p:nvPr>
            <p:ph type="title"/>
          </p:nvPr>
        </p:nvSpPr>
        <p:spPr>
          <a:xfrm>
            <a:off x="98600" y="-79689"/>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Summary:</a:t>
            </a:r>
            <a:endParaRPr sz="3400"/>
          </a:p>
        </p:txBody>
      </p:sp>
      <p:sp>
        <p:nvSpPr>
          <p:cNvPr id="396" name="Google Shape;396;g382bac4281b_0_39"/>
          <p:cNvSpPr txBox="1"/>
          <p:nvPr/>
        </p:nvSpPr>
        <p:spPr>
          <a:xfrm>
            <a:off x="384550" y="410193"/>
            <a:ext cx="8425500" cy="45714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Tests can help finding defects in the software, however; they can not give proof of </a:t>
            </a:r>
            <a:r>
              <a:rPr lang="en" sz="1500" b="1" i="1" u="sng" strike="noStrike" cap="none">
                <a:solidFill>
                  <a:srgbClr val="FFFFFF"/>
                </a:solidFill>
                <a:latin typeface="Arial"/>
                <a:ea typeface="Arial"/>
                <a:cs typeface="Arial"/>
                <a:sym typeface="Arial"/>
              </a:rPr>
              <a:t>the absence of defects</a:t>
            </a:r>
            <a:endParaRPr sz="1500" b="1" i="1" u="sng"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For non-trivial system, </a:t>
            </a:r>
            <a:r>
              <a:rPr lang="en" sz="1500" b="1" i="1" u="sng" strike="noStrike" cap="none">
                <a:solidFill>
                  <a:srgbClr val="FFFFFF"/>
                </a:solidFill>
                <a:latin typeface="Arial"/>
                <a:ea typeface="Arial"/>
                <a:cs typeface="Arial"/>
                <a:sym typeface="Arial"/>
              </a:rPr>
              <a:t>exhaustive testing</a:t>
            </a:r>
            <a:r>
              <a:rPr lang="en" sz="1500" b="1" i="0" u="none" strike="noStrike" cap="none">
                <a:solidFill>
                  <a:srgbClr val="FFFFFF"/>
                </a:solidFill>
                <a:latin typeface="Arial"/>
                <a:ea typeface="Arial"/>
                <a:cs typeface="Arial"/>
                <a:sym typeface="Arial"/>
              </a:rPr>
              <a:t> is impossible, sample testing necessary.</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1" u="sng" strike="noStrike" cap="none">
                <a:solidFill>
                  <a:srgbClr val="FFFFFF"/>
                </a:solidFill>
                <a:latin typeface="Arial"/>
                <a:ea typeface="Arial"/>
                <a:cs typeface="Arial"/>
                <a:sym typeface="Arial"/>
              </a:rPr>
              <a:t>Early testing</a:t>
            </a:r>
            <a:r>
              <a:rPr lang="en" sz="1500" b="1" i="0" u="none" strike="noStrike" cap="none">
                <a:solidFill>
                  <a:srgbClr val="FFFFFF"/>
                </a:solidFill>
                <a:latin typeface="Arial"/>
                <a:ea typeface="Arial"/>
                <a:cs typeface="Arial"/>
                <a:sym typeface="Arial"/>
              </a:rPr>
              <a:t> helps reduce costs because defects discovered early on are fixed with less effort</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Defects show up </a:t>
            </a:r>
            <a:r>
              <a:rPr lang="en" sz="1500" b="1" i="1" u="sng" strike="noStrike" cap="none">
                <a:solidFill>
                  <a:srgbClr val="FFFFFF"/>
                </a:solidFill>
                <a:latin typeface="Arial"/>
                <a:ea typeface="Arial"/>
                <a:cs typeface="Arial"/>
                <a:sym typeface="Arial"/>
              </a:rPr>
              <a:t>clustered</a:t>
            </a:r>
            <a:r>
              <a:rPr lang="en" sz="1500" b="1" i="0" u="none" strike="noStrike" cap="none">
                <a:solidFill>
                  <a:srgbClr val="FFFFFF"/>
                </a:solidFill>
                <a:latin typeface="Arial"/>
                <a:ea typeface="Arial"/>
                <a:cs typeface="Arial"/>
                <a:sym typeface="Arial"/>
              </a:rPr>
              <a:t>. Finding a defect at one place will mean you probably find another defect nearby.</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a:t>
            </a:r>
            <a:r>
              <a:rPr lang="en" sz="1500" b="1" i="1" u="sng" strike="noStrike" cap="none">
                <a:solidFill>
                  <a:srgbClr val="FFFFFF"/>
                </a:solidFill>
                <a:latin typeface="Arial"/>
                <a:ea typeface="Arial"/>
                <a:cs typeface="Arial"/>
                <a:sym typeface="Arial"/>
              </a:rPr>
              <a:t>Repeating</a:t>
            </a:r>
            <a:r>
              <a:rPr lang="en" sz="1500" b="1" i="0" u="none" strike="noStrike" cap="none">
                <a:solidFill>
                  <a:srgbClr val="FFFFFF"/>
                </a:solidFill>
                <a:latin typeface="Arial"/>
                <a:ea typeface="Arial"/>
                <a:cs typeface="Arial"/>
                <a:sym typeface="Arial"/>
              </a:rPr>
              <a:t> identical tests produces no new information</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Each </a:t>
            </a:r>
            <a:r>
              <a:rPr lang="en" sz="1500" b="1" i="1" u="sng" strike="noStrike" cap="none">
                <a:solidFill>
                  <a:srgbClr val="FFFFFF"/>
                </a:solidFill>
                <a:latin typeface="Arial"/>
                <a:ea typeface="Arial"/>
                <a:cs typeface="Arial"/>
                <a:sym typeface="Arial"/>
              </a:rPr>
              <a:t>particular environmental</a:t>
            </a:r>
            <a:r>
              <a:rPr lang="en" sz="1500" b="1" i="0" u="none" strike="noStrike" cap="none">
                <a:solidFill>
                  <a:srgbClr val="FFFFFF"/>
                </a:solidFill>
                <a:latin typeface="Arial"/>
                <a:ea typeface="Arial"/>
                <a:cs typeface="Arial"/>
                <a:sym typeface="Arial"/>
              </a:rPr>
              <a:t> determines the way in which tests will run</a:t>
            </a:r>
            <a:endParaRPr sz="1500" b="1" i="0" u="none" strike="noStrike" cap="none">
              <a:solidFill>
                <a:srgbClr val="FFFFFF"/>
              </a:solidFill>
              <a:latin typeface="Arial"/>
              <a:ea typeface="Arial"/>
              <a:cs typeface="Arial"/>
              <a:sym typeface="Arial"/>
            </a:endParaRPr>
          </a:p>
          <a:p>
            <a:pPr marL="457200" marR="0" lvl="0" indent="-323850" algn="l" rtl="0">
              <a:lnSpc>
                <a:spcPct val="200000"/>
              </a:lnSpc>
              <a:spcBef>
                <a:spcPts val="0"/>
              </a:spcBef>
              <a:spcAft>
                <a:spcPts val="0"/>
              </a:spcAft>
              <a:buClr>
                <a:srgbClr val="FFFFFF"/>
              </a:buClr>
              <a:buSzPts val="1500"/>
              <a:buFont typeface="Arial"/>
              <a:buChar char="●"/>
            </a:pPr>
            <a:r>
              <a:rPr lang="en" sz="1500" b="1" i="0" u="none" strike="noStrike" cap="none">
                <a:solidFill>
                  <a:srgbClr val="FFFFFF"/>
                </a:solidFill>
                <a:latin typeface="Arial"/>
                <a:ea typeface="Arial"/>
                <a:cs typeface="Arial"/>
                <a:sym typeface="Arial"/>
              </a:rPr>
              <a:t> Error-free software does not imply </a:t>
            </a:r>
            <a:r>
              <a:rPr lang="en" sz="1500" b="1" i="1" u="sng" strike="noStrike" cap="none">
                <a:solidFill>
                  <a:srgbClr val="FFFFFF"/>
                </a:solidFill>
                <a:latin typeface="Arial"/>
                <a:ea typeface="Arial"/>
                <a:cs typeface="Arial"/>
                <a:sym typeface="Arial"/>
              </a:rPr>
              <a:t>suitability for use</a:t>
            </a:r>
            <a:r>
              <a:rPr lang="en" sz="1500" b="1" i="0" u="none" strike="noStrike" cap="none">
                <a:solidFill>
                  <a:srgbClr val="FFFFFF"/>
                </a:solidFill>
                <a:latin typeface="Arial"/>
                <a:ea typeface="Arial"/>
                <a:cs typeface="Arial"/>
                <a:sym typeface="Arial"/>
              </a:rPr>
              <a:t>.</a:t>
            </a:r>
            <a:endParaRPr sz="1500" b="1" i="0" u="none" strike="noStrike" cap="non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g38a5f544626_0_16"/>
          <p:cNvSpPr txBox="1"/>
          <p:nvPr/>
        </p:nvSpPr>
        <p:spPr>
          <a:xfrm>
            <a:off x="208950" y="754329"/>
            <a:ext cx="7689000" cy="714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solidFill>
                  <a:srgbClr val="FFFFFF"/>
                </a:solidFill>
              </a:rPr>
              <a:t>Human Psychology and Testing</a:t>
            </a:r>
            <a:endParaRPr sz="4000" dirty="0">
              <a:solidFill>
                <a:srgbClr val="FFFFFF"/>
              </a:solidFill>
            </a:endParaRPr>
          </a:p>
        </p:txBody>
      </p:sp>
      <p:sp>
        <p:nvSpPr>
          <p:cNvPr id="402" name="Google Shape;402;g38a5f544626_0_16"/>
          <p:cNvSpPr txBox="1"/>
          <p:nvPr/>
        </p:nvSpPr>
        <p:spPr>
          <a:xfrm>
            <a:off x="182700" y="1786688"/>
            <a:ext cx="8778600" cy="2979900"/>
          </a:xfrm>
          <a:prstGeom prst="rect">
            <a:avLst/>
          </a:prstGeom>
          <a:noFill/>
          <a:ln>
            <a:noFill/>
          </a:ln>
        </p:spPr>
        <p:txBody>
          <a:bodyPr spcFirstLastPara="1" wrap="square" lIns="91425" tIns="91425" rIns="91425" bIns="91425" anchor="t" anchorCtr="0">
            <a:spAutoFit/>
          </a:bodyPr>
          <a:lstStyle/>
          <a:p>
            <a:pPr marL="457200" lvl="0" indent="-330200" algn="just" rtl="0">
              <a:lnSpc>
                <a:spcPct val="115000"/>
              </a:lnSpc>
              <a:spcBef>
                <a:spcPts val="0"/>
              </a:spcBef>
              <a:spcAft>
                <a:spcPts val="0"/>
              </a:spcAft>
              <a:buClr>
                <a:srgbClr val="FFFFFF"/>
              </a:buClr>
              <a:buSzPts val="1600"/>
              <a:buChar char="●"/>
            </a:pPr>
            <a:r>
              <a:rPr lang="en" sz="1600" dirty="0">
                <a:solidFill>
                  <a:srgbClr val="FFFFFF"/>
                </a:solidFill>
              </a:rPr>
              <a:t>The software that we work on applies a humanistic approach that necessitates human participation at every level.</a:t>
            </a:r>
            <a:endParaRPr sz="1600" dirty="0">
              <a:solidFill>
                <a:srgbClr val="FFFFFF"/>
              </a:solidFill>
            </a:endParaRPr>
          </a:p>
          <a:p>
            <a:pPr marL="457200" lvl="0" indent="0" algn="just" rtl="0">
              <a:lnSpc>
                <a:spcPct val="115000"/>
              </a:lnSpc>
              <a:spcBef>
                <a:spcPts val="0"/>
              </a:spcBef>
              <a:spcAft>
                <a:spcPts val="0"/>
              </a:spcAft>
              <a:buNone/>
            </a:pPr>
            <a:endParaRPr sz="16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600" dirty="0">
                <a:solidFill>
                  <a:srgbClr val="FFFFFF"/>
                </a:solidFill>
              </a:rPr>
              <a:t>And the software is always created, tested, and also most of the time, used and misused by humans.</a:t>
            </a:r>
            <a:endParaRPr sz="1600" dirty="0">
              <a:solidFill>
                <a:srgbClr val="FFFFFF"/>
              </a:solidFill>
            </a:endParaRPr>
          </a:p>
          <a:p>
            <a:pPr marL="457200" lvl="0" indent="0" algn="just" rtl="0">
              <a:lnSpc>
                <a:spcPct val="115000"/>
              </a:lnSpc>
              <a:spcBef>
                <a:spcPts val="0"/>
              </a:spcBef>
              <a:spcAft>
                <a:spcPts val="0"/>
              </a:spcAft>
              <a:buNone/>
            </a:pPr>
            <a:endParaRPr sz="16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600" dirty="0">
                <a:solidFill>
                  <a:srgbClr val="FFFFFF"/>
                </a:solidFill>
              </a:rPr>
              <a:t>Therefore, it takes a great deal of work and understanding to be ready to accept the reality of our human error.</a:t>
            </a:r>
            <a:endParaRPr sz="1600" dirty="0">
              <a:solidFill>
                <a:srgbClr val="FFFFFF"/>
              </a:solidFill>
            </a:endParaRPr>
          </a:p>
          <a:p>
            <a:pPr marL="457200" lvl="0" indent="0" algn="just" rtl="0">
              <a:lnSpc>
                <a:spcPct val="115000"/>
              </a:lnSpc>
              <a:spcBef>
                <a:spcPts val="0"/>
              </a:spcBef>
              <a:spcAft>
                <a:spcPts val="0"/>
              </a:spcAft>
              <a:buNone/>
            </a:pPr>
            <a:endParaRPr sz="16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600" dirty="0">
                <a:solidFill>
                  <a:srgbClr val="FFFFFF"/>
                </a:solidFill>
              </a:rPr>
              <a:t>Thus, several psychological elements affect productivity and testing.</a:t>
            </a:r>
            <a:endParaRPr sz="1600" dirty="0">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38a5f544626_0_21"/>
          <p:cNvSpPr txBox="1"/>
          <p:nvPr/>
        </p:nvSpPr>
        <p:spPr>
          <a:xfrm>
            <a:off x="825175" y="171241"/>
            <a:ext cx="7689000" cy="714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dirty="0">
                <a:solidFill>
                  <a:srgbClr val="FFFFFF"/>
                </a:solidFill>
              </a:rPr>
              <a:t>Different mindset with Example</a:t>
            </a:r>
            <a:endParaRPr sz="3600" dirty="0">
              <a:solidFill>
                <a:srgbClr val="FFFFFF"/>
              </a:solidFill>
            </a:endParaRPr>
          </a:p>
        </p:txBody>
      </p:sp>
      <p:sp>
        <p:nvSpPr>
          <p:cNvPr id="408" name="Google Shape;408;g38a5f544626_0_21"/>
          <p:cNvSpPr txBox="1"/>
          <p:nvPr/>
        </p:nvSpPr>
        <p:spPr>
          <a:xfrm>
            <a:off x="182700" y="945175"/>
            <a:ext cx="8778600" cy="3829500"/>
          </a:xfrm>
          <a:prstGeom prst="rect">
            <a:avLst/>
          </a:prstGeom>
          <a:noFill/>
          <a:ln>
            <a:noFill/>
          </a:ln>
        </p:spPr>
        <p:txBody>
          <a:bodyPr spcFirstLastPara="1" wrap="square" lIns="91425" tIns="91425" rIns="91425" bIns="91425" anchor="t" anchorCtr="0">
            <a:spAutoFit/>
          </a:bodyPr>
          <a:lstStyle/>
          <a:p>
            <a:pPr marL="457200" lvl="0" indent="-330200" algn="just" rtl="0">
              <a:lnSpc>
                <a:spcPct val="115000"/>
              </a:lnSpc>
              <a:spcBef>
                <a:spcPts val="0"/>
              </a:spcBef>
              <a:spcAft>
                <a:spcPts val="0"/>
              </a:spcAft>
              <a:buClr>
                <a:srgbClr val="FFFFFF"/>
              </a:buClr>
              <a:buSzPts val="1600"/>
              <a:buChar char="●"/>
            </a:pPr>
            <a:r>
              <a:rPr lang="en" sz="1600">
                <a:solidFill>
                  <a:srgbClr val="FFFFFF"/>
                </a:solidFill>
              </a:rPr>
              <a:t>We work constructively toward the software during development with the goal of satisfying client needs. On the other hand, we search for flaws in the product when we test or examine it.</a:t>
            </a:r>
            <a:endParaRPr sz="1600">
              <a:solidFill>
                <a:srgbClr val="FFFFFF"/>
              </a:solidFill>
            </a:endParaRPr>
          </a:p>
          <a:p>
            <a:pPr marL="457200" lvl="0" indent="0" algn="just" rtl="0">
              <a:lnSpc>
                <a:spcPct val="115000"/>
              </a:lnSpc>
              <a:spcBef>
                <a:spcPts val="0"/>
              </a:spcBef>
              <a:spcAft>
                <a:spcPts val="0"/>
              </a:spcAft>
              <a:buNone/>
            </a:pPr>
            <a:endParaRPr sz="160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600" b="1">
                <a:solidFill>
                  <a:srgbClr val="FFFFFF"/>
                </a:solidFill>
              </a:rPr>
              <a:t>Example:</a:t>
            </a:r>
            <a:r>
              <a:rPr lang="en" sz="1600">
                <a:solidFill>
                  <a:srgbClr val="FFFFFF"/>
                </a:solidFill>
              </a:rPr>
              <a:t> Imagine working as a chef in a five-star establishment. Using the ingredients at hand, it is your responsibility to prepare the greatest meal you can. From your perspective, the meal is perfect because you bring all of your expertise to the table. Imagine now that the hotel has employed an internal quality inspector to sample your food and report back to the hotel management on its flavor and quality.</a:t>
            </a:r>
            <a:endParaRPr sz="1600">
              <a:solidFill>
                <a:srgbClr val="FFFFFF"/>
              </a:solidFill>
            </a:endParaRPr>
          </a:p>
          <a:p>
            <a:pPr marL="457200" lvl="0" indent="0" algn="just" rtl="0">
              <a:lnSpc>
                <a:spcPct val="115000"/>
              </a:lnSpc>
              <a:spcBef>
                <a:spcPts val="0"/>
              </a:spcBef>
              <a:spcAft>
                <a:spcPts val="0"/>
              </a:spcAft>
              <a:buNone/>
            </a:pPr>
            <a:endParaRPr sz="160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600">
                <a:solidFill>
                  <a:srgbClr val="FFFFFF"/>
                </a:solidFill>
              </a:rPr>
              <a:t>The mindset of a quality inspector can be related with that of a tester, and the mindset of a chef with that of a developer. While the chef prepares the cuisine with good intentions, the quality inspector checks the dish for errors or defects.</a:t>
            </a:r>
            <a:endParaRPr sz="16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g38a5f544626_0_26"/>
          <p:cNvSpPr txBox="1"/>
          <p:nvPr/>
        </p:nvSpPr>
        <p:spPr>
          <a:xfrm>
            <a:off x="208950" y="230875"/>
            <a:ext cx="8752500" cy="714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dirty="0">
                <a:solidFill>
                  <a:srgbClr val="FFFFFF"/>
                </a:solidFill>
              </a:rPr>
              <a:t>Characteristics of a Software Tester</a:t>
            </a:r>
            <a:endParaRPr sz="3600" dirty="0">
              <a:solidFill>
                <a:srgbClr val="FFFFFF"/>
              </a:solidFill>
            </a:endParaRPr>
          </a:p>
        </p:txBody>
      </p:sp>
      <p:sp>
        <p:nvSpPr>
          <p:cNvPr id="414" name="Google Shape;414;g38a5f544626_0_26"/>
          <p:cNvSpPr txBox="1"/>
          <p:nvPr/>
        </p:nvSpPr>
        <p:spPr>
          <a:xfrm>
            <a:off x="182700" y="945175"/>
            <a:ext cx="8778600" cy="3016180"/>
          </a:xfrm>
          <a:prstGeom prst="rect">
            <a:avLst/>
          </a:prstGeom>
          <a:noFill/>
          <a:ln>
            <a:noFill/>
          </a:ln>
        </p:spPr>
        <p:txBody>
          <a:bodyPr spcFirstLastPara="1" wrap="square" lIns="91425" tIns="91425" rIns="91425" bIns="91425" anchor="t" anchorCtr="0">
            <a:spAutoFit/>
          </a:bodyPr>
          <a:lstStyle/>
          <a:p>
            <a:pPr marL="457200" lvl="0" indent="-330200" rtl="0">
              <a:lnSpc>
                <a:spcPct val="115000"/>
              </a:lnSpc>
              <a:spcBef>
                <a:spcPts val="0"/>
              </a:spcBef>
              <a:spcAft>
                <a:spcPts val="0"/>
              </a:spcAft>
              <a:buClr>
                <a:srgbClr val="FFFFFF"/>
              </a:buClr>
              <a:buSzPts val="1600"/>
              <a:buChar char="●"/>
            </a:pPr>
            <a:r>
              <a:rPr lang="en" sz="1600" dirty="0">
                <a:solidFill>
                  <a:srgbClr val="FFFFFF"/>
                </a:solidFill>
              </a:rPr>
              <a:t>Software testing and software development are concurrent processes. Both seek to fulfill predetermined criteria and objectives to meet client’s expectations</a:t>
            </a:r>
            <a:endParaRPr sz="1600" dirty="0">
              <a:solidFill>
                <a:srgbClr val="FFFFFF"/>
              </a:solidFill>
            </a:endParaRPr>
          </a:p>
          <a:p>
            <a:pPr marL="457200" lvl="0" indent="0" rtl="0">
              <a:lnSpc>
                <a:spcPct val="115000"/>
              </a:lnSpc>
              <a:spcBef>
                <a:spcPts val="0"/>
              </a:spcBef>
              <a:spcAft>
                <a:spcPts val="0"/>
              </a:spcAft>
              <a:buNone/>
            </a:pPr>
            <a:endParaRPr sz="1600" dirty="0">
              <a:solidFill>
                <a:srgbClr val="FFFFFF"/>
              </a:solidFill>
            </a:endParaRPr>
          </a:p>
          <a:p>
            <a:pPr marL="457200" lvl="0" indent="-330200" rtl="0">
              <a:lnSpc>
                <a:spcPct val="115000"/>
              </a:lnSpc>
              <a:spcBef>
                <a:spcPts val="0"/>
              </a:spcBef>
              <a:spcAft>
                <a:spcPts val="0"/>
              </a:spcAft>
              <a:buClr>
                <a:srgbClr val="FFFFFF"/>
              </a:buClr>
              <a:buSzPts val="1600"/>
              <a:buChar char="●"/>
            </a:pPr>
            <a:r>
              <a:rPr lang="en" sz="1600" dirty="0">
                <a:solidFill>
                  <a:srgbClr val="FFFFFF"/>
                </a:solidFill>
              </a:rPr>
              <a:t>But there are difference towards working procedure.</a:t>
            </a:r>
            <a:br>
              <a:rPr lang="en" sz="1600" dirty="0">
                <a:solidFill>
                  <a:srgbClr val="FFFFFF"/>
                </a:solidFill>
              </a:rPr>
            </a:br>
            <a:endParaRPr sz="1600" dirty="0">
              <a:solidFill>
                <a:srgbClr val="FFFFFF"/>
              </a:solidFill>
            </a:endParaRPr>
          </a:p>
          <a:p>
            <a:pPr marL="457200" lvl="0" indent="-330200" rtl="0">
              <a:lnSpc>
                <a:spcPct val="115000"/>
              </a:lnSpc>
              <a:spcBef>
                <a:spcPts val="0"/>
              </a:spcBef>
              <a:spcAft>
                <a:spcPts val="0"/>
              </a:spcAft>
              <a:buClr>
                <a:srgbClr val="FFFFFF"/>
              </a:buClr>
              <a:buSzPts val="1600"/>
              <a:buChar char="●"/>
            </a:pPr>
            <a:r>
              <a:rPr lang="en" sz="1600" dirty="0">
                <a:solidFill>
                  <a:srgbClr val="FFFFFF"/>
                </a:solidFill>
              </a:rPr>
              <a:t>Software development is a creative or constructive act. Software testing, on the other hand, typically falls under the negative or destructive work category.</a:t>
            </a:r>
            <a:br>
              <a:rPr lang="en" sz="1600" dirty="0">
                <a:solidFill>
                  <a:srgbClr val="FFFFFF"/>
                </a:solidFill>
              </a:rPr>
            </a:br>
            <a:endParaRPr sz="1600" dirty="0">
              <a:solidFill>
                <a:srgbClr val="FFFFFF"/>
              </a:solidFill>
            </a:endParaRPr>
          </a:p>
          <a:p>
            <a:pPr marL="457200" lvl="0" indent="-330200" rtl="0">
              <a:lnSpc>
                <a:spcPct val="115000"/>
              </a:lnSpc>
              <a:spcBef>
                <a:spcPts val="0"/>
              </a:spcBef>
              <a:spcAft>
                <a:spcPts val="0"/>
              </a:spcAft>
              <a:buClr>
                <a:srgbClr val="FFFFFF"/>
              </a:buClr>
              <a:buSzPts val="1600"/>
              <a:buChar char="●"/>
            </a:pPr>
            <a:r>
              <a:rPr lang="en" sz="1600" dirty="0">
                <a:solidFill>
                  <a:srgbClr val="FFFFFF"/>
                </a:solidFill>
              </a:rPr>
              <a:t>Furthermore, software testing has developed methods and approaches that are intended to maximize a tester's ability to identify flaws.</a:t>
            </a:r>
            <a:endParaRPr sz="1600" dirty="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g38a5f544626_0_31"/>
          <p:cNvSpPr txBox="1"/>
          <p:nvPr/>
        </p:nvSpPr>
        <p:spPr>
          <a:xfrm>
            <a:off x="208950" y="230875"/>
            <a:ext cx="8752500" cy="714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dirty="0">
                <a:solidFill>
                  <a:srgbClr val="FFFFFF"/>
                </a:solidFill>
              </a:rPr>
              <a:t>Skills in addition to technical skills</a:t>
            </a:r>
            <a:endParaRPr sz="3600" dirty="0">
              <a:solidFill>
                <a:srgbClr val="FFFFFF"/>
              </a:solidFill>
            </a:endParaRPr>
          </a:p>
        </p:txBody>
      </p:sp>
      <p:sp>
        <p:nvSpPr>
          <p:cNvPr id="420" name="Google Shape;420;g38a5f544626_0_31"/>
          <p:cNvSpPr txBox="1"/>
          <p:nvPr/>
        </p:nvSpPr>
        <p:spPr>
          <a:xfrm>
            <a:off x="182700" y="945175"/>
            <a:ext cx="8778600" cy="3653278"/>
          </a:xfrm>
          <a:prstGeom prst="rect">
            <a:avLst/>
          </a:prstGeom>
          <a:noFill/>
          <a:ln>
            <a:noFill/>
          </a:ln>
        </p:spPr>
        <p:txBody>
          <a:bodyPr spcFirstLastPara="1" wrap="square" lIns="91425" tIns="91425" rIns="91425" bIns="91425" anchor="t" anchorCtr="0">
            <a:spAutoFit/>
          </a:bodyPr>
          <a:lstStyle/>
          <a:p>
            <a:pPr marL="457200" lvl="0" indent="-330200" rtl="0">
              <a:lnSpc>
                <a:spcPct val="115000"/>
              </a:lnSpc>
              <a:spcBef>
                <a:spcPts val="0"/>
              </a:spcBef>
              <a:spcAft>
                <a:spcPts val="0"/>
              </a:spcAft>
              <a:buClr>
                <a:srgbClr val="FFFFFF"/>
              </a:buClr>
              <a:buSzPts val="1600"/>
              <a:buChar char="●"/>
            </a:pPr>
            <a:r>
              <a:rPr lang="en" sz="1400" b="1" dirty="0">
                <a:solidFill>
                  <a:srgbClr val="FFFFFF"/>
                </a:solidFill>
              </a:rPr>
              <a:t>Interpersonal skills: </a:t>
            </a:r>
            <a:r>
              <a:rPr lang="en" sz="1400" dirty="0">
                <a:solidFill>
                  <a:srgbClr val="FFFFFF"/>
                </a:solidFill>
              </a:rPr>
              <a:t>First and foremost, testers and developers should communicate clearly, completely, humbly, and comfortably regarding flaws, failures, test outcomes, test progress, risks, etc.</a:t>
            </a:r>
          </a:p>
          <a:p>
            <a:pPr marL="457200" lvl="0" indent="-330200" rtl="0">
              <a:lnSpc>
                <a:spcPct val="115000"/>
              </a:lnSpc>
              <a:spcBef>
                <a:spcPts val="0"/>
              </a:spcBef>
              <a:spcAft>
                <a:spcPts val="0"/>
              </a:spcAft>
              <a:buClr>
                <a:srgbClr val="FFFFFF"/>
              </a:buClr>
              <a:buSzPts val="1600"/>
              <a:buChar char="●"/>
            </a:pPr>
            <a:endParaRPr sz="1400" dirty="0">
              <a:solidFill>
                <a:srgbClr val="FFFFFF"/>
              </a:solidFill>
            </a:endParaRPr>
          </a:p>
          <a:p>
            <a:pPr marL="457200" lvl="0" indent="-330200" rtl="0">
              <a:lnSpc>
                <a:spcPct val="115000"/>
              </a:lnSpc>
              <a:spcBef>
                <a:spcPts val="0"/>
              </a:spcBef>
              <a:spcAft>
                <a:spcPts val="0"/>
              </a:spcAft>
              <a:buClr>
                <a:srgbClr val="FFFFFF"/>
              </a:buClr>
              <a:buSzPts val="1600"/>
              <a:buChar char="●"/>
            </a:pPr>
            <a:r>
              <a:rPr lang="en" sz="1400" b="1" dirty="0">
                <a:solidFill>
                  <a:srgbClr val="FFFFFF"/>
                </a:solidFill>
              </a:rPr>
              <a:t>Sharp observation:</a:t>
            </a:r>
            <a:r>
              <a:rPr lang="en" sz="1400" dirty="0">
                <a:solidFill>
                  <a:srgbClr val="FFFFFF"/>
                </a:solidFill>
              </a:rPr>
              <a:t> An "eye for detail" is the second requirement for software testers. If the testers pay close attention, they can easily spot or notice a lot of critical problems.</a:t>
            </a:r>
          </a:p>
          <a:p>
            <a:pPr marL="457200" lvl="0" indent="-330200" rtl="0">
              <a:lnSpc>
                <a:spcPct val="115000"/>
              </a:lnSpc>
              <a:spcBef>
                <a:spcPts val="0"/>
              </a:spcBef>
              <a:spcAft>
                <a:spcPts val="0"/>
              </a:spcAft>
              <a:buClr>
                <a:srgbClr val="FFFFFF"/>
              </a:buClr>
              <a:buSzPts val="1600"/>
              <a:buChar char="●"/>
            </a:pPr>
            <a:endParaRPr sz="1400" dirty="0">
              <a:solidFill>
                <a:srgbClr val="FFFFFF"/>
              </a:solidFill>
            </a:endParaRPr>
          </a:p>
          <a:p>
            <a:pPr marL="457200" lvl="0" indent="-330200" rtl="0">
              <a:lnSpc>
                <a:spcPct val="115000"/>
              </a:lnSpc>
              <a:spcBef>
                <a:spcPts val="0"/>
              </a:spcBef>
              <a:spcAft>
                <a:spcPts val="0"/>
              </a:spcAft>
              <a:buClr>
                <a:srgbClr val="FFFFFF"/>
              </a:buClr>
              <a:buSzPts val="1600"/>
              <a:buChar char="●"/>
            </a:pPr>
            <a:r>
              <a:rPr lang="en" sz="1400" b="1" dirty="0">
                <a:solidFill>
                  <a:srgbClr val="FFFFFF"/>
                </a:solidFill>
              </a:rPr>
              <a:t>Destructive creativity:</a:t>
            </a:r>
            <a:r>
              <a:rPr lang="en" sz="1400" dirty="0">
                <a:solidFill>
                  <a:srgbClr val="FFFFFF"/>
                </a:solidFill>
              </a:rPr>
              <a:t> The tester must also acquire destructive talents. The tester should not "</a:t>
            </a:r>
            <a:r>
              <a:rPr lang="en" sz="1400" i="1" dirty="0">
                <a:solidFill>
                  <a:srgbClr val="FFFFFF"/>
                </a:solidFill>
              </a:rPr>
              <a:t>hesitate to do negative testing"</a:t>
            </a:r>
            <a:r>
              <a:rPr lang="en" sz="1400" dirty="0">
                <a:solidFill>
                  <a:srgbClr val="FFFFFF"/>
                </a:solidFill>
              </a:rPr>
              <a:t>. Checking the system in unexpected circumstances is known as negative testing. </a:t>
            </a:r>
            <a:r>
              <a:rPr lang="en" sz="1400" b="1" dirty="0">
                <a:solidFill>
                  <a:srgbClr val="FFFFFF"/>
                </a:solidFill>
              </a:rPr>
              <a:t>Example:</a:t>
            </a:r>
            <a:r>
              <a:rPr lang="en" sz="1400" dirty="0">
                <a:solidFill>
                  <a:srgbClr val="FFFFFF"/>
                </a:solidFill>
              </a:rPr>
              <a:t> If a login ID is designed to only contain letters, for example, the tester should also test it with numbers and special characters.</a:t>
            </a:r>
          </a:p>
          <a:p>
            <a:pPr marL="457200" lvl="0" indent="-330200" rtl="0">
              <a:lnSpc>
                <a:spcPct val="115000"/>
              </a:lnSpc>
              <a:spcBef>
                <a:spcPts val="0"/>
              </a:spcBef>
              <a:spcAft>
                <a:spcPts val="0"/>
              </a:spcAft>
              <a:buClr>
                <a:srgbClr val="FFFFFF"/>
              </a:buClr>
              <a:buSzPts val="1600"/>
              <a:buChar char="●"/>
            </a:pPr>
            <a:endParaRPr sz="1400" dirty="0">
              <a:solidFill>
                <a:srgbClr val="FFFFFF"/>
              </a:solidFill>
            </a:endParaRPr>
          </a:p>
          <a:p>
            <a:pPr marL="457200" lvl="0" indent="-330200" rtl="0">
              <a:lnSpc>
                <a:spcPct val="115000"/>
              </a:lnSpc>
              <a:spcBef>
                <a:spcPts val="0"/>
              </a:spcBef>
              <a:spcAft>
                <a:spcPts val="0"/>
              </a:spcAft>
              <a:buClr>
                <a:srgbClr val="FFFFFF"/>
              </a:buClr>
              <a:buSzPts val="1600"/>
              <a:buChar char="●"/>
            </a:pPr>
            <a:r>
              <a:rPr lang="en" sz="1400" b="1" dirty="0">
                <a:solidFill>
                  <a:srgbClr val="FFFFFF"/>
                </a:solidFill>
              </a:rPr>
              <a:t>Customer-oriented perspective:</a:t>
            </a:r>
            <a:r>
              <a:rPr lang="en" sz="1400" dirty="0">
                <a:solidFill>
                  <a:srgbClr val="FFFFFF"/>
                </a:solidFill>
              </a:rPr>
              <a:t> The QAs/Testers should be able to test the product as an end-user and put themselves in the shoes of the consumer.</a:t>
            </a:r>
            <a:endParaRPr sz="1400" dirty="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38a5f544626_0_36"/>
          <p:cNvSpPr txBox="1"/>
          <p:nvPr/>
        </p:nvSpPr>
        <p:spPr>
          <a:xfrm>
            <a:off x="182700" y="30775"/>
            <a:ext cx="8778600" cy="4785895"/>
          </a:xfrm>
          <a:prstGeom prst="rect">
            <a:avLst/>
          </a:prstGeom>
          <a:noFill/>
          <a:ln>
            <a:noFill/>
          </a:ln>
        </p:spPr>
        <p:txBody>
          <a:bodyPr spcFirstLastPara="1" wrap="square" lIns="91425" tIns="91425" rIns="91425" bIns="91425" anchor="t" anchorCtr="0">
            <a:spAutoFit/>
          </a:bodyPr>
          <a:lstStyle/>
          <a:p>
            <a:pPr marL="457200" lvl="0" indent="-330200" algn="just" rtl="0">
              <a:lnSpc>
                <a:spcPct val="115000"/>
              </a:lnSpc>
              <a:spcBef>
                <a:spcPts val="0"/>
              </a:spcBef>
              <a:spcAft>
                <a:spcPts val="0"/>
              </a:spcAft>
              <a:buClr>
                <a:srgbClr val="FFFFFF"/>
              </a:buClr>
              <a:buSzPts val="1600"/>
              <a:buChar char="●"/>
            </a:pPr>
            <a:r>
              <a:rPr lang="en" sz="1300" b="1" dirty="0">
                <a:solidFill>
                  <a:srgbClr val="FFFFFF"/>
                </a:solidFill>
              </a:rPr>
              <a:t>Ironical but friendly:</a:t>
            </a:r>
            <a:r>
              <a:rPr lang="en" sz="1300" dirty="0">
                <a:solidFill>
                  <a:srgbClr val="FFFFFF"/>
                </a:solidFill>
              </a:rPr>
              <a:t> The tester needs to be determined in challenging even the smallest ambiguity until it is proven, regardless of the project's nature. During the test, various scenarios could occur. This relationship needs to be balanced by the tester. Errors shouldn't be made in the process. The goal of "attacking software issues but not software developers" should be defended and persuaded by testers.</a:t>
            </a:r>
            <a:endParaRPr lang="en-BD" sz="1300" dirty="0">
              <a:solidFill>
                <a:srgbClr val="FFFFFF"/>
              </a:solidFill>
            </a:endParaRPr>
          </a:p>
          <a:p>
            <a:pPr marL="457200" lvl="0" indent="0" algn="just" rtl="0">
              <a:lnSpc>
                <a:spcPct val="115000"/>
              </a:lnSpc>
              <a:spcBef>
                <a:spcPts val="0"/>
              </a:spcBef>
              <a:spcAft>
                <a:spcPts val="0"/>
              </a:spcAft>
              <a:buNone/>
            </a:pPr>
            <a:endParaRPr lang="en-BD" sz="13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300" b="1" dirty="0">
                <a:solidFill>
                  <a:srgbClr val="FFFFFF"/>
                </a:solidFill>
              </a:rPr>
              <a:t>Organized, flexible, and patient at work:</a:t>
            </a:r>
            <a:r>
              <a:rPr lang="en" sz="1300" dirty="0">
                <a:solidFill>
                  <a:srgbClr val="FFFFFF"/>
                </a:solidFill>
              </a:rPr>
              <a:t> Testers should realize that they can also make mistakes. They should therefore be very good at organizing; they also need to have checklists, data, and statistics to back up their conclusions. The tester should also be adaptable and receptive to new procedures. The software should be retested for as many potential new faults as the tester is patient enough to do. In projects where requirements change frequently, testers need to be patient and stay organized.</a:t>
            </a:r>
            <a:br>
              <a:rPr lang="en" sz="1300" dirty="0">
                <a:solidFill>
                  <a:srgbClr val="FFFFFF"/>
                </a:solidFill>
              </a:rPr>
            </a:br>
            <a:endParaRPr sz="13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300" b="1" dirty="0">
                <a:solidFill>
                  <a:srgbClr val="FFFFFF"/>
                </a:solidFill>
              </a:rPr>
              <a:t>Objective and neutral attitude:</a:t>
            </a:r>
            <a:r>
              <a:rPr lang="en" sz="1300" dirty="0">
                <a:solidFill>
                  <a:srgbClr val="FFFFFF"/>
                </a:solidFill>
              </a:rPr>
              <a:t> In a software project, testers are like bad news bearers. When the tester is accused of performing his job (i.e., identifying faults) too well, he must be able to handle the situation. The development team should recognize the tester's efforts and accept the mistakes. Because every possible issue the tester may find would result in a smaller chance of a issue the client could have found.</a:t>
            </a:r>
          </a:p>
          <a:p>
            <a:pPr marL="457200" lvl="0" indent="-330200" algn="just" rtl="0">
              <a:lnSpc>
                <a:spcPct val="115000"/>
              </a:lnSpc>
              <a:spcBef>
                <a:spcPts val="0"/>
              </a:spcBef>
              <a:spcAft>
                <a:spcPts val="0"/>
              </a:spcAft>
              <a:buClr>
                <a:srgbClr val="FFFFFF"/>
              </a:buClr>
              <a:buSzPts val="1600"/>
              <a:buChar char="●"/>
            </a:pPr>
            <a:endParaRPr sz="13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300" b="1" dirty="0">
                <a:solidFill>
                  <a:srgbClr val="FFFFFF"/>
                </a:solidFill>
              </a:rPr>
              <a:t>Customer-oriented perspective:</a:t>
            </a:r>
            <a:r>
              <a:rPr lang="en" sz="1300" dirty="0">
                <a:solidFill>
                  <a:srgbClr val="FFFFFF"/>
                </a:solidFill>
              </a:rPr>
              <a:t> The QAs/Testers should be able to test the product as an end-user and put themselves in the shoes of the consumer.</a:t>
            </a:r>
            <a:endParaRPr sz="1300" dirty="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38a5f544626_0_40"/>
          <p:cNvSpPr txBox="1"/>
          <p:nvPr/>
        </p:nvSpPr>
        <p:spPr>
          <a:xfrm>
            <a:off x="208950" y="230875"/>
            <a:ext cx="8752500" cy="714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4000">
                <a:solidFill>
                  <a:srgbClr val="FFFFFF"/>
                </a:solidFill>
              </a:rPr>
              <a:t>How to improve communication</a:t>
            </a:r>
            <a:endParaRPr sz="4000">
              <a:solidFill>
                <a:srgbClr val="FFFFFF"/>
              </a:solidFill>
            </a:endParaRPr>
          </a:p>
        </p:txBody>
      </p:sp>
      <p:sp>
        <p:nvSpPr>
          <p:cNvPr id="431" name="Google Shape;431;g38a5f544626_0_40"/>
          <p:cNvSpPr txBox="1"/>
          <p:nvPr/>
        </p:nvSpPr>
        <p:spPr>
          <a:xfrm>
            <a:off x="182700" y="868975"/>
            <a:ext cx="8778600" cy="4148798"/>
          </a:xfrm>
          <a:prstGeom prst="rect">
            <a:avLst/>
          </a:prstGeom>
          <a:noFill/>
          <a:ln>
            <a:noFill/>
          </a:ln>
        </p:spPr>
        <p:txBody>
          <a:bodyPr spcFirstLastPara="1" wrap="square" lIns="91425" tIns="91425" rIns="91425" bIns="91425" anchor="t" anchorCtr="0">
            <a:spAutoFit/>
          </a:bodyPr>
          <a:lstStyle/>
          <a:p>
            <a:pPr marL="457200" lvl="0" indent="-330200" algn="just" rtl="0">
              <a:lnSpc>
                <a:spcPct val="115000"/>
              </a:lnSpc>
              <a:spcBef>
                <a:spcPts val="0"/>
              </a:spcBef>
              <a:spcAft>
                <a:spcPts val="0"/>
              </a:spcAft>
              <a:buClr>
                <a:srgbClr val="FFFFFF"/>
              </a:buClr>
              <a:buSzPts val="1600"/>
              <a:buChar char="●"/>
            </a:pPr>
            <a:r>
              <a:rPr lang="en" sz="1400" b="1" dirty="0">
                <a:solidFill>
                  <a:srgbClr val="FFFFFF"/>
                </a:solidFill>
              </a:rPr>
              <a:t>Effective communication is one of the major competencies of a tester, in addition to technical and the domain knowledge. Moreover, they must to be able to establish a pleasant relationship with their coworkers, particularly with their development team.</a:t>
            </a:r>
            <a:endParaRPr sz="1400" b="1"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Do not boast - You're not perfect either!</a:t>
            </a:r>
            <a:endParaRPr sz="1400"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Do not blame - the errors are probably from the group instead of an individual.</a:t>
            </a:r>
            <a:endParaRPr sz="1400"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Be constructively critical and discuss the defect and steps to reproduce it.</a:t>
            </a:r>
          </a:p>
          <a:p>
            <a:pPr marL="914400" lvl="1" indent="-323850" algn="just" rtl="0">
              <a:lnSpc>
                <a:spcPct val="115000"/>
              </a:lnSpc>
              <a:spcBef>
                <a:spcPts val="0"/>
              </a:spcBef>
              <a:spcAft>
                <a:spcPts val="0"/>
              </a:spcAft>
              <a:buClr>
                <a:srgbClr val="FFFFFF"/>
              </a:buClr>
              <a:buSzPts val="1500"/>
              <a:buChar char="○"/>
            </a:pPr>
            <a:endParaRPr sz="14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400" b="1" dirty="0">
                <a:solidFill>
                  <a:srgbClr val="FFFFFF"/>
                </a:solidFill>
              </a:rPr>
              <a:t>Discuss how to fix the defect so that the delivered system is better for the client.</a:t>
            </a:r>
            <a:endParaRPr sz="1400" b="1"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Do not just see the pessimistic side, praise the efforts as well.</a:t>
            </a:r>
            <a:endParaRPr sz="1400"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Show discovered risks and the benefits of fixing the defects.</a:t>
            </a:r>
            <a:endParaRPr sz="1400"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Confirm that the developer has understood the defect clearly</a:t>
            </a:r>
          </a:p>
          <a:p>
            <a:pPr marL="914400" lvl="1" indent="-323850" algn="just" rtl="0">
              <a:lnSpc>
                <a:spcPct val="115000"/>
              </a:lnSpc>
              <a:spcBef>
                <a:spcPts val="0"/>
              </a:spcBef>
              <a:spcAft>
                <a:spcPts val="0"/>
              </a:spcAft>
              <a:buClr>
                <a:srgbClr val="FFFFFF"/>
              </a:buClr>
              <a:buSzPts val="1500"/>
              <a:buChar char="○"/>
            </a:pPr>
            <a:endParaRPr sz="1400" dirty="0">
              <a:solidFill>
                <a:srgbClr val="FFFFFF"/>
              </a:solidFill>
            </a:endParaRPr>
          </a:p>
          <a:p>
            <a:pPr marL="457200" lvl="0" indent="-330200" algn="just" rtl="0">
              <a:lnSpc>
                <a:spcPct val="115000"/>
              </a:lnSpc>
              <a:spcBef>
                <a:spcPts val="0"/>
              </a:spcBef>
              <a:spcAft>
                <a:spcPts val="0"/>
              </a:spcAft>
              <a:buClr>
                <a:srgbClr val="FFFFFF"/>
              </a:buClr>
              <a:buSzPts val="1600"/>
              <a:buChar char="●"/>
            </a:pPr>
            <a:r>
              <a:rPr lang="en" sz="1400" b="1" dirty="0">
                <a:solidFill>
                  <a:srgbClr val="FFFFFF"/>
                </a:solidFill>
              </a:rPr>
              <a:t>Collaborate instead of battling around. Everyone in the project has a common objective of creating better software.</a:t>
            </a:r>
            <a:endParaRPr sz="1400" b="1"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Be collaborative, kind, and helpful to your colleagues</a:t>
            </a:r>
            <a:endParaRPr sz="1400" dirty="0">
              <a:solidFill>
                <a:srgbClr val="FFFFFF"/>
              </a:solidFill>
            </a:endParaRPr>
          </a:p>
          <a:p>
            <a:pPr marL="914400" lvl="1" indent="-323850" algn="just" rtl="0">
              <a:lnSpc>
                <a:spcPct val="115000"/>
              </a:lnSpc>
              <a:spcBef>
                <a:spcPts val="0"/>
              </a:spcBef>
              <a:spcAft>
                <a:spcPts val="0"/>
              </a:spcAft>
              <a:buClr>
                <a:srgbClr val="FFFFFF"/>
              </a:buClr>
              <a:buSzPts val="1500"/>
              <a:buChar char="○"/>
            </a:pPr>
            <a:r>
              <a:rPr lang="en" sz="1400" dirty="0">
                <a:solidFill>
                  <a:srgbClr val="FFFFFF"/>
                </a:solidFill>
              </a:rPr>
              <a:t>Try to understand how the other person feels and why he/she reacts the way they do.</a:t>
            </a:r>
            <a:endParaRPr sz="1400" dirty="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382bac4281b_0_69"/>
          <p:cNvSpPr txBox="1">
            <a:spLocks noGrp="1"/>
          </p:cNvSpPr>
          <p:nvPr>
            <p:ph type="title"/>
          </p:nvPr>
        </p:nvSpPr>
        <p:spPr>
          <a:xfrm>
            <a:off x="98600" y="171425"/>
            <a:ext cx="8711400" cy="72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lt1"/>
              </a:buClr>
              <a:buSzPts val="1100"/>
              <a:buNone/>
            </a:pPr>
            <a:r>
              <a:rPr lang="en" sz="3400">
                <a:latin typeface="Arial"/>
                <a:ea typeface="Arial"/>
                <a:cs typeface="Arial"/>
                <a:sym typeface="Arial"/>
              </a:rPr>
              <a:t>Roles and responsibilities</a:t>
            </a:r>
            <a:endParaRPr sz="3400"/>
          </a:p>
        </p:txBody>
      </p:sp>
      <p:graphicFrame>
        <p:nvGraphicFramePr>
          <p:cNvPr id="437" name="Google Shape;437;g382bac4281b_0_69"/>
          <p:cNvGraphicFramePr/>
          <p:nvPr/>
        </p:nvGraphicFramePr>
        <p:xfrm>
          <a:off x="259100" y="910478"/>
          <a:ext cx="8711400" cy="3687870"/>
        </p:xfrm>
        <a:graphic>
          <a:graphicData uri="http://schemas.openxmlformats.org/drawingml/2006/table">
            <a:tbl>
              <a:tblPr>
                <a:noFill/>
                <a:tableStyleId>{35C5691C-FE0A-4A92-9688-11ADB6E5AE1F}</a:tableStyleId>
              </a:tblPr>
              <a:tblGrid>
                <a:gridCol w="4355700">
                  <a:extLst>
                    <a:ext uri="{9D8B030D-6E8A-4147-A177-3AD203B41FA5}">
                      <a16:colId xmlns:a16="http://schemas.microsoft.com/office/drawing/2014/main" val="20000"/>
                    </a:ext>
                  </a:extLst>
                </a:gridCol>
                <a:gridCol w="4355700">
                  <a:extLst>
                    <a:ext uri="{9D8B030D-6E8A-4147-A177-3AD203B41FA5}">
                      <a16:colId xmlns:a16="http://schemas.microsoft.com/office/drawing/2014/main" val="20001"/>
                    </a:ext>
                  </a:extLst>
                </a:gridCol>
              </a:tblGrid>
              <a:tr h="381000">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solidFill>
                            <a:schemeClr val="dk1"/>
                          </a:solidFill>
                        </a:rPr>
                        <a:t>Developer’s Role</a:t>
                      </a:r>
                      <a:endParaRPr sz="1800" b="1" u="none" strike="noStrike" cap="none">
                        <a:solidFill>
                          <a:schemeClr val="dk1"/>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solidFill>
                            <a:schemeClr val="dk1"/>
                          </a:solidFill>
                        </a:rPr>
                        <a:t>Tester’s Role</a:t>
                      </a:r>
                      <a:endParaRPr sz="18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Implements requirements</a:t>
                      </a:r>
                      <a:endParaRPr sz="1400" u="none" strike="noStrike" cap="none">
                        <a:solidFill>
                          <a:schemeClr val="dk1"/>
                        </a:solidFill>
                      </a:endParaRPr>
                    </a:p>
                  </a:txBody>
                  <a:tcPr marL="91425" marR="91425" marT="91425" marB="91425"/>
                </a:tc>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Plans testing activities</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Developers structures</a:t>
                      </a:r>
                      <a:endParaRPr sz="1400" u="none" strike="noStrike" cap="none">
                        <a:solidFill>
                          <a:schemeClr val="dk1"/>
                        </a:solidFill>
                      </a:endParaRPr>
                    </a:p>
                  </a:txBody>
                  <a:tcPr marL="91425" marR="91425" marT="91425" marB="91425"/>
                </a:tc>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Design test case</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Design and programs the software</a:t>
                      </a:r>
                      <a:endParaRPr sz="1400" u="none" strike="noStrike" cap="none">
                        <a:solidFill>
                          <a:schemeClr val="dk1"/>
                        </a:solidFill>
                      </a:endParaRPr>
                    </a:p>
                  </a:txBody>
                  <a:tcPr marL="91425" marR="91425" marT="91425" marB="91425"/>
                </a:tc>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Is concerned only with finding defects</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Creating a product is his success</a:t>
                      </a:r>
                      <a:endParaRPr sz="1400" u="none" strike="noStrike" cap="none">
                        <a:solidFill>
                          <a:schemeClr val="dk1"/>
                        </a:solidFill>
                      </a:endParaRPr>
                    </a:p>
                  </a:txBody>
                  <a:tcPr marL="91425" marR="91425" marT="91425" marB="91425"/>
                </a:tc>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Finding errors made by a developer is the success</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4"/>
                  </a:ext>
                </a:extLst>
              </a:tr>
              <a:tr h="381000">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Ensures that the final product is closely aligned with customer expectations</a:t>
                      </a:r>
                      <a:endParaRPr sz="1400" u="none" strike="noStrike" cap="none">
                        <a:solidFill>
                          <a:schemeClr val="dk1"/>
                        </a:solidFill>
                      </a:endParaRPr>
                    </a:p>
                  </a:txBody>
                  <a:tcPr marL="91425" marR="91425" marT="91425" marB="91425"/>
                </a:tc>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Ensures that newly written code has less bugs before it goes in</a:t>
                      </a:r>
                      <a:r>
                        <a:rPr lang="en">
                          <a:solidFill>
                            <a:schemeClr val="dk1"/>
                          </a:solidFill>
                        </a:rPr>
                        <a:t>to production/live/deployment</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Generally comprises unit tests.</a:t>
                      </a:r>
                      <a:endParaRPr sz="1400" u="none" strike="noStrike" cap="none">
                        <a:solidFill>
                          <a:schemeClr val="dk1"/>
                        </a:solidFill>
                      </a:endParaRPr>
                    </a:p>
                  </a:txBody>
                  <a:tcPr marL="91425" marR="91425" marT="91425" marB="91425"/>
                </a:tc>
                <a:tc>
                  <a:txBody>
                    <a:bodyPr/>
                    <a:lstStyle/>
                    <a:p>
                      <a:pPr marL="457200" marR="0" lvl="0" indent="-317500" algn="l" rtl="0">
                        <a:lnSpc>
                          <a:spcPct val="100000"/>
                        </a:lnSpc>
                        <a:spcBef>
                          <a:spcPts val="0"/>
                        </a:spcBef>
                        <a:spcAft>
                          <a:spcPts val="0"/>
                        </a:spcAft>
                        <a:buClr>
                          <a:schemeClr val="dk1"/>
                        </a:buClr>
                        <a:buSzPts val="1400"/>
                        <a:buChar char="●"/>
                      </a:pPr>
                      <a:r>
                        <a:rPr lang="en" sz="1400" u="none" strike="noStrike" cap="none">
                          <a:solidFill>
                            <a:schemeClr val="dk1"/>
                          </a:solidFill>
                        </a:rPr>
                        <a:t>Generally comprises multiple tests – regression tests, accessibility tests, usability tests, performance tests, stress tests, etc.</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11"/>
          <p:cNvSpPr txBox="1">
            <a:spLocks noGrp="1"/>
          </p:cNvSpPr>
          <p:nvPr>
            <p:ph type="title"/>
          </p:nvPr>
        </p:nvSpPr>
        <p:spPr>
          <a:xfrm>
            <a:off x="632850" y="400625"/>
            <a:ext cx="7878300" cy="1741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lt1"/>
              </a:buClr>
              <a:buSzPts val="1100"/>
              <a:buNone/>
            </a:pPr>
            <a:r>
              <a:rPr lang="en" sz="5200">
                <a:latin typeface="Arial"/>
                <a:ea typeface="Arial"/>
                <a:cs typeface="Arial"/>
                <a:sym typeface="Arial"/>
              </a:rPr>
              <a:t>Any Questions?</a:t>
            </a:r>
            <a:endParaRPr/>
          </a:p>
        </p:txBody>
      </p:sp>
      <p:sp>
        <p:nvSpPr>
          <p:cNvPr id="443" name="Google Shape;443;p11"/>
          <p:cNvSpPr txBox="1">
            <a:spLocks noGrp="1"/>
          </p:cNvSpPr>
          <p:nvPr>
            <p:ph type="subTitle" idx="2"/>
          </p:nvPr>
        </p:nvSpPr>
        <p:spPr>
          <a:xfrm>
            <a:off x="2068350" y="3665300"/>
            <a:ext cx="5007300" cy="93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lt1"/>
              </a:buClr>
              <a:buSzPts val="1100"/>
              <a:buNone/>
            </a:pPr>
            <a:r>
              <a:rPr lang="en"/>
              <a:t>Thank you!</a:t>
            </a:r>
            <a:endParaRPr/>
          </a:p>
        </p:txBody>
      </p:sp>
      <p:pic>
        <p:nvPicPr>
          <p:cNvPr id="444" name="Google Shape;444;p11"/>
          <p:cNvPicPr preferRelativeResize="0"/>
          <p:nvPr/>
        </p:nvPicPr>
        <p:blipFill rotWithShape="1">
          <a:blip r:embed="rId3">
            <a:alphaModFix/>
          </a:blip>
          <a:srcRect/>
          <a:stretch/>
        </p:blipFill>
        <p:spPr>
          <a:xfrm>
            <a:off x="3418263" y="1671975"/>
            <a:ext cx="2879281" cy="1799550"/>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{0F8A5136-9338-3C48-8583-F4A0A75F2E81}tf10001062</Template>
  <TotalTime>32</TotalTime>
  <Words>2127</Words>
  <Application>Microsoft Macintosh PowerPoint</Application>
  <PresentationFormat>On-screen Show (16:9)</PresentationFormat>
  <Paragraphs>175</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Hepta Slab</vt:lpstr>
      <vt:lpstr>Barlow Medium</vt:lpstr>
      <vt:lpstr>Arial</vt:lpstr>
      <vt:lpstr>Wingdings 3</vt:lpstr>
      <vt:lpstr>Barlow Light</vt:lpstr>
      <vt:lpstr>Century Gothic</vt:lpstr>
      <vt:lpstr>Ion</vt:lpstr>
      <vt:lpstr>Principles of Software Testing</vt:lpstr>
      <vt:lpstr>Background</vt:lpstr>
      <vt:lpstr>Software Testing Principles: At a glance</vt:lpstr>
      <vt:lpstr>Principle 1: Testing shows the presence of defects</vt:lpstr>
      <vt:lpstr>Principle 2: Exhaustive testing is not possible</vt:lpstr>
      <vt:lpstr>Principle 3: Early testing</vt:lpstr>
      <vt:lpstr>Principle 4: Defect clustering</vt:lpstr>
      <vt:lpstr>Principle 5: Pesticide paradox</vt:lpstr>
      <vt:lpstr>Principle 6: Testing is context dependent</vt:lpstr>
      <vt:lpstr>Principle 7: Absence of errors fallacy</vt:lpstr>
      <vt:lpstr>Summary:</vt:lpstr>
      <vt:lpstr>PowerPoint Presentation</vt:lpstr>
      <vt:lpstr>PowerPoint Presentation</vt:lpstr>
      <vt:lpstr>PowerPoint Presentation</vt:lpstr>
      <vt:lpstr>PowerPoint Presentation</vt:lpstr>
      <vt:lpstr>PowerPoint Presentation</vt:lpstr>
      <vt:lpstr>PowerPoint Presentation</vt:lpstr>
      <vt:lpstr>Roles and responsibilities</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shakibrybmn@gmail.com</cp:lastModifiedBy>
  <cp:revision>2</cp:revision>
  <dcterms:modified xsi:type="dcterms:W3CDTF">2026-04-08T16:57:54Z</dcterms:modified>
</cp:coreProperties>
</file>