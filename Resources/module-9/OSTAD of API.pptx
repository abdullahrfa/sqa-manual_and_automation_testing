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Inter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2b4d17cd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2b4d17cd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b4d17cd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b4d17cd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b4d17cd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2b4d17cd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2b4d17cdd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2b4d17cdd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b4d17cdd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2b4d17cdd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2b4d17cdd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2b4d17cdd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2b4d17cdd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2b4d17cdd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2b4d17cdd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2b4d17cdd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b4d17cdd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2b4d17cdd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b4d17cdd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2b4d17cdd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2b4d17cdd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2b4d17cdd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2b4d17cdd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2b4d17cdd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2b4d17cdd_0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2b4d17cdd_0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2b4d17cdd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2b4d17cdd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2b4d17cdd_0_1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2b4d17cdd_0_1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2b4d17cdd_0_2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2b4d17cdd_0_2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2b4d17cdd_0_2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e2b4d17cdd_0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2b4d17cdd_0_2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2b4d17cdd_0_2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2b4d17cdd_0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e2b4d17cdd_0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2b4d17cdd_0_2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e2b4d17cdd_0_2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2b4d17cdd_0_2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e2b4d17cdd_0_2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b4d17cdd_6_0)">
  <p:cSld name="Generated (g3e2b4d17cdd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71500" y="2000250"/>
            <a:ext cx="38100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762000" y="1714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OSTAD of API</a:t>
            </a:r>
            <a:endParaRPr b="0" sz="4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762000" y="2667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Connecting Systems, Empowering Innovation</a:t>
            </a:r>
            <a:endParaRPr b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6238" y="376238"/>
            <a:ext cx="771600" cy="7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5738" y="185738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Role of API in Connectivity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762000" y="104775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APIs act as bridges between disparate software systems.</a:t>
            </a:r>
            <a:endParaRPr b="0" sz="120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571500" y="1714500"/>
            <a:ext cx="2286000" cy="1238400"/>
            <a:chOff x="0" y="0"/>
            <a:chExt cx="2286000" cy="12384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90500" y="190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Functional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190500" y="523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Defines how features and integration points operate.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3048000" y="1714500"/>
            <a:ext cx="2286000" cy="1238400"/>
            <a:chOff x="0" y="0"/>
            <a:chExt cx="2286000" cy="12384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190500" y="190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Security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190500" y="523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Handles OAuth, JWT tokens, and API keys for access.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571500" y="3143250"/>
            <a:ext cx="2286000" cy="1238400"/>
            <a:chOff x="0" y="0"/>
            <a:chExt cx="2286000" cy="123840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90500" y="190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Protocols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90500" y="523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Utilizes REST or SOAP to structure data exchange.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3048000" y="3143250"/>
            <a:ext cx="2286000" cy="1238400"/>
            <a:chOff x="0" y="0"/>
            <a:chExt cx="2286000" cy="123840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22860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90500" y="190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Validation</a:t>
              </a:r>
              <a:endParaRPr b="1" sz="16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90500" y="5238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Ensures correct status codes and accurate data.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digital visualization of a glowing network bridge connecting two server racks, representing API connectivity. The style is clean, modern, and matches a dark blue corporate aesthetic with light blue accents.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0" y="1333500"/>
            <a:ext cx="3429000" cy="3429000"/>
          </a:xfrm>
          <a:prstGeom prst="roundRect">
            <a:avLst>
              <a:gd fmla="val 6666" name="adj"/>
            </a:avLst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5738" y="185738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9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Client-Server Communication Overview</a:t>
            </a:r>
            <a:endParaRPr b="0" sz="279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fundamental request-response cycle driving modern web architecture.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71500" y="1714500"/>
            <a:ext cx="3429000" cy="1047900"/>
          </a:xfrm>
          <a:prstGeom prst="roundRect">
            <a:avLst>
              <a:gd fmla="val 109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762000" y="1857375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Client (Requester)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62000" y="21431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Initiates communication by sending requests (e.g., HTTP/HTTPS) for resources or actions.</a:t>
            </a:r>
            <a:endParaRPr b="0"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71500" y="2952750"/>
            <a:ext cx="3429000" cy="1047900"/>
          </a:xfrm>
          <a:prstGeom prst="roundRect">
            <a:avLst>
              <a:gd fmla="val 109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762000" y="3095625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Server (Responder)</a:t>
            </a:r>
            <a:endParaRPr b="1" sz="1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62000" y="338137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Waits for requests, processes logic, and serves back the required data or status codes.</a:t>
            </a:r>
            <a:endParaRPr b="0"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71500" y="4191000"/>
            <a:ext cx="3429000" cy="571500"/>
          </a:xfrm>
          <a:prstGeom prst="roundRect">
            <a:avLst>
              <a:gd fmla="val 2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762000" y="42862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Protocol:</a:t>
            </a:r>
            <a:r>
              <a:rPr b="0" lang="en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HTTP, WebSocket, or TCP</a:t>
            </a:r>
            <a:endParaRPr b="0"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 sleek 3D isometric illustration of a computer client sending a glowing data packet to a high-tech server rack over a digital bridge. Modern dark blue aesthetic with neon cyan highlights." id="103" name="Google Shape;103;p16"/>
          <p:cNvPicPr preferRelativeResize="0"/>
          <p:nvPr/>
        </p:nvPicPr>
        <p:blipFill rotWithShape="1">
          <a:blip r:embed="rId3">
            <a:alphaModFix/>
          </a:blip>
          <a:srcRect b="9417" l="0" r="0" t="3626"/>
          <a:stretch/>
        </p:blipFill>
        <p:spPr>
          <a:xfrm>
            <a:off x="4381500" y="1714500"/>
            <a:ext cx="4381500" cy="2857500"/>
          </a:xfrm>
          <a:prstGeom prst="roundRect">
            <a:avLst>
              <a:gd fmla="val 5333" name="adj"/>
            </a:avLst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5738" y="185738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825" y="152400"/>
            <a:ext cx="45618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762000" y="381000"/>
            <a:ext cx="3585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7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API Kitchen Metaphor</a:t>
            </a:r>
            <a:endParaRPr b="0" sz="217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762000" y="104775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Visualizing how Application Programming Interfaces manage requests and data flow between users and servers.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7"/>
          <p:cNvGrpSpPr/>
          <p:nvPr/>
        </p:nvGrpSpPr>
        <p:grpSpPr>
          <a:xfrm>
            <a:off x="571500" y="1905000"/>
            <a:ext cx="3238500" cy="952500"/>
            <a:chOff x="571500" y="1905000"/>
            <a:chExt cx="3238500" cy="952500"/>
          </a:xfrm>
        </p:grpSpPr>
        <p:sp>
          <p:nvSpPr>
            <p:cNvPr id="114" name="Google Shape;114;p17"/>
            <p:cNvSpPr/>
            <p:nvPr/>
          </p:nvSpPr>
          <p:spPr>
            <a:xfrm>
              <a:off x="571500" y="1905000"/>
              <a:ext cx="3238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762000" y="2000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Waiter (API)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Acts as the messenger taking your request (order) to the kitchen (server) and bringing back the response (food).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17"/>
          <p:cNvGrpSpPr/>
          <p:nvPr/>
        </p:nvGrpSpPr>
        <p:grpSpPr>
          <a:xfrm>
            <a:off x="571500" y="3000375"/>
            <a:ext cx="3238500" cy="952500"/>
            <a:chOff x="571500" y="3000375"/>
            <a:chExt cx="3238500" cy="952500"/>
          </a:xfrm>
        </p:grpSpPr>
        <p:sp>
          <p:nvSpPr>
            <p:cNvPr id="117" name="Google Shape;117;p17"/>
            <p:cNvSpPr/>
            <p:nvPr/>
          </p:nvSpPr>
          <p:spPr>
            <a:xfrm>
              <a:off x="571500" y="3000375"/>
              <a:ext cx="3238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762000" y="3095625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Kitchen (Server)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Processes the logic, retrieves data from the pantry (database), and prepares the final result.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571500" y="4095750"/>
            <a:ext cx="3238500" cy="952500"/>
            <a:chOff x="571500" y="4095750"/>
            <a:chExt cx="3238500" cy="952500"/>
          </a:xfrm>
        </p:grpSpPr>
        <p:sp>
          <p:nvSpPr>
            <p:cNvPr id="120" name="Google Shape;120;p17"/>
            <p:cNvSpPr/>
            <p:nvPr/>
          </p:nvSpPr>
          <p:spPr>
            <a:xfrm>
              <a:off x="571500" y="4095750"/>
              <a:ext cx="3238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762000" y="4191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Menu (Documentation)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Specifies what requests are possible, what parameters are needed, and what will be returned.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Request-Response Lifecycle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the bidirectional flow of information in a standard API interaction.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71500" y="1714500"/>
            <a:ext cx="3429000" cy="1047900"/>
            <a:chOff x="571500" y="1714500"/>
            <a:chExt cx="3429000" cy="1047900"/>
          </a:xfrm>
        </p:grpSpPr>
        <p:sp>
          <p:nvSpPr>
            <p:cNvPr id="130" name="Google Shape;130;p18"/>
            <p:cNvSpPr/>
            <p:nvPr/>
          </p:nvSpPr>
          <p:spPr>
            <a:xfrm>
              <a:off x="571500" y="1714500"/>
              <a:ext cx="3429000" cy="1047900"/>
            </a:xfrm>
            <a:prstGeom prst="roundRect">
              <a:avLst>
                <a:gd fmla="val 10909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762000" y="185737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1. The Request (Order)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762000" y="2143125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client sends a message containing the method (GET/POST), endpoint, and required headers or body data.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" name="Google Shape;133;p18"/>
          <p:cNvGrpSpPr/>
          <p:nvPr/>
        </p:nvGrpSpPr>
        <p:grpSpPr>
          <a:xfrm>
            <a:off x="571500" y="2952750"/>
            <a:ext cx="3429000" cy="1047900"/>
            <a:chOff x="571500" y="2952750"/>
            <a:chExt cx="3429000" cy="1047900"/>
          </a:xfrm>
        </p:grpSpPr>
        <p:sp>
          <p:nvSpPr>
            <p:cNvPr id="134" name="Google Shape;134;p18"/>
            <p:cNvSpPr/>
            <p:nvPr/>
          </p:nvSpPr>
          <p:spPr>
            <a:xfrm>
              <a:off x="571500" y="2952750"/>
              <a:ext cx="3429000" cy="1047900"/>
            </a:xfrm>
            <a:prstGeom prst="roundRect">
              <a:avLst>
                <a:gd fmla="val 10909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762000" y="309562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2. The Response (Delivery)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762000" y="3381375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server returns data (usually JSON/XML) along with a status code (e.g., 200 OK) to confirm the outcome.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571500" y="4191000"/>
            <a:ext cx="3429000" cy="571500"/>
            <a:chOff x="571500" y="4191000"/>
            <a:chExt cx="3429000" cy="571500"/>
          </a:xfrm>
        </p:grpSpPr>
        <p:sp>
          <p:nvSpPr>
            <p:cNvPr id="138" name="Google Shape;138;p18"/>
            <p:cNvSpPr/>
            <p:nvPr/>
          </p:nvSpPr>
          <p:spPr>
            <a:xfrm>
              <a:off x="571500" y="4191000"/>
              <a:ext cx="34290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762000" y="4286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 Format: 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JSON, XML, or HTML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isometric 3D illustration showing a circular loop of glowing data packets flowing between a laptop and a server stack, symbolizing a continuous request-response cycle. Neon cyan and deep blue color palette." id="140" name="Google Shape;140;p18"/>
          <p:cNvPicPr preferRelativeResize="0"/>
          <p:nvPr/>
        </p:nvPicPr>
        <p:blipFill rotWithShape="1">
          <a:blip r:embed="rId3">
            <a:alphaModFix/>
          </a:blip>
          <a:srcRect b="6522" l="0" r="0" t="6522"/>
          <a:stretch/>
        </p:blipFill>
        <p:spPr>
          <a:xfrm>
            <a:off x="4381500" y="1714500"/>
            <a:ext cx="4381500" cy="2857500"/>
          </a:xfrm>
          <a:prstGeom prst="roundRect">
            <a:avLst>
              <a:gd fmla="val 5333" name="adj"/>
            </a:avLst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5738" y="185738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Components of an API Request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Breaking down the structural elements required for a successful client-to-server call.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571500" y="1714500"/>
            <a:ext cx="3810000" cy="666900"/>
            <a:chOff x="571500" y="1714500"/>
            <a:chExt cx="3810000" cy="666900"/>
          </a:xfrm>
        </p:grpSpPr>
        <p:sp>
          <p:nvSpPr>
            <p:cNvPr id="150" name="Google Shape;150;p19"/>
            <p:cNvSpPr/>
            <p:nvPr/>
          </p:nvSpPr>
          <p:spPr>
            <a:xfrm>
              <a:off x="571500" y="1714500"/>
              <a:ext cx="38100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762000" y="1809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Method (Action)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operation to perform (e.g., GET, POST, PUT, DELETE).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9"/>
          <p:cNvGrpSpPr/>
          <p:nvPr/>
        </p:nvGrpSpPr>
        <p:grpSpPr>
          <a:xfrm>
            <a:off x="571500" y="2476500"/>
            <a:ext cx="3810000" cy="666900"/>
            <a:chOff x="571500" y="2476500"/>
            <a:chExt cx="3810000" cy="666900"/>
          </a:xfrm>
        </p:grpSpPr>
        <p:sp>
          <p:nvSpPr>
            <p:cNvPr id="153" name="Google Shape;153;p19"/>
            <p:cNvSpPr/>
            <p:nvPr/>
          </p:nvSpPr>
          <p:spPr>
            <a:xfrm>
              <a:off x="571500" y="2476500"/>
              <a:ext cx="38100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762000" y="2571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URL/Endpoint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specific address where the resource is located.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571500" y="3238500"/>
            <a:ext cx="3810000" cy="666900"/>
            <a:chOff x="571500" y="3238500"/>
            <a:chExt cx="3810000" cy="666900"/>
          </a:xfrm>
        </p:grpSpPr>
        <p:sp>
          <p:nvSpPr>
            <p:cNvPr id="156" name="Google Shape;156;p19"/>
            <p:cNvSpPr/>
            <p:nvPr/>
          </p:nvSpPr>
          <p:spPr>
            <a:xfrm>
              <a:off x="571500" y="3238500"/>
              <a:ext cx="38100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762000" y="3333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Headers (Metadata)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Key-value pairs for auth, content type, and caching.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9"/>
          <p:cNvGrpSpPr/>
          <p:nvPr/>
        </p:nvGrpSpPr>
        <p:grpSpPr>
          <a:xfrm>
            <a:off x="571500" y="4000500"/>
            <a:ext cx="3810000" cy="666900"/>
            <a:chOff x="571500" y="4000500"/>
            <a:chExt cx="3810000" cy="666900"/>
          </a:xfrm>
        </p:grpSpPr>
        <p:sp>
          <p:nvSpPr>
            <p:cNvPr id="159" name="Google Shape;159;p19"/>
            <p:cNvSpPr/>
            <p:nvPr/>
          </p:nvSpPr>
          <p:spPr>
            <a:xfrm>
              <a:off x="571500" y="4000500"/>
              <a:ext cx="38100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762000" y="4095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Body (Data Payload)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actual data sent to the server (typically JSON).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sleek, 3D isometric representation of code blocks representing HTTP Methods, URL strings, and JSON data floating in a digital space. Neon cyan accents on a dark slate background.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709738"/>
            <a:ext cx="4010100" cy="32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5738" y="185738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the API Response Structure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server's answer contains critical metadata and data to confirm the request outcome.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571500" y="1714500"/>
            <a:ext cx="3429000" cy="952500"/>
            <a:chOff x="571500" y="1714500"/>
            <a:chExt cx="3429000" cy="952500"/>
          </a:xfrm>
        </p:grpSpPr>
        <p:sp>
          <p:nvSpPr>
            <p:cNvPr id="172" name="Google Shape;172;p20"/>
            <p:cNvSpPr/>
            <p:nvPr/>
          </p:nvSpPr>
          <p:spPr>
            <a:xfrm>
              <a:off x="571500" y="171450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762000" y="18573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1. Status Code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Indicates the success or failure of the request (e.g., 200 OK, 404 Not Found).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571500" y="2809875"/>
            <a:ext cx="3429000" cy="1047900"/>
            <a:chOff x="571500" y="2809875"/>
            <a:chExt cx="3429000" cy="1047900"/>
          </a:xfrm>
        </p:grpSpPr>
        <p:sp>
          <p:nvSpPr>
            <p:cNvPr id="175" name="Google Shape;175;p20"/>
            <p:cNvSpPr/>
            <p:nvPr/>
          </p:nvSpPr>
          <p:spPr>
            <a:xfrm>
              <a:off x="571500" y="2809875"/>
              <a:ext cx="3429000" cy="1047900"/>
            </a:xfrm>
            <a:prstGeom prst="roundRect">
              <a:avLst>
                <a:gd fmla="val 10909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762000" y="295275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2. Response Headers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Metadata about the response, such as Content-Type, server info, and cache policies.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571500" y="4000500"/>
            <a:ext cx="3429000" cy="857400"/>
            <a:chOff x="571500" y="4000500"/>
            <a:chExt cx="3429000" cy="857400"/>
          </a:xfrm>
        </p:grpSpPr>
        <p:sp>
          <p:nvSpPr>
            <p:cNvPr id="178" name="Google Shape;178;p20"/>
            <p:cNvSpPr/>
            <p:nvPr/>
          </p:nvSpPr>
          <p:spPr>
            <a:xfrm>
              <a:off x="571500" y="4000500"/>
              <a:ext cx="3429000" cy="857400"/>
            </a:xfrm>
            <a:prstGeom prst="roundRect">
              <a:avLst>
                <a:gd fmla="val 1333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762000" y="4143375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3. Response Body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actual data payload, typically formatted as JSON, XML, or HTML.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sleek 3D isometric illustration of a server sending a glowing green data packet back to a digital screen. The packet is labeled with '200 OK' and code brackets. Dark blue digital background with neon cyan accents." id="180" name="Google Shape;180;p20"/>
          <p:cNvPicPr preferRelativeResize="0"/>
          <p:nvPr/>
        </p:nvPicPr>
        <p:blipFill rotWithShape="1">
          <a:blip r:embed="rId3">
            <a:alphaModFix/>
          </a:blip>
          <a:srcRect b="17387" l="0" r="0" t="17394"/>
          <a:stretch/>
        </p:blipFill>
        <p:spPr>
          <a:xfrm>
            <a:off x="4381500" y="1857375"/>
            <a:ext cx="4381500" cy="2857500"/>
          </a:xfrm>
          <a:prstGeom prst="roundRect">
            <a:avLst>
              <a:gd fmla="val 5333" name="adj"/>
            </a:avLst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0975" y="190500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JSON Format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JavaScript Object Notation is the standard data exchange format for modern APIs.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9" name="Google Shape;189;p21"/>
          <p:cNvGrpSpPr/>
          <p:nvPr/>
        </p:nvGrpSpPr>
        <p:grpSpPr>
          <a:xfrm>
            <a:off x="571500" y="1714500"/>
            <a:ext cx="3810000" cy="714300"/>
            <a:chOff x="571500" y="1714500"/>
            <a:chExt cx="3810000" cy="714300"/>
          </a:xfrm>
        </p:grpSpPr>
        <p:sp>
          <p:nvSpPr>
            <p:cNvPr id="190" name="Google Shape;190;p21"/>
            <p:cNvSpPr/>
            <p:nvPr/>
          </p:nvSpPr>
          <p:spPr>
            <a:xfrm>
              <a:off x="571500" y="1714500"/>
              <a:ext cx="38100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762000" y="1809750"/>
              <a:ext cx="3429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Key-Value Pairs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Data is organized in "key": "value" structures.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571500" y="2524125"/>
            <a:ext cx="3810000" cy="714300"/>
            <a:chOff x="571500" y="2524125"/>
            <a:chExt cx="3810000" cy="714300"/>
          </a:xfrm>
        </p:grpSpPr>
        <p:sp>
          <p:nvSpPr>
            <p:cNvPr id="193" name="Google Shape;193;p21"/>
            <p:cNvSpPr/>
            <p:nvPr/>
          </p:nvSpPr>
          <p:spPr>
            <a:xfrm>
              <a:off x="571500" y="2524125"/>
              <a:ext cx="38100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762000" y="2619375"/>
              <a:ext cx="3429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 Types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Supports strings, numbers, booleans, arrays, and objects.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571500" y="3333750"/>
            <a:ext cx="3810000" cy="714300"/>
            <a:chOff x="571500" y="3333750"/>
            <a:chExt cx="3810000" cy="714300"/>
          </a:xfrm>
        </p:grpSpPr>
        <p:sp>
          <p:nvSpPr>
            <p:cNvPr id="196" name="Google Shape;196;p21"/>
            <p:cNvSpPr/>
            <p:nvPr/>
          </p:nvSpPr>
          <p:spPr>
            <a:xfrm>
              <a:off x="571500" y="3333750"/>
              <a:ext cx="38100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762000" y="3429000"/>
              <a:ext cx="3429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Lightweight Syntax</a:t>
              </a:r>
              <a:endParaRPr b="1" sz="119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Minimalist structure using braces {} and brackets [].</a:t>
              </a:r>
              <a:endParaRPr b="0" sz="93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21"/>
          <p:cNvGrpSpPr/>
          <p:nvPr/>
        </p:nvGrpSpPr>
        <p:grpSpPr>
          <a:xfrm>
            <a:off x="571500" y="4143375"/>
            <a:ext cx="3810000" cy="571500"/>
            <a:chOff x="571500" y="4143375"/>
            <a:chExt cx="3810000" cy="571500"/>
          </a:xfrm>
        </p:grpSpPr>
        <p:sp>
          <p:nvSpPr>
            <p:cNvPr id="199" name="Google Shape;199;p21"/>
            <p:cNvSpPr/>
            <p:nvPr/>
          </p:nvSpPr>
          <p:spPr>
            <a:xfrm>
              <a:off x="571500" y="4143375"/>
              <a:ext cx="38100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762000" y="4238625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Primary Use Case: </a:t>
              </a:r>
              <a:r>
                <a:rPr b="0" lang="en"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REST API Payloads</a:t>
              </a:r>
              <a:endParaRPr b="1" sz="93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scene showing a digital screen displaying clean, glowing JSON code. Braces and key-value pairs are highlighted in neon cyan. Dark slate background with floating data nodes." id="201" name="Google Shape;201;p21"/>
          <p:cNvPicPr preferRelativeResize="0"/>
          <p:nvPr/>
        </p:nvPicPr>
        <p:blipFill rotWithShape="1">
          <a:blip r:embed="rId3">
            <a:alphaModFix/>
          </a:blip>
          <a:srcRect b="719" l="0" r="0" t="729"/>
          <a:stretch/>
        </p:blipFill>
        <p:spPr>
          <a:xfrm>
            <a:off x="4572000" y="1714500"/>
            <a:ext cx="4381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4572000" y="1714500"/>
            <a:ext cx="4381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0975" y="190500"/>
            <a:ext cx="1152600" cy="11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API &amp; Database Interaction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APIs act as a secure gateway, managing how data is retrieved, stored, and updated in the database.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1" name="Google Shape;211;p22"/>
          <p:cNvGrpSpPr/>
          <p:nvPr/>
        </p:nvGrpSpPr>
        <p:grpSpPr>
          <a:xfrm>
            <a:off x="571500" y="1714500"/>
            <a:ext cx="3429000" cy="952500"/>
            <a:chOff x="571500" y="1714500"/>
            <a:chExt cx="3429000" cy="952500"/>
          </a:xfrm>
        </p:grpSpPr>
        <p:sp>
          <p:nvSpPr>
            <p:cNvPr id="212" name="Google Shape;212;p22"/>
            <p:cNvSpPr/>
            <p:nvPr/>
          </p:nvSpPr>
          <p:spPr>
            <a:xfrm>
              <a:off x="571500" y="171450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 txBox="1"/>
            <p:nvPr/>
          </p:nvSpPr>
          <p:spPr>
            <a:xfrm>
              <a:off x="762000" y="18573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1. Data Querying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API receives a request and translates it into a database query (e.g., SQL) to find specific records.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571500" y="2809875"/>
            <a:ext cx="3429000" cy="952500"/>
            <a:chOff x="571500" y="2809875"/>
            <a:chExt cx="3429000" cy="952500"/>
          </a:xfrm>
        </p:grpSpPr>
        <p:sp>
          <p:nvSpPr>
            <p:cNvPr id="215" name="Google Shape;215;p22"/>
            <p:cNvSpPr/>
            <p:nvPr/>
          </p:nvSpPr>
          <p:spPr>
            <a:xfrm>
              <a:off x="571500" y="2809875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762000" y="295275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2. Processing Logic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server processes the retrieved data, applying business rules or filtering before sending it back.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571500" y="3905250"/>
            <a:ext cx="3429000" cy="952500"/>
            <a:chOff x="571500" y="3905250"/>
            <a:chExt cx="3429000" cy="952500"/>
          </a:xfrm>
        </p:grpSpPr>
        <p:sp>
          <p:nvSpPr>
            <p:cNvPr id="218" name="Google Shape;218;p22"/>
            <p:cNvSpPr/>
            <p:nvPr/>
          </p:nvSpPr>
          <p:spPr>
            <a:xfrm>
              <a:off x="571500" y="390525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762000" y="404812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3. State Persistence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 POST/PUT requests, the API ensures data integrity while writing new information to the database.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server rack connected to a glowing cylinder representing a database. Digital data streams flow between them in neon cyan and blue. Dark slate background with a clean, professional aesthetic." id="220" name="Google Shape;220;p22"/>
          <p:cNvPicPr preferRelativeResize="0"/>
          <p:nvPr/>
        </p:nvPicPr>
        <p:blipFill rotWithShape="1">
          <a:blip r:embed="rId3">
            <a:alphaModFix/>
          </a:blip>
          <a:srcRect b="719" l="0" r="0" t="729"/>
          <a:stretch/>
        </p:blipFill>
        <p:spPr>
          <a:xfrm>
            <a:off x="4381500" y="1714500"/>
            <a:ext cx="4381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4381500" y="1714500"/>
            <a:ext cx="4381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6725" y="609600"/>
            <a:ext cx="590700" cy="1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Common HTTP Methods in API Requests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the standard verbs used to define actions on resources within Postman and modern APIs.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1" name="Google Shape;231;p23"/>
          <p:cNvGrpSpPr/>
          <p:nvPr/>
        </p:nvGrpSpPr>
        <p:grpSpPr>
          <a:xfrm>
            <a:off x="571500" y="1714500"/>
            <a:ext cx="1809600" cy="1238400"/>
            <a:chOff x="571500" y="1714500"/>
            <a:chExt cx="1809600" cy="1238400"/>
          </a:xfrm>
        </p:grpSpPr>
        <p:sp>
          <p:nvSpPr>
            <p:cNvPr id="232" name="Google Shape;232;p23"/>
            <p:cNvSpPr/>
            <p:nvPr/>
          </p:nvSpPr>
          <p:spPr>
            <a:xfrm>
              <a:off x="571500" y="1714500"/>
              <a:ext cx="18096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714375" y="1857375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GET (Read)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Retrieves data from a server without modifying it.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GET /users/123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4" name="Google Shape;234;p23"/>
          <p:cNvGrpSpPr/>
          <p:nvPr/>
        </p:nvGrpSpPr>
        <p:grpSpPr>
          <a:xfrm>
            <a:off x="2571750" y="1714500"/>
            <a:ext cx="1809600" cy="1238400"/>
            <a:chOff x="2571750" y="1714500"/>
            <a:chExt cx="1809600" cy="1238400"/>
          </a:xfrm>
        </p:grpSpPr>
        <p:sp>
          <p:nvSpPr>
            <p:cNvPr id="235" name="Google Shape;235;p23"/>
            <p:cNvSpPr/>
            <p:nvPr/>
          </p:nvSpPr>
          <p:spPr>
            <a:xfrm>
              <a:off x="2571750" y="1714500"/>
              <a:ext cx="18096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3"/>
            <p:cNvSpPr txBox="1"/>
            <p:nvPr/>
          </p:nvSpPr>
          <p:spPr>
            <a:xfrm>
              <a:off x="2714625" y="1857375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POST (Create)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Sends new data to the server to create a resource.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POST /users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3"/>
          <p:cNvGrpSpPr/>
          <p:nvPr/>
        </p:nvGrpSpPr>
        <p:grpSpPr>
          <a:xfrm>
            <a:off x="571500" y="3143250"/>
            <a:ext cx="1809600" cy="1238400"/>
            <a:chOff x="571500" y="3143250"/>
            <a:chExt cx="1809600" cy="1238400"/>
          </a:xfrm>
        </p:grpSpPr>
        <p:sp>
          <p:nvSpPr>
            <p:cNvPr id="238" name="Google Shape;238;p23"/>
            <p:cNvSpPr/>
            <p:nvPr/>
          </p:nvSpPr>
          <p:spPr>
            <a:xfrm>
              <a:off x="571500" y="3143250"/>
              <a:ext cx="18096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714375" y="3286125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PUT (Update)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Updates an existing resource with new information.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PUT /users/123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23"/>
          <p:cNvGrpSpPr/>
          <p:nvPr/>
        </p:nvGrpSpPr>
        <p:grpSpPr>
          <a:xfrm>
            <a:off x="2571750" y="3143250"/>
            <a:ext cx="1809600" cy="1238400"/>
            <a:chOff x="2571750" y="3143250"/>
            <a:chExt cx="1809600" cy="1238400"/>
          </a:xfrm>
        </p:grpSpPr>
        <p:sp>
          <p:nvSpPr>
            <p:cNvPr id="241" name="Google Shape;241;p23"/>
            <p:cNvSpPr/>
            <p:nvPr/>
          </p:nvSpPr>
          <p:spPr>
            <a:xfrm>
              <a:off x="2571750" y="3143250"/>
              <a:ext cx="18096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3"/>
            <p:cNvSpPr txBox="1"/>
            <p:nvPr/>
          </p:nvSpPr>
          <p:spPr>
            <a:xfrm>
              <a:off x="2714625" y="3286125"/>
              <a:ext cx="15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DELETE (Remove)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Permanently removes a specific resource from the server.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highlight>
                    <a:srgbClr val="0F172A"/>
                  </a:highlight>
                  <a:latin typeface="Consolas"/>
                  <a:ea typeface="Consolas"/>
                  <a:cs typeface="Consolas"/>
                  <a:sym typeface="Consolas"/>
                </a:rPr>
                <a:t>DELETE /users/123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the Postman interface interface showing a request dropdown with GET, POST, PUT, DELETE methods highlighted in neon colors. Digital data streams and glowing code elements in a professional dark slate environment.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Hands-on API Calls with Postman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Follow these core steps to execute your first API request and inspect the results.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3" name="Google Shape;253;p24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254" name="Google Shape;254;p24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733425" y="1900238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 txBox="1"/>
            <p:nvPr/>
          </p:nvSpPr>
          <p:spPr>
            <a:xfrm>
              <a:off x="809625" y="1905000"/>
              <a:ext cx="19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1238250" y="1857375"/>
              <a:ext cx="276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Set Method &amp; URL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Select GET and enter the API endpoint.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259" name="Google Shape;259;p24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733425" y="2709863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809625" y="2714625"/>
              <a:ext cx="19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62" name="Google Shape;262;p24"/>
            <p:cNvSpPr txBox="1"/>
            <p:nvPr/>
          </p:nvSpPr>
          <p:spPr>
            <a:xfrm>
              <a:off x="1238250" y="2667000"/>
              <a:ext cx="276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Configure Params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Add keys and values to the Params tab.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3" name="Google Shape;263;p24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264" name="Google Shape;264;p24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733425" y="3519488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809625" y="3524250"/>
              <a:ext cx="190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1238250" y="3476625"/>
              <a:ext cx="276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Send &amp; Analyze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Hit 'Send' and check the Status and Body.</a:t>
              </a:r>
              <a:endParaRPr b="0"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8" name="Google Shape;268;p24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269" name="Google Shape;269;p24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Tip: </a:t>
              </a:r>
              <a:r>
                <a:rPr b="0" lang="en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 'Prettify' to read JSON responses easily.</a:t>
              </a:r>
              <a:endParaRPr b="1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hand clicking a glowing 'Send' button in a modern API client interface. Neon cyan and slate blue environment with floating data streams."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Authentication &amp; Security Basics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APIs use authentication to ensure only authorized users can access sensitive data and services.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2" name="Google Shape;282;p25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283" name="Google Shape;283;p25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API Keys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unique identifier used to authenticate a project and track usage.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25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286" name="Google Shape;286;p25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Bearer Tokens (OAuth 2.0)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Secure tokens often sent in the Authorization header for user access.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8" name="Google Shape;288;p25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289" name="Google Shape;289;p25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Basic Auth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simple method using username and password encoded in Base64.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25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292" name="Google Shape;292;p25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Best Practice: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Never hardcode keys in client-side code.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digital shield with a glowing keyhole. Digital padlocks and circuit patterns in neon cyan and slate blue. Professional cybersecurity aesthetic." id="294" name="Google Shape;294;p25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295" name="Google Shape;295;p25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Advanced API Security Concepts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Moving beyond basic authentication to robust protection strategies for production environments.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4" name="Google Shape;304;p26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305" name="Google Shape;305;p26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Rate Limiting &amp; Throttling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Prevents abuse by limiting the number of requests a user can make.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7" name="Google Shape;307;p26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308" name="Google Shape;308;p26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Input Validation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Always sanitize data to prevent SQL Injection and XSS attacks.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26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311" name="Google Shape;311;p26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Mutual TLS (mTLS)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Two-way authentication where both client and server provide certificates.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3" name="Google Shape;313;p26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314" name="Google Shape;314;p26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Rotation: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Regularly update API keys to minimize breach impact.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sophisticated 3D isometric visual representing advanced network security. It features glowing digital nodes, encrypted data packets flowing through a high-tech gateway, and a futuristic firewall shield in neon cyan and deep indigo. Clean, professional cybersecurity aesthetic." id="316" name="Google Shape;316;p26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317" name="Google Shape;317;p26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Authoritative Sources for API Testing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Identifying the correct technical documentation to design effective tests and ensure data fidelity.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6" name="Google Shape;326;p27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327" name="Google Shape;327;p27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Swagger / OpenAPI Docs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primary authoritative source for endpoints, parameters, and error codes.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330" name="Google Shape;330;p27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Database Dictionary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 for verifying schema, table relationships, and data integrity constraints.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333" name="Google Shape;333;p27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DevOps Environment Docs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Access secure environment URLs, credentials, and production configurations.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5" name="Google Shape;335;p27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336" name="Google Shape;336;p27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Principle: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Design tests based on documentation, not verbal assumptions.</a:t>
              </a:r>
              <a:endParaRPr b="1" sz="120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sophisticated 3D isometric illustration showing a digital magnifying glass hovering over glowing code blocks and API documentation. Neon cyan and deep indigo color palette with a clean, professional cybersecurity aesthetic." id="338" name="Google Shape;338;p27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339" name="Google Shape;339;p27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 Architecture &amp; Integration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how APIs bridge disparate systems through structured data exchange and logic.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8" name="Google Shape;348;p28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349" name="Google Shape;349;p28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Data Querying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Translates requests into database queries to retrieve specific records efficiently.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1" name="Google Shape;351;p28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352" name="Google Shape;352;p28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Processing Logic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Applies business rules and filters to data before sending it back to the requester.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4" name="Google Shape;354;p28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355" name="Google Shape;355;p28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State Persistence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Ensures data integrity during POST/PUT operations when writing to the database.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7" name="Google Shape;357;p28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358" name="Google Shape;358;p28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8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Insight: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APIs act as secure gateways for all backend interactions.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showing a server rack with glowing data lines connecting to a central database icon. Cyber-blue and dark slate aesthetic with digital nodes and light trails." id="360" name="Google Shape;360;p28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361" name="Google Shape;361;p28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Error Handling &amp; Status Codes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HTTP status codes help developers identify the success or failure of an API request.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1" name="Google Shape;371;p29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372" name="Google Shape;372;p29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2xx Success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Indicates that the request was received, understood, and accepted by the server.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29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375" name="Google Shape;375;p29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4xx Client Error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request contains bad syntax or cannot be fulfilled (e.g., 404 Not Found).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29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378" name="Google Shape;378;p29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5xx Server Error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server failed to fulfill an apparently valid request due to an internal error.</a:t>
              </a:r>
              <a:endParaRPr b="0" sz="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0" name="Google Shape;380;p29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381" name="Google Shape;381;p29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 Tip: </a:t>
              </a:r>
              <a:r>
                <a:rPr b="0" lang="en" sz="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Always return descriptive JSON error messages for debugging.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digital dashboard showing error logs and red/green status icons. Neon cyan and deep indigo color palette with a clean, professional aesthetic." id="383" name="Google Shape;383;p29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384" name="Google Shape;384;p29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Postman Workspace Essentials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Workspaces provide a collaborative environment to organize API projects, collections, and environments efficiently.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4" name="Google Shape;394;p30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395" name="Google Shape;395;p30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Collections &amp; Folders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Group related APIs in a sequence to automate testing workflows and manage data flow.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7" name="Google Shape;397;p30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398" name="Google Shape;398;p30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Environment Variables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Reuse values across requests to eliminate hardcoding and switch between staging/prod easily.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0" name="Google Shape;400;p30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401" name="Google Shape;401;p30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Scripting (Pre/Post-Request)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Automate data extraction and validation using JavaScript to catch backend bugs instantly.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3" name="Google Shape;403;p30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404" name="Google Shape;404;p30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Benefit: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Ensures a clean, organized, and scalable automated testing workflow.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digital workspace interface for API developers. It features organized folders, glowing connection lines between nodes, and a sleek UI dashboard in neon cyan and deep indigo. Professional software development aesthetic." id="406" name="Google Shape;406;p30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407" name="Google Shape;407;p30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Postman Collections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6" name="Google Shape;416;p31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Collections group related API requests into a single folder to simplify organization, testing, and automation workflows.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7" name="Google Shape;417;p31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418" name="Google Shape;418;p31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1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Logical Grouping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Organize APIs by project or service to keep your workspace clean and manageable.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0" name="Google Shape;420;p31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421" name="Google Shape;421;p31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Execution Sequences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Run multiple APIs in order (e.g., Login &gt; Get User &gt; Update) using the Collection Runner.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31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424" name="Google Shape;424;p31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1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Automated Validation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Apply tests and scripts at the collection level to validate every request automatically.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6" name="Google Shape;426;p31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427" name="Google Shape;427;p31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1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Principle: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Collections are the foundation for CI/CD integration using tools like Newman.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sleek 3D isometric illustration of a digital folder glowing with neon cyan data lines, connected to a sequence of API request icons and a green &quot;Pass&quot; status badge. Professional tech aesthetic, dark indigo background." id="429" name="Google Shape;429;p31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430" name="Google Shape;430;p31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Managing Variables &amp; Scopes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Postman uses variables to store and reuse values across requests, enabling dynamic testing and multi-environment support.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0" name="Google Shape;440;p32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441" name="Google Shape;441;p32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2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Collection Variables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Specific to a single collection; ideal for constants like API versions or auth paths.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3" name="Google Shape;443;p32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444" name="Google Shape;444;p32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2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Environment Variables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Allow switching between Staging, Dev, or Prod URLs without modifying request URLs.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6" name="Google Shape;446;p32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447" name="Google Shape;447;p32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2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Global Variables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Accessible across all collections in a workspace; best for shared high-level config.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9" name="Google Shape;449;p32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450" name="Google Shape;450;p32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2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Syntax: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 double curly braces </a:t>
              </a:r>
              <a:r>
                <a:rPr b="0" lang="en" sz="9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{{variable_name}}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to reference variables.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3D isometric illustration of digital &quot;containers&quot; or glowing cubes representing data variables, with neon lines connecting them to a main API server. Deep indigo and cyan theme, sleek professional tech style." id="452" name="Google Shape;452;p32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/>
          <p:nvPr/>
        </p:nvSpPr>
        <p:spPr>
          <a:xfrm>
            <a:off x="571500" y="381000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Postman Request &amp; Response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762000" y="1047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Every API interaction in Postman consists of a defined request sent to a server and the resulting response returned.</a:t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62" name="Google Shape;462;p33"/>
          <p:cNvGrpSpPr/>
          <p:nvPr/>
        </p:nvGrpSpPr>
        <p:grpSpPr>
          <a:xfrm>
            <a:off x="571500" y="1714500"/>
            <a:ext cx="3619500" cy="714300"/>
            <a:chOff x="571500" y="1714500"/>
            <a:chExt cx="3619500" cy="714300"/>
          </a:xfrm>
        </p:grpSpPr>
        <p:sp>
          <p:nvSpPr>
            <p:cNvPr id="463" name="Google Shape;463;p33"/>
            <p:cNvSpPr/>
            <p:nvPr/>
          </p:nvSpPr>
          <p:spPr>
            <a:xfrm>
              <a:off x="571500" y="171450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3"/>
            <p:cNvSpPr txBox="1"/>
            <p:nvPr/>
          </p:nvSpPr>
          <p:spPr>
            <a:xfrm>
              <a:off x="762000" y="180975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Request Components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Includes the URL, HTTP Method (GET, POST, etc.), Headers, and Body data sent to the API.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5" name="Google Shape;465;p33"/>
          <p:cNvGrpSpPr/>
          <p:nvPr/>
        </p:nvGrpSpPr>
        <p:grpSpPr>
          <a:xfrm>
            <a:off x="571500" y="2524125"/>
            <a:ext cx="3619500" cy="714300"/>
            <a:chOff x="571500" y="2524125"/>
            <a:chExt cx="3619500" cy="714300"/>
          </a:xfrm>
        </p:grpSpPr>
        <p:sp>
          <p:nvSpPr>
            <p:cNvPr id="466" name="Google Shape;466;p33"/>
            <p:cNvSpPr/>
            <p:nvPr/>
          </p:nvSpPr>
          <p:spPr>
            <a:xfrm>
              <a:off x="571500" y="2524125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3"/>
            <p:cNvSpPr txBox="1"/>
            <p:nvPr/>
          </p:nvSpPr>
          <p:spPr>
            <a:xfrm>
              <a:off x="762000" y="2619375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Response Details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Contains the Status Code, Response Body (usually JSON), Headers, and performance time.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8" name="Google Shape;468;p33"/>
          <p:cNvGrpSpPr/>
          <p:nvPr/>
        </p:nvGrpSpPr>
        <p:grpSpPr>
          <a:xfrm>
            <a:off x="571500" y="3333750"/>
            <a:ext cx="3619500" cy="714300"/>
            <a:chOff x="571500" y="3333750"/>
            <a:chExt cx="3619500" cy="714300"/>
          </a:xfrm>
        </p:grpSpPr>
        <p:sp>
          <p:nvSpPr>
            <p:cNvPr id="469" name="Google Shape;469;p33"/>
            <p:cNvSpPr/>
            <p:nvPr/>
          </p:nvSpPr>
          <p:spPr>
            <a:xfrm>
              <a:off x="571500" y="3333750"/>
              <a:ext cx="3619500" cy="7143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 txBox="1"/>
            <p:nvPr/>
          </p:nvSpPr>
          <p:spPr>
            <a:xfrm>
              <a:off x="762000" y="3429000"/>
              <a:ext cx="3238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Authorization &amp; Params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Manage API keys or tokens in the Auth tab and use Query Params for filtering resources.</a:t>
              </a:r>
              <a:endParaRPr b="0" sz="9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1" name="Google Shape;471;p33"/>
          <p:cNvGrpSpPr/>
          <p:nvPr/>
        </p:nvGrpSpPr>
        <p:grpSpPr>
          <a:xfrm>
            <a:off x="571500" y="4143375"/>
            <a:ext cx="3619500" cy="571500"/>
            <a:chOff x="571500" y="4143375"/>
            <a:chExt cx="3619500" cy="571500"/>
          </a:xfrm>
        </p:grpSpPr>
        <p:sp>
          <p:nvSpPr>
            <p:cNvPr id="472" name="Google Shape;472;p33"/>
            <p:cNvSpPr/>
            <p:nvPr/>
          </p:nvSpPr>
          <p:spPr>
            <a:xfrm>
              <a:off x="571500" y="4143375"/>
              <a:ext cx="3619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 txBox="1"/>
            <p:nvPr/>
          </p:nvSpPr>
          <p:spPr>
            <a:xfrm>
              <a:off x="762000" y="423862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Workflow: </a:t>
              </a:r>
              <a:r>
                <a:rPr b="0" lang="en" sz="92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Build Request &gt; Send &gt; Inspect Response &gt; Save as Example.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A high-tech 3D isometric illustration of a digital split-screen interface. On the left, a glowing &quot;Send&quot; button with request code lines; on the right, a structured JSON response tree glowing in neon cyan. Sleek professional tech style with light trails on a dark indigo background." id="474" name="Google Shape;474;p33"/>
          <p:cNvPicPr preferRelativeResize="0"/>
          <p:nvPr/>
        </p:nvPicPr>
        <p:blipFill rotWithShape="1">
          <a:blip r:embed="rId3">
            <a:alphaModFix/>
          </a:blip>
          <a:srcRect b="0" l="3678" r="3678" t="0"/>
          <a:stretch/>
        </p:blipFill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475" name="Google Shape;475;p33"/>
          <p:cNvSpPr/>
          <p:nvPr/>
        </p:nvSpPr>
        <p:spPr>
          <a:xfrm>
            <a:off x="4572000" y="1714500"/>
            <a:ext cx="4000500" cy="3238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7810500" y="190500"/>
            <a:ext cx="1143000" cy="11430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futuristic digital network background with subtle glowing connections and dark indigo gradients, minimalist tech aesthetic." id="481" name="Google Shape;4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0" y="762000"/>
            <a:ext cx="9144000" cy="952650"/>
            <a:chOff x="0" y="0"/>
            <a:chExt cx="9144000" cy="952650"/>
          </a:xfrm>
        </p:grpSpPr>
        <p:sp>
          <p:nvSpPr>
            <p:cNvPr id="483" name="Google Shape;483;p34"/>
            <p:cNvSpPr txBox="1"/>
            <p:nvPr/>
          </p:nvSpPr>
          <p:spPr>
            <a:xfrm>
              <a:off x="0" y="0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Thank You!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84" name="Google Shape;484;p34"/>
            <p:cNvSpPr txBox="1"/>
            <p:nvPr/>
          </p:nvSpPr>
          <p:spPr>
            <a:xfrm>
              <a:off x="0" y="666750"/>
              <a:ext cx="914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Empowering the next generation of API Experts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5" name="Google Shape;485;p34"/>
          <p:cNvGrpSpPr/>
          <p:nvPr/>
        </p:nvGrpSpPr>
        <p:grpSpPr>
          <a:xfrm>
            <a:off x="0" y="3905250"/>
            <a:ext cx="9144000" cy="523950"/>
            <a:chOff x="0" y="0"/>
            <a:chExt cx="9144000" cy="523950"/>
          </a:xfrm>
        </p:grpSpPr>
        <p:sp>
          <p:nvSpPr>
            <p:cNvPr id="486" name="Google Shape;486;p34"/>
            <p:cNvSpPr txBox="1"/>
            <p:nvPr/>
          </p:nvSpPr>
          <p:spPr>
            <a:xfrm>
              <a:off x="0" y="0"/>
              <a:ext cx="914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Abdullah Al Rumy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7" name="Google Shape;487;p34"/>
            <p:cNvSpPr txBox="1"/>
            <p:nvPr/>
          </p:nvSpPr>
          <p:spPr>
            <a:xfrm>
              <a:off x="0" y="285750"/>
              <a:ext cx="914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Lead Instructor, OSTAD Platform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8" name="Google Shape;488;p34"/>
          <p:cNvSpPr/>
          <p:nvPr/>
        </p:nvSpPr>
        <p:spPr>
          <a:xfrm>
            <a:off x="-381000" y="-381000"/>
            <a:ext cx="2286000" cy="2286000"/>
          </a:xfrm>
          <a:prstGeom prst="ellipse">
            <a:avLst/>
          </a:prstGeom>
          <a:solidFill>
            <a:srgbClr val="38BDF8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7429500" y="3429000"/>
            <a:ext cx="1905000" cy="1905000"/>
          </a:xfrm>
          <a:prstGeom prst="ellipse">
            <a:avLst/>
          </a:prstGeom>
          <a:solidFill>
            <a:srgbClr val="38BDF8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4552950" y="381000"/>
            <a:ext cx="38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1" name="Google Shape;49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750" y="18574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