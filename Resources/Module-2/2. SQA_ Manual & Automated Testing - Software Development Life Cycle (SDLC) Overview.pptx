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Barlow ExtraLight"/>
      <p:regular r:id="rId22"/>
      <p:bold r:id="rId23"/>
      <p:italic r:id="rId24"/>
      <p:boldItalic r:id="rId25"/>
    </p:embeddedFont>
    <p:embeddedFont>
      <p:font typeface="Hepta Slab Medium"/>
      <p:regular r:id="rId26"/>
      <p:bold r:id="rId27"/>
    </p:embeddedFont>
    <p:embeddedFont>
      <p:font typeface="Hepta Slab Light"/>
      <p:regular r:id="rId28"/>
      <p:bold r:id="rId29"/>
    </p:embeddedFont>
    <p:embeddedFont>
      <p:font typeface="Hepta Slab"/>
      <p:regular r:id="rId30"/>
      <p:bold r:id="rId31"/>
    </p:embeddedFont>
    <p:embeddedFont>
      <p:font typeface="Barlow Medium"/>
      <p:regular r:id="rId32"/>
      <p:bold r:id="rId33"/>
      <p:italic r:id="rId34"/>
      <p:boldItalic r:id="rId35"/>
    </p:embeddedFont>
    <p:embeddedFont>
      <p:font typeface="Barlow Light"/>
      <p:regular r:id="rId36"/>
      <p:bold r:id="rId37"/>
      <p:italic r:id="rId38"/>
      <p:boldItalic r:id="rId39"/>
    </p:embeddedFont>
    <p:embeddedFont>
      <p:font typeface="Barlow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ikg73oin4gn9IhiPbnjGscIvUZ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regular.fntdata"/><Relationship Id="rId20" Type="http://schemas.openxmlformats.org/officeDocument/2006/relationships/slide" Target="slides/slide15.xml"/><Relationship Id="rId42" Type="http://schemas.openxmlformats.org/officeDocument/2006/relationships/font" Target="fonts/Barlow-italic.fntdata"/><Relationship Id="rId41" Type="http://schemas.openxmlformats.org/officeDocument/2006/relationships/font" Target="fonts/Barlow-bold.fntdata"/><Relationship Id="rId22" Type="http://schemas.openxmlformats.org/officeDocument/2006/relationships/font" Target="fonts/BarlowExtraLight-regular.fntdata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Barlow-boldItalic.fntdata"/><Relationship Id="rId24" Type="http://schemas.openxmlformats.org/officeDocument/2006/relationships/font" Target="fonts/BarlowExtraLight-italic.fntdata"/><Relationship Id="rId23" Type="http://schemas.openxmlformats.org/officeDocument/2006/relationships/font" Target="fonts/BarlowExtra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ptaSlabMedium-regular.fntdata"/><Relationship Id="rId25" Type="http://schemas.openxmlformats.org/officeDocument/2006/relationships/font" Target="fonts/BarlowExtraLight-boldItalic.fntdata"/><Relationship Id="rId28" Type="http://schemas.openxmlformats.org/officeDocument/2006/relationships/font" Target="fonts/HeptaSlabLight-regular.fntdata"/><Relationship Id="rId27" Type="http://schemas.openxmlformats.org/officeDocument/2006/relationships/font" Target="fonts/HeptaSlab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ptaSlab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ptaSlab-bold.fntdata"/><Relationship Id="rId30" Type="http://schemas.openxmlformats.org/officeDocument/2006/relationships/font" Target="fonts/HeptaSlab-regular.fntdata"/><Relationship Id="rId11" Type="http://schemas.openxmlformats.org/officeDocument/2006/relationships/slide" Target="slides/slide6.xml"/><Relationship Id="rId33" Type="http://schemas.openxmlformats.org/officeDocument/2006/relationships/font" Target="fonts/BarlowMedium-bold.fntdata"/><Relationship Id="rId10" Type="http://schemas.openxmlformats.org/officeDocument/2006/relationships/slide" Target="slides/slide5.xml"/><Relationship Id="rId32" Type="http://schemas.openxmlformats.org/officeDocument/2006/relationships/font" Target="fonts/BarlowMedium-regular.fntdata"/><Relationship Id="rId13" Type="http://schemas.openxmlformats.org/officeDocument/2006/relationships/slide" Target="slides/slide8.xml"/><Relationship Id="rId35" Type="http://schemas.openxmlformats.org/officeDocument/2006/relationships/font" Target="fonts/Barlow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BarlowMedium-italic.fntdata"/><Relationship Id="rId15" Type="http://schemas.openxmlformats.org/officeDocument/2006/relationships/slide" Target="slides/slide10.xml"/><Relationship Id="rId37" Type="http://schemas.openxmlformats.org/officeDocument/2006/relationships/font" Target="fonts/BarlowLight-bold.fntdata"/><Relationship Id="rId14" Type="http://schemas.openxmlformats.org/officeDocument/2006/relationships/slide" Target="slides/slide9.xml"/><Relationship Id="rId36" Type="http://schemas.openxmlformats.org/officeDocument/2006/relationships/font" Target="fonts/BarlowLight-regular.fntdata"/><Relationship Id="rId17" Type="http://schemas.openxmlformats.org/officeDocument/2006/relationships/slide" Target="slides/slide12.xml"/><Relationship Id="rId39" Type="http://schemas.openxmlformats.org/officeDocument/2006/relationships/font" Target="fonts/Barlow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Barlow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4ac05455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4ac05455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42d93776e7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42d93776e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2d93776e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42d93776e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ac054550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4ac054550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ecf211fc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ecf211fc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ecf211fc6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ecf211fc6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ecf211fc6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4ecf211fc6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b35fe5190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b35fe5190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4ecf211fc6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4ecf211fc6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4ecf211fc6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4ecf211fc6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Phases of the V-Model: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The V-model typically includes the following phases, with corresponding testing activities: 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Requirements Analysis: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requirements, and validation through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Design: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system and module design, and validation through integration and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Implementation: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code, and validation through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Testing: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Validation of the final product through system, integration, and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ad7ba830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ad7ba830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Phases of the V-Model: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The V-model typically includes the following phases, with corresponding testing activities: 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Requirements Analysis: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requirements, and validation through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Design: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system and module design, and validation through integration and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Implementation: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code, and validation through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Testing: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Validation of the final product through system, integration, and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5b35fe519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5b35fe519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Phases of the V-Model: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The V-model typically includes the following phases, with corresponding testing activities: 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Requirements Analysis: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requirements, and validation through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Design: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system and module design, and validation through integration and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Implementation: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code, and validation through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Testing: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Validation of the final product through system, integration, and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c03b9964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cc03b9964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Phases of the V-Model: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EEF0FF"/>
                </a:solidFill>
                <a:highlight>
                  <a:srgbClr val="101218"/>
                </a:highlight>
              </a:rPr>
              <a:t>The V-model typically includes the following phases, with corresponding testing activities: </a:t>
            </a:r>
            <a:endParaRPr sz="135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Requirements Analysis: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requirements, and validation through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Design: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system and module design, and validation through integration and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Implementation: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Verification of code, and validation through unit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048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200"/>
              <a:buChar char="●"/>
            </a:pPr>
            <a:r>
              <a:rPr b="1" lang="en" sz="1200">
                <a:solidFill>
                  <a:srgbClr val="EEF0FF"/>
                </a:solidFill>
                <a:highlight>
                  <a:srgbClr val="101218"/>
                </a:highlight>
              </a:rPr>
              <a:t>Testing:</a:t>
            </a:r>
            <a:r>
              <a:rPr lang="en" sz="1200">
                <a:solidFill>
                  <a:srgbClr val="EEF0FF"/>
                </a:solidFill>
                <a:highlight>
                  <a:srgbClr val="101218"/>
                </a:highlight>
              </a:rPr>
              <a:t> Validation of the final product through system, integration, and acceptance testing.</a:t>
            </a:r>
            <a:endParaRPr sz="12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13"/>
          <p:cNvSpPr txBox="1"/>
          <p:nvPr/>
        </p:nvSpPr>
        <p:spPr>
          <a:xfrm>
            <a:off x="6907975" y="4749850"/>
            <a:ext cx="21975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Mishel Franklin Desilva</a:t>
            </a:r>
            <a:endParaRPr b="0" i="0" sz="15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" name="Google Shape;60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" name="Google Shape;62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" name="Google Shape;63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" name="Google Shape;64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6" name="Google Shape;76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4" name="Google Shape;94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5" name="Google Shape;95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6" name="Google Shape;96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7" name="Google Shape;1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1" name="Google Shape;121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9" name="Google Shape;139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0" name="Google Shape;140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3" name="Google Shape;143;p36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4" name="Google Shape;144;p36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5" name="Google Shape;145;p36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6" name="Google Shape;146;p36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7" name="Google Shape;147;p36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0" name="Google Shape;150;p36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1" name="Google Shape;151;p36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2" name="Google Shape;152;p36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3" name="Google Shape;153;p36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4" name="Google Shape;154;p36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5" name="Google Shape;155;p36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8" name="Google Shape;158;p36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" sz="700" u="none" cap="none" strike="noStrik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b="0" i="1" sz="700" u="none" cap="none" strike="noStrik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5" name="Google Shape;165;p37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6" name="Google Shape;166;p37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7" name="Google Shape;167;p37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8" name="Google Shape;16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8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2" name="Google Shape;172;p38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38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39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9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9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1" name="Google Shape;181;p39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2" name="Google Shape;182;p39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9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39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39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40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4" name="Google Shape;19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7" name="Google Shape;197;p41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8" name="Google Shape;198;p41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42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42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42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5" name="Google Shape;205;p4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6" name="Google Shape;206;p42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7" name="Google Shape;207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0" name="Google Shape;210;p43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1" name="Google Shape;211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4" name="Google Shape;214;p4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5" name="Google Shape;21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5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5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9" name="Google Shape;219;p45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220" name="Google Shape;220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45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5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6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6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6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r>
              <a:t/>
            </a:r>
            <a:endParaRPr b="0" i="0" sz="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3" name="Google Shape;233;p47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8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8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49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9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0" lIns="274300" spcFirstLastPara="1" rIns="274300" wrap="square" tIns="27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4" name="Google Shape;244;p49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5" name="Google Shape;24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8" name="Google Shape;248;p50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9" name="Google Shape;249;p50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0" name="Google Shape;250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51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51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51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51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7" name="Google Shape;257;p51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8" name="Google Shape;258;p51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51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51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51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51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51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4" name="Google Shape;264;p51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5" name="Google Shape;265;p51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6" name="Google Shape;266;p51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51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51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51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70" name="Google Shape;270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3" name="Google Shape;273;p52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4" name="Google Shape;27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5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4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54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54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54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5" name="Google Shape;285;p54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54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54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8" name="Google Shape;288;p54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54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54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1" name="Google Shape;291;p54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2" name="Google Shape;292;p54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54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5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5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8" name="Google Shape;298;p55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55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55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55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55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55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5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5" name="Google Shape;305;p55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6" name="Google Shape;306;p55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55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55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55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55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5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5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5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6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6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8" name="Google Shape;31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7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1" name="Google Shape;321;p57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2" name="Google Shape;32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2d93776e7_0_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5" name="Google Shape;325;g342d93776e7_0_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6" name="Google Shape;326;g342d93776e7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6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2d93776e7_0_1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9" name="Google Shape;329;g342d93776e7_0_1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0" name="Google Shape;330;g342d93776e7_0_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b="0" i="0" sz="3600" u="none" cap="none" strike="noStrike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pta Slab"/>
              <a:buNone/>
              <a:defRPr b="0" i="0" sz="1400" u="none" cap="none" strike="noStrike">
                <a:solidFill>
                  <a:srgbClr val="000000"/>
                </a:solidFill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b="0" i="0" sz="15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 b="0" i="0" sz="14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b="0" i="0" sz="12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b="0" i="0" sz="11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b="0" i="0" sz="1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b="0" i="0" sz="9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b="0" i="0" sz="8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www.atlassian.com/agile/project-management/epics-stories-them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ac054550d_0_5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SDLC Process</a:t>
            </a:r>
            <a:endParaRPr/>
          </a:p>
        </p:txBody>
      </p:sp>
      <p:sp>
        <p:nvSpPr>
          <p:cNvPr id="336" name="Google Shape;336;g34ac054550d_0_5"/>
          <p:cNvSpPr txBox="1"/>
          <p:nvPr>
            <p:ph idx="2" type="subTitle"/>
          </p:nvPr>
        </p:nvSpPr>
        <p:spPr>
          <a:xfrm>
            <a:off x="2137025" y="2104350"/>
            <a:ext cx="50073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Software Development Life Cycle</a:t>
            </a:r>
            <a:endParaRPr/>
          </a:p>
        </p:txBody>
      </p:sp>
      <p:sp>
        <p:nvSpPr>
          <p:cNvPr id="337" name="Google Shape;337;g34ac054550d_0_5"/>
          <p:cNvSpPr txBox="1"/>
          <p:nvPr>
            <p:ph idx="2" type="subTitle"/>
          </p:nvPr>
        </p:nvSpPr>
        <p:spPr>
          <a:xfrm>
            <a:off x="2689200" y="3039150"/>
            <a:ext cx="37656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SQA: Manual &amp; Automated Testing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"/>
          <p:cNvSpPr txBox="1"/>
          <p:nvPr/>
        </p:nvSpPr>
        <p:spPr>
          <a:xfrm>
            <a:off x="98600" y="171425"/>
            <a:ext cx="8711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Development Models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43" name="Google Shape;343;p2"/>
          <p:cNvSpPr txBox="1"/>
          <p:nvPr/>
        </p:nvSpPr>
        <p:spPr>
          <a:xfrm>
            <a:off x="384550" y="1077325"/>
            <a:ext cx="8425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Waterfall Model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Agile Model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V-Shape Model</a:t>
            </a:r>
            <a:endParaRPr sz="1600">
              <a:solidFill>
                <a:srgbClr val="FFFFFF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Spiral Model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42d93776e7_0_195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Waterfall Model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49" name="Google Shape;349;g342d93776e7_0_195"/>
          <p:cNvSpPr txBox="1"/>
          <p:nvPr/>
        </p:nvSpPr>
        <p:spPr>
          <a:xfrm>
            <a:off x="4009150" y="809725"/>
            <a:ext cx="5062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   </a:t>
            </a:r>
            <a:r>
              <a:rPr b="1" lang="en">
                <a:solidFill>
                  <a:srgbClr val="FFFFFF"/>
                </a:solidFill>
              </a:rPr>
              <a:t>Advantages</a:t>
            </a:r>
            <a:endParaRPr b="1"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Simple and easy to understand and manage.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Phases are clearly defined.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Works well for smaller projects with clear requirements.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0" name="Google Shape;350;g342d93776e7_0_195"/>
          <p:cNvSpPr/>
          <p:nvPr/>
        </p:nvSpPr>
        <p:spPr>
          <a:xfrm>
            <a:off x="254675" y="1036125"/>
            <a:ext cx="1325400" cy="44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Requirement Analysis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1" name="Google Shape;351;g342d93776e7_0_195"/>
          <p:cNvSpPr/>
          <p:nvPr/>
        </p:nvSpPr>
        <p:spPr>
          <a:xfrm>
            <a:off x="1580075" y="1838175"/>
            <a:ext cx="1325400" cy="44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Design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2" name="Google Shape;352;g342d93776e7_0_195"/>
          <p:cNvSpPr/>
          <p:nvPr/>
        </p:nvSpPr>
        <p:spPr>
          <a:xfrm>
            <a:off x="2905475" y="2664975"/>
            <a:ext cx="1546200" cy="44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Implementation &amp; Unit Testing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3" name="Google Shape;353;g342d93776e7_0_195"/>
          <p:cNvSpPr/>
          <p:nvPr/>
        </p:nvSpPr>
        <p:spPr>
          <a:xfrm>
            <a:off x="4451675" y="3467025"/>
            <a:ext cx="1325400" cy="44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System Testing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4" name="Google Shape;354;g342d93776e7_0_195"/>
          <p:cNvSpPr/>
          <p:nvPr/>
        </p:nvSpPr>
        <p:spPr>
          <a:xfrm>
            <a:off x="5777075" y="4283450"/>
            <a:ext cx="1325400" cy="445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DAD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Deployment &amp; Maintenance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55" name="Google Shape;355;g342d93776e7_0_195"/>
          <p:cNvCxnSpPr>
            <a:stCxn id="350" idx="3"/>
            <a:endCxn id="351" idx="0"/>
          </p:cNvCxnSpPr>
          <p:nvPr/>
        </p:nvCxnSpPr>
        <p:spPr>
          <a:xfrm>
            <a:off x="1580075" y="1259025"/>
            <a:ext cx="662700" cy="579300"/>
          </a:xfrm>
          <a:prstGeom prst="bentConnector2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6" name="Google Shape;356;g342d93776e7_0_195"/>
          <p:cNvCxnSpPr>
            <a:stCxn id="351" idx="3"/>
            <a:endCxn id="352" idx="0"/>
          </p:cNvCxnSpPr>
          <p:nvPr/>
        </p:nvCxnSpPr>
        <p:spPr>
          <a:xfrm>
            <a:off x="2905475" y="2061075"/>
            <a:ext cx="773100" cy="603900"/>
          </a:xfrm>
          <a:prstGeom prst="bentConnector2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g342d93776e7_0_195"/>
          <p:cNvCxnSpPr>
            <a:stCxn id="352" idx="3"/>
            <a:endCxn id="353" idx="0"/>
          </p:cNvCxnSpPr>
          <p:nvPr/>
        </p:nvCxnSpPr>
        <p:spPr>
          <a:xfrm>
            <a:off x="4451675" y="2887875"/>
            <a:ext cx="662700" cy="579300"/>
          </a:xfrm>
          <a:prstGeom prst="bentConnector2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g342d93776e7_0_195"/>
          <p:cNvCxnSpPr>
            <a:stCxn id="353" idx="3"/>
            <a:endCxn id="354" idx="0"/>
          </p:cNvCxnSpPr>
          <p:nvPr/>
        </p:nvCxnSpPr>
        <p:spPr>
          <a:xfrm>
            <a:off x="5777075" y="3689925"/>
            <a:ext cx="662700" cy="593400"/>
          </a:xfrm>
          <a:prstGeom prst="bentConnector2">
            <a:avLst/>
          </a:prstGeom>
          <a:noFill/>
          <a:ln cap="flat" cmpd="sng" w="19050">
            <a:solidFill>
              <a:srgbClr val="ADADA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9" name="Google Shape;359;g342d93776e7_0_195"/>
          <p:cNvSpPr txBox="1"/>
          <p:nvPr/>
        </p:nvSpPr>
        <p:spPr>
          <a:xfrm>
            <a:off x="90300" y="3491775"/>
            <a:ext cx="4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   </a:t>
            </a:r>
            <a:r>
              <a:rPr b="1" lang="en">
                <a:solidFill>
                  <a:srgbClr val="FFFFFF"/>
                </a:solidFill>
              </a:rPr>
              <a:t>Disadvantages</a:t>
            </a:r>
            <a:endParaRPr b="1"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Rigid and inflexible.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Difficult to accommodate changes once a phase is completed.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Not suitable for complex, evolving projects.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2d93776e7_0_68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Agile </a:t>
            </a:r>
            <a:r>
              <a:rPr lang="en" sz="4000">
                <a:solidFill>
                  <a:srgbClr val="FFFFFF"/>
                </a:solidFill>
              </a:rPr>
              <a:t>Methodology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65" name="Google Shape;365;g342d93776e7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25" y="1173148"/>
            <a:ext cx="4159950" cy="24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42d93776e7_0_68"/>
          <p:cNvSpPr txBox="1"/>
          <p:nvPr/>
        </p:nvSpPr>
        <p:spPr>
          <a:xfrm>
            <a:off x="4850550" y="809725"/>
            <a:ext cx="4043700" cy="18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   </a:t>
            </a:r>
            <a:r>
              <a:rPr b="1" lang="en">
                <a:solidFill>
                  <a:srgbClr val="FFFFFF"/>
                </a:solidFill>
              </a:rPr>
              <a:t>Advantages</a:t>
            </a:r>
            <a:endParaRPr b="1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Customer collaboration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Flexibility and adaptability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Faster time to market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Improved quality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Better risk management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Cross-functional teams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Transparency and visibility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67" name="Google Shape;367;g342d93776e7_0_68"/>
          <p:cNvSpPr txBox="1"/>
          <p:nvPr/>
        </p:nvSpPr>
        <p:spPr>
          <a:xfrm>
            <a:off x="4850550" y="2855600"/>
            <a:ext cx="40437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   </a:t>
            </a:r>
            <a:r>
              <a:rPr b="1" lang="en">
                <a:solidFill>
                  <a:srgbClr val="FFFFFF"/>
                </a:solidFill>
              </a:rPr>
              <a:t>Disadvantages</a:t>
            </a:r>
            <a:endParaRPr b="1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Scope creep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Requires strong customer involvement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Lack of documentation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Team dependency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Resource intensive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4ac054550d_0_353"/>
          <p:cNvSpPr txBox="1"/>
          <p:nvPr/>
        </p:nvSpPr>
        <p:spPr>
          <a:xfrm>
            <a:off x="208950" y="230875"/>
            <a:ext cx="80808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Agile Method - Epic, Story and Tusk Hierarchy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73" name="Google Shape;373;g34ac054550d_0_3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6337" y="1323100"/>
            <a:ext cx="6151326" cy="30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4ac054550d_0_353"/>
          <p:cNvSpPr txBox="1"/>
          <p:nvPr/>
        </p:nvSpPr>
        <p:spPr>
          <a:xfrm>
            <a:off x="1414575" y="4388500"/>
            <a:ext cx="772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https://www.atlassian.com/agile/project-management/epics-stories-themes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"/>
          <p:cNvSpPr txBox="1"/>
          <p:nvPr/>
        </p:nvSpPr>
        <p:spPr>
          <a:xfrm>
            <a:off x="208950" y="230875"/>
            <a:ext cx="80808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Sprint Process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380" name="Google Shape;3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2288" y="1031550"/>
            <a:ext cx="5054124" cy="350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ecf211fc6_3_0"/>
          <p:cNvSpPr txBox="1"/>
          <p:nvPr/>
        </p:nvSpPr>
        <p:spPr>
          <a:xfrm>
            <a:off x="208950" y="230875"/>
            <a:ext cx="80808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SCRUM 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descr="File:Scrum process.svg - Wikipedia" id="386" name="Google Shape;386;g34ecf211fc6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800" y="1033000"/>
            <a:ext cx="6324925" cy="316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ecf211fc6_3_12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Kanban Model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392" name="Google Shape;392;g34ecf211fc6_3_12"/>
          <p:cNvSpPr txBox="1"/>
          <p:nvPr/>
        </p:nvSpPr>
        <p:spPr>
          <a:xfrm>
            <a:off x="304800" y="945175"/>
            <a:ext cx="80808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Kanban is a visual workflow management system that helps teams manage and improve their work by tracking tasks as they move through different stages. 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It originated in the Toyota Production System as a way to control inventory, and has since been adapted for various fields, including software development. 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Dynamic/ frequent changing requirements which need to be delivered faster.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In case of changing priorities, the team can pull the prioritized work 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Frequent releases are there (Periodically).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When incoming work is continuous.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655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Kanban could be used by any function of an organization as well, for instance in Marketing, Sales, and HR.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g34ecf211fc6_3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3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b35fe5190_2_13"/>
          <p:cNvSpPr txBox="1"/>
          <p:nvPr/>
        </p:nvSpPr>
        <p:spPr>
          <a:xfrm>
            <a:off x="208950" y="230875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Scrum &amp; Kanban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403" name="Google Shape;403;g35b35fe5190_2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950" y="1011500"/>
            <a:ext cx="7085150" cy="35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ecf211fc6_3_33"/>
          <p:cNvSpPr txBox="1"/>
          <p:nvPr/>
        </p:nvSpPr>
        <p:spPr>
          <a:xfrm>
            <a:off x="0" y="0"/>
            <a:ext cx="900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Scrum &amp; Kanban - Difference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409" name="Google Shape;409;g34ecf211fc6_3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438" y="800400"/>
            <a:ext cx="4679129" cy="403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4ecf211fc6_3_21"/>
          <p:cNvSpPr txBox="1"/>
          <p:nvPr/>
        </p:nvSpPr>
        <p:spPr>
          <a:xfrm>
            <a:off x="361350" y="119827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V Model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415" name="Google Shape;415;g34ecf211fc6_3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4676" y="844007"/>
            <a:ext cx="3887824" cy="35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4ecf211fc6_3_21"/>
          <p:cNvSpPr txBox="1"/>
          <p:nvPr/>
        </p:nvSpPr>
        <p:spPr>
          <a:xfrm>
            <a:off x="126066" y="669756"/>
            <a:ext cx="4905300" cy="4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EF0FF"/>
                </a:solidFill>
                <a:highlight>
                  <a:srgbClr val="101218"/>
                </a:highlight>
              </a:rPr>
              <a:t>The V-Model (Validation and Verification Model) is a software development life cycle (SDLC) model that is an extension of the Waterfall model.</a:t>
            </a:r>
            <a:endParaRPr b="1"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It’s called the V-Model because the process is shaped like a “V”, where: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The left side of the V represents development (verification) activities.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The right side represents testing (validation) activities.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The bottom point is where coding happens.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9ad7ba8308_0_7"/>
          <p:cNvSpPr txBox="1"/>
          <p:nvPr/>
        </p:nvSpPr>
        <p:spPr>
          <a:xfrm>
            <a:off x="361350" y="119827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V Model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422" name="Google Shape;422;g39ad7ba8308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513" y="834127"/>
            <a:ext cx="5328467" cy="4004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b35fe5190_2_0"/>
          <p:cNvSpPr txBox="1"/>
          <p:nvPr/>
        </p:nvSpPr>
        <p:spPr>
          <a:xfrm>
            <a:off x="361350" y="232734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V Model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428" name="Google Shape;428;g35b35fe5190_2_0"/>
          <p:cNvSpPr txBox="1"/>
          <p:nvPr/>
        </p:nvSpPr>
        <p:spPr>
          <a:xfrm>
            <a:off x="350850" y="789259"/>
            <a:ext cx="8442300" cy="4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4444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Phases of the V-Model: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0" lvl="0" marL="0" marR="63500" rtl="0" algn="l">
              <a:lnSpc>
                <a:spcPct val="133333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The V-model typically includes the following phases, with corresponding testing activities: 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429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rgbClr val="EEF0FF"/>
              </a:buClr>
              <a:buSzPts val="1800"/>
              <a:buChar char="●"/>
            </a:pPr>
            <a:r>
              <a:rPr b="1" lang="en" sz="1800">
                <a:solidFill>
                  <a:srgbClr val="EEF0FF"/>
                </a:solidFill>
                <a:highlight>
                  <a:srgbClr val="101218"/>
                </a:highlight>
              </a:rPr>
              <a:t>Requirements Analysis:</a:t>
            </a: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 Verification of requirements, and validation through acceptance testing.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429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800"/>
              <a:buChar char="●"/>
            </a:pPr>
            <a:r>
              <a:rPr b="1" lang="en" sz="1800">
                <a:solidFill>
                  <a:srgbClr val="EEF0FF"/>
                </a:solidFill>
                <a:highlight>
                  <a:srgbClr val="101218"/>
                </a:highlight>
              </a:rPr>
              <a:t>Design:</a:t>
            </a: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 Verification of system and module design, and validation through integration and unit testing.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429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800"/>
              <a:buChar char="●"/>
            </a:pPr>
            <a:r>
              <a:rPr b="1" lang="en" sz="1800">
                <a:solidFill>
                  <a:srgbClr val="EEF0FF"/>
                </a:solidFill>
                <a:highlight>
                  <a:srgbClr val="101218"/>
                </a:highlight>
              </a:rPr>
              <a:t>Implementation:</a:t>
            </a: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 Verification of code, and validation through unit testing.</a:t>
            </a:r>
            <a:endParaRPr sz="1800">
              <a:solidFill>
                <a:srgbClr val="EEF0FF"/>
              </a:solidFill>
              <a:highlight>
                <a:srgbClr val="101218"/>
              </a:highlight>
            </a:endParaRPr>
          </a:p>
          <a:p>
            <a:pPr indent="-3429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EF0FF"/>
              </a:buClr>
              <a:buSzPts val="1800"/>
              <a:buChar char="●"/>
            </a:pPr>
            <a:r>
              <a:rPr b="1" lang="en" sz="1800">
                <a:solidFill>
                  <a:srgbClr val="EEF0FF"/>
                </a:solidFill>
                <a:highlight>
                  <a:srgbClr val="101218"/>
                </a:highlight>
              </a:rPr>
              <a:t>Testing:</a:t>
            </a:r>
            <a:r>
              <a:rPr lang="en" sz="1800">
                <a:solidFill>
                  <a:srgbClr val="EEF0FF"/>
                </a:solidFill>
                <a:highlight>
                  <a:srgbClr val="101218"/>
                </a:highlight>
              </a:rPr>
              <a:t> Validation of the final product through system, integration, and acceptance testing.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cc03b9964b_4_0"/>
          <p:cNvSpPr txBox="1"/>
          <p:nvPr/>
        </p:nvSpPr>
        <p:spPr>
          <a:xfrm>
            <a:off x="361350" y="232734"/>
            <a:ext cx="8080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Spiral</a:t>
            </a:r>
            <a:r>
              <a:rPr lang="en" sz="4000">
                <a:solidFill>
                  <a:srgbClr val="FFFFFF"/>
                </a:solidFill>
              </a:rPr>
              <a:t> Model</a:t>
            </a:r>
            <a:endParaRPr sz="4000">
              <a:solidFill>
                <a:srgbClr val="FFFFFF"/>
              </a:solidFill>
            </a:endParaRPr>
          </a:p>
        </p:txBody>
      </p:sp>
      <p:pic>
        <p:nvPicPr>
          <p:cNvPr id="434" name="Google Shape;434;g3cc03b9964b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947034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"/>
          <p:cNvSpPr txBox="1"/>
          <p:nvPr>
            <p:ph type="title"/>
          </p:nvPr>
        </p:nvSpPr>
        <p:spPr>
          <a:xfrm>
            <a:off x="632850" y="400625"/>
            <a:ext cx="7878300" cy="1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200">
                <a:latin typeface="Arial"/>
                <a:ea typeface="Arial"/>
                <a:cs typeface="Arial"/>
                <a:sym typeface="Arial"/>
              </a:rPr>
              <a:t>Any Questions?</a:t>
            </a:r>
            <a:endParaRPr/>
          </a:p>
        </p:txBody>
      </p:sp>
      <p:sp>
        <p:nvSpPr>
          <p:cNvPr id="440" name="Google Shape;440;p11"/>
          <p:cNvSpPr txBox="1"/>
          <p:nvPr>
            <p:ph idx="2" type="subTitle"/>
          </p:nvPr>
        </p:nvSpPr>
        <p:spPr>
          <a:xfrm>
            <a:off x="2068350" y="3665300"/>
            <a:ext cx="50073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441" name="Google Shape;4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8263" y="1671975"/>
            <a:ext cx="2879281" cy="17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