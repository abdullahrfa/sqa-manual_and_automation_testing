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Barlow" pitchFamily="2" charset="77"/>
      <p:regular r:id="rId23"/>
      <p:bold r:id="rId24"/>
      <p:italic r:id="rId25"/>
      <p:boldItalic r:id="rId26"/>
    </p:embeddedFont>
    <p:embeddedFont>
      <p:font typeface="Barlow ExtraLight" panose="00000300000000000000" pitchFamily="2" charset="77"/>
      <p:regular r:id="rId27"/>
      <p:bold r:id="rId28"/>
      <p:italic r:id="rId29"/>
      <p:boldItalic r:id="rId30"/>
    </p:embeddedFont>
    <p:embeddedFont>
      <p:font typeface="Barlow Light" panose="00000400000000000000" pitchFamily="2" charset="77"/>
      <p:regular r:id="rId31"/>
      <p:bold r:id="rId32"/>
      <p:italic r:id="rId33"/>
      <p:boldItalic r:id="rId34"/>
    </p:embeddedFont>
    <p:embeddedFont>
      <p:font typeface="Barlow Medium" panose="00000600000000000000" pitchFamily="2" charset="77"/>
      <p:regular r:id="rId35"/>
      <p:bold r:id="rId36"/>
      <p:italic r:id="rId37"/>
      <p:boldItalic r:id="rId38"/>
    </p:embeddedFont>
    <p:embeddedFont>
      <p:font typeface="Consolas" panose="020B0609020204030204" pitchFamily="49" charset="0"/>
      <p:regular r:id="rId39"/>
      <p:bold r:id="rId40"/>
      <p:italic r:id="rId41"/>
      <p:boldItalic r:id="rId42"/>
    </p:embeddedFont>
    <p:embeddedFont>
      <p:font typeface="Hepta Slab" pitchFamily="2" charset="77"/>
      <p:regular r:id="rId43"/>
      <p:bold r:id="rId44"/>
    </p:embeddedFont>
    <p:embeddedFont>
      <p:font typeface="Hepta Slab Light" pitchFamily="2" charset="77"/>
      <p:regular r:id="rId45"/>
      <p:bold r:id="rId46"/>
    </p:embeddedFont>
    <p:embeddedFont>
      <p:font typeface="Hepta Slab Medium" pitchFamily="2" charset="77"/>
      <p:regular r:id="rId47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gdPKk0ZjSUQLQv3JZBM8hyKZL9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94698"/>
  </p:normalViewPr>
  <p:slideViewPr>
    <p:cSldViewPr snapToGrid="0">
      <p:cViewPr varScale="1">
        <p:scale>
          <a:sx n="192" d="100"/>
          <a:sy n="192" d="100"/>
        </p:scale>
        <p:origin x="184" y="2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openxmlformats.org/officeDocument/2006/relationships/font" Target="fonts/font25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font" Target="fonts/font23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font" Target="fonts/font22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schemas.openxmlformats.org/officeDocument/2006/relationships/font" Target="fonts/font26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font" Target="fonts/font24.fntdata"/><Relationship Id="rId20" Type="http://schemas.openxmlformats.org/officeDocument/2006/relationships/slide" Target="slides/slide19.xml"/><Relationship Id="rId41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4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42d93776e7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g342d93776e7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42d93776e7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g342d93776e7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53889c64b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g353889c64b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53889c64b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g353889c64b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5086c4e7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g355086c4e7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53889c64b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g353889c64b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53889c64b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g353889c64b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53889c64b9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g353889c64b9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53889c64b9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g353889c64b9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29e73035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g3a29e730355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29e73035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g3a29e73035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29e73035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4" name="Google Shape;444;g3a29e73035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54f351ce04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g354f351ce04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53889c64b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53889c64b9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53889c64b9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53889c64b9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53889c64b9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53889c64b9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2" name="Google Shape;47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secHead">
  <p:cSld name="SECTION_HEADER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subTitle" idx="2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13"/>
          <p:cNvSpPr txBox="1"/>
          <p:nvPr/>
        </p:nvSpPr>
        <p:spPr>
          <a:xfrm>
            <a:off x="6907975" y="4749850"/>
            <a:ext cx="21975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Mishel Franklin Desilva</a:t>
            </a:r>
            <a:endParaRPr sz="1500" b="0" i="0" u="none" strike="noStrike" cap="non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2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5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26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29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29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91" name="Google Shape;91;p29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30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1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3" name="Google Shape;103;p31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31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31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1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9" name="Google Shape;109;p31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2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2" name="Google Shape;112;p32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32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32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5" name="Google Shape;115;p32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32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3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34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34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4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34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34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34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34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4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34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34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BLANK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5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37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/ Content" type="tx">
  <p:cSld name="TITLE_AND_BODY">
    <p:bg>
      <p:bgPr>
        <a:solidFill>
          <a:schemeClr val="accent4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6"/>
          <p:cNvSpPr txBox="1">
            <a:spLocks noGrp="1"/>
          </p:cNvSpPr>
          <p:nvPr>
            <p:ph type="subTitle" idx="1"/>
          </p:nvPr>
        </p:nvSpPr>
        <p:spPr>
          <a:xfrm>
            <a:off x="475075" y="309225"/>
            <a:ext cx="36552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43" name="Google Shape;143;p36"/>
          <p:cNvSpPr txBox="1">
            <a:spLocks noGrp="1"/>
          </p:cNvSpPr>
          <p:nvPr>
            <p:ph type="body" idx="2"/>
          </p:nvPr>
        </p:nvSpPr>
        <p:spPr>
          <a:xfrm>
            <a:off x="711097" y="980554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subTitle" idx="3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body" idx="4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body" idx="5"/>
          </p:nvPr>
        </p:nvSpPr>
        <p:spPr>
          <a:xfrm>
            <a:off x="711097" y="2222666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ubTitle" idx="6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body" idx="7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49" name="Google Shape;149;p36"/>
          <p:cNvSpPr txBox="1">
            <a:spLocks noGrp="1"/>
          </p:cNvSpPr>
          <p:nvPr>
            <p:ph type="body" idx="8"/>
          </p:nvPr>
        </p:nvSpPr>
        <p:spPr>
          <a:xfrm>
            <a:off x="711097" y="3219093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50" name="Google Shape;150;p36"/>
          <p:cNvSpPr txBox="1">
            <a:spLocks noGrp="1"/>
          </p:cNvSpPr>
          <p:nvPr>
            <p:ph type="subTitle" idx="9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51" name="Google Shape;151;p36"/>
          <p:cNvSpPr txBox="1">
            <a:spLocks noGrp="1"/>
          </p:cNvSpPr>
          <p:nvPr>
            <p:ph type="body" idx="13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52" name="Google Shape;152;p36"/>
          <p:cNvSpPr txBox="1">
            <a:spLocks noGrp="1"/>
          </p:cNvSpPr>
          <p:nvPr>
            <p:ph type="body" idx="14"/>
          </p:nvPr>
        </p:nvSpPr>
        <p:spPr>
          <a:xfrm>
            <a:off x="4746581" y="980554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53" name="Google Shape;153;p36"/>
          <p:cNvSpPr txBox="1">
            <a:spLocks noGrp="1"/>
          </p:cNvSpPr>
          <p:nvPr>
            <p:ph type="subTitle" idx="15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54" name="Google Shape;154;p36"/>
          <p:cNvSpPr txBox="1">
            <a:spLocks noGrp="1"/>
          </p:cNvSpPr>
          <p:nvPr>
            <p:ph type="body" idx="16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55" name="Google Shape;155;p36"/>
          <p:cNvSpPr txBox="1">
            <a:spLocks noGrp="1"/>
          </p:cNvSpPr>
          <p:nvPr>
            <p:ph type="body" idx="17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56" name="Google Shape;156;p36"/>
          <p:cNvSpPr txBox="1">
            <a:spLocks noGrp="1"/>
          </p:cNvSpPr>
          <p:nvPr>
            <p:ph type="subTitle" idx="18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57" name="Google Shape;157;p36"/>
          <p:cNvSpPr txBox="1">
            <a:spLocks noGrp="1"/>
          </p:cNvSpPr>
          <p:nvPr>
            <p:ph type="body" idx="19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58" name="Google Shape;158;p36"/>
          <p:cNvSpPr txBox="1">
            <a:spLocks noGrp="1"/>
          </p:cNvSpPr>
          <p:nvPr>
            <p:ph type="body" idx="20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59" name="Google Shape;159;p36"/>
          <p:cNvSpPr txBox="1">
            <a:spLocks noGrp="1"/>
          </p:cNvSpPr>
          <p:nvPr>
            <p:ph type="subTitle" idx="21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60" name="Google Shape;160;p36"/>
          <p:cNvSpPr txBox="1">
            <a:spLocks noGrp="1"/>
          </p:cNvSpPr>
          <p:nvPr>
            <p:ph type="body" idx="22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61" name="Google Shape;161;p3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7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1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sz="700" b="0" i="1" u="none" strike="noStrike" cap="none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5" name="Google Shape;165;p37"/>
          <p:cNvSpPr>
            <a:spLocks noGrp="1"/>
          </p:cNvSpPr>
          <p:nvPr>
            <p:ph type="pic" idx="2"/>
          </p:nvPr>
        </p:nvSpPr>
        <p:spPr>
          <a:xfrm>
            <a:off x="3915225" y="1631250"/>
            <a:ext cx="4441200" cy="3009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66" name="Google Shape;166;p37"/>
          <p:cNvSpPr txBox="1">
            <a:spLocks noGrp="1"/>
          </p:cNvSpPr>
          <p:nvPr>
            <p:ph type="body" idx="1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67" name="Google Shape;167;p37"/>
          <p:cNvSpPr txBox="1">
            <a:spLocks noGrp="1"/>
          </p:cNvSpPr>
          <p:nvPr>
            <p:ph type="subTitle" idx="3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168" name="Google Shape;168;p3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text">
  <p:cSld name="TITLE_AND_TWO_COLUMNS_1">
    <p:bg>
      <p:bgPr>
        <a:solidFill>
          <a:schemeClr val="dk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8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5173200" cy="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172" name="Google Shape;172;p38"/>
          <p:cNvSpPr txBox="1">
            <a:spLocks noGrp="1"/>
          </p:cNvSpPr>
          <p:nvPr>
            <p:ph type="body" idx="2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38"/>
          <p:cNvSpPr txBox="1">
            <a:spLocks noGrp="1"/>
          </p:cNvSpPr>
          <p:nvPr>
            <p:ph type="body" idx="3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3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/ Company Overview" type="titleOnly">
  <p:cSld name="TITLE_ONLY">
    <p:bg>
      <p:bgPr>
        <a:solidFill>
          <a:schemeClr val="accent4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9"/>
          <p:cNvSpPr>
            <a:spLocks noGrp="1"/>
          </p:cNvSpPr>
          <p:nvPr>
            <p:ph type="pic" idx="2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9"/>
          <p:cNvSpPr>
            <a:spLocks noGrp="1"/>
          </p:cNvSpPr>
          <p:nvPr>
            <p:ph type="pic" idx="3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9"/>
          <p:cNvSpPr>
            <a:spLocks noGrp="1"/>
          </p:cNvSpPr>
          <p:nvPr>
            <p:ph type="pic" idx="4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39"/>
          <p:cNvSpPr>
            <a:spLocks noGrp="1"/>
          </p:cNvSpPr>
          <p:nvPr>
            <p:ph type="pic" idx="5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39"/>
          <p:cNvSpPr txBox="1">
            <a:spLocks noGrp="1"/>
          </p:cNvSpPr>
          <p:nvPr>
            <p:ph type="body" idx="1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81" name="Google Shape;181;p39"/>
          <p:cNvSpPr txBox="1">
            <a:spLocks noGrp="1"/>
          </p:cNvSpPr>
          <p:nvPr>
            <p:ph type="body" idx="6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82" name="Google Shape;182;p39"/>
          <p:cNvSpPr txBox="1">
            <a:spLocks noGrp="1"/>
          </p:cNvSpPr>
          <p:nvPr>
            <p:ph type="body" idx="7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3" name="Google Shape;183;p39"/>
          <p:cNvSpPr txBox="1">
            <a:spLocks noGrp="1"/>
          </p:cNvSpPr>
          <p:nvPr>
            <p:ph type="body" idx="8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4" name="Google Shape;184;p39"/>
          <p:cNvSpPr txBox="1">
            <a:spLocks noGrp="1"/>
          </p:cNvSpPr>
          <p:nvPr>
            <p:ph type="body" idx="9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5" name="Google Shape;185;p39"/>
          <p:cNvSpPr txBox="1">
            <a:spLocks noGrp="1"/>
          </p:cNvSpPr>
          <p:nvPr>
            <p:ph type="body" idx="13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6" name="Google Shape;186;p39"/>
          <p:cNvSpPr txBox="1">
            <a:spLocks noGrp="1"/>
          </p:cNvSpPr>
          <p:nvPr>
            <p:ph type="body" idx="14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7" name="Google Shape;187;p39"/>
          <p:cNvSpPr txBox="1">
            <a:spLocks noGrp="1"/>
          </p:cNvSpPr>
          <p:nvPr>
            <p:ph type="body" idx="15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8" name="Google Shape;188;p39"/>
          <p:cNvSpPr txBox="1">
            <a:spLocks noGrp="1"/>
          </p:cNvSpPr>
          <p:nvPr>
            <p:ph type="body" idx="16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9" name="Google Shape;189;p39"/>
          <p:cNvSpPr txBox="1">
            <a:spLocks noGrp="1"/>
          </p:cNvSpPr>
          <p:nvPr>
            <p:ph type="body" idx="17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90" name="Google Shape;190;p3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etitive Landscape">
  <p:cSld name="ONE_COLUMN_TEXT">
    <p:bg>
      <p:bgPr>
        <a:solidFill>
          <a:schemeClr val="dk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0"/>
          <p:cNvSpPr txBox="1">
            <a:spLocks noGrp="1"/>
          </p:cNvSpPr>
          <p:nvPr>
            <p:ph type="body" idx="1"/>
          </p:nvPr>
        </p:nvSpPr>
        <p:spPr>
          <a:xfrm>
            <a:off x="791150" y="738025"/>
            <a:ext cx="39183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3" name="Google Shape;193;p40"/>
          <p:cNvSpPr txBox="1">
            <a:spLocks noGrp="1"/>
          </p:cNvSpPr>
          <p:nvPr>
            <p:ph type="subTitle" idx="2"/>
          </p:nvPr>
        </p:nvSpPr>
        <p:spPr>
          <a:xfrm>
            <a:off x="791150" y="522625"/>
            <a:ext cx="391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194" name="Google Shape;194;p40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Trends + Data">
  <p:cSld name="MAIN_POINT">
    <p:bg>
      <p:bgPr>
        <a:solidFill>
          <a:schemeClr val="dk1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1"/>
          <p:cNvSpPr txBox="1">
            <a:spLocks noGrp="1"/>
          </p:cNvSpPr>
          <p:nvPr>
            <p:ph type="subTitle" idx="1"/>
          </p:nvPr>
        </p:nvSpPr>
        <p:spPr>
          <a:xfrm>
            <a:off x="690250" y="415625"/>
            <a:ext cx="12618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97" name="Google Shape;197;p41"/>
          <p:cNvSpPr txBox="1">
            <a:spLocks noGrp="1"/>
          </p:cNvSpPr>
          <p:nvPr>
            <p:ph type="subTitle" idx="2"/>
          </p:nvPr>
        </p:nvSpPr>
        <p:spPr>
          <a:xfrm>
            <a:off x="480420" y="290626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>
            <a:endParaRPr/>
          </a:p>
        </p:txBody>
      </p:sp>
      <p:sp>
        <p:nvSpPr>
          <p:cNvPr id="198" name="Google Shape;198;p41"/>
          <p:cNvSpPr txBox="1">
            <a:spLocks noGrp="1"/>
          </p:cNvSpPr>
          <p:nvPr>
            <p:ph type="body" idx="3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9" name="Google Shape;199;p4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WOT Analysis">
  <p:cSld name="CUSTOM_14">
    <p:bg>
      <p:bgPr>
        <a:solidFill>
          <a:schemeClr val="dk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2"/>
          <p:cNvSpPr txBox="1">
            <a:spLocks noGrp="1"/>
          </p:cNvSpPr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02" name="Google Shape;202;p42"/>
          <p:cNvSpPr txBox="1">
            <a:spLocks noGrp="1"/>
          </p:cNvSpPr>
          <p:nvPr>
            <p:ph type="title" idx="2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03" name="Google Shape;203;p42"/>
          <p:cNvSpPr txBox="1">
            <a:spLocks noGrp="1"/>
          </p:cNvSpPr>
          <p:nvPr>
            <p:ph type="title" idx="3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04" name="Google Shape;204;p42"/>
          <p:cNvSpPr txBox="1">
            <a:spLocks noGrp="1"/>
          </p:cNvSpPr>
          <p:nvPr>
            <p:ph type="title" idx="4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05" name="Google Shape;205;p42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06" name="Google Shape;206;p42"/>
          <p:cNvSpPr txBox="1">
            <a:spLocks noGrp="1"/>
          </p:cNvSpPr>
          <p:nvPr>
            <p:ph type="body" idx="5"/>
          </p:nvPr>
        </p:nvSpPr>
        <p:spPr>
          <a:xfrm>
            <a:off x="480425" y="610475"/>
            <a:ext cx="48783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07" name="Google Shape;207;p4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/ Thank You">
  <p:cSld name="CUSTOM_13">
    <p:bg>
      <p:bgPr>
        <a:solidFill>
          <a:schemeClr val="lt1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3"/>
          <p:cNvSpPr txBox="1">
            <a:spLocks noGrp="1"/>
          </p:cNvSpPr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10" name="Google Shape;210;p43"/>
          <p:cNvSpPr txBox="1">
            <a:spLocks noGrp="1"/>
          </p:cNvSpPr>
          <p:nvPr>
            <p:ph type="body" idx="1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11" name="Google Shape;211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TITLE_AND_DESCRIPTION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4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14" name="Google Shape;214;p44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15" name="Google Shape;215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Size / Pie Graph">
  <p:cSld name="CAPTION_ONLY">
    <p:bg>
      <p:bgPr>
        <a:solidFill>
          <a:schemeClr val="dk1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5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5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19" name="Google Shape;219;p45"/>
          <p:cNvSpPr txBox="1">
            <a:spLocks noGrp="1"/>
          </p:cNvSpPr>
          <p:nvPr>
            <p:ph type="body" idx="2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220" name="Google Shape;220;p45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45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5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name="adj1" fmla="val 8241844"/>
              <a:gd name="adj2" fmla="val 1255493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fferentiators / 4 column text">
  <p:cSld name="BIG_NUMBER">
    <p:bg>
      <p:bgPr>
        <a:solidFill>
          <a:schemeClr val="dk1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6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endParaRPr sz="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6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endParaRPr sz="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6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endParaRPr sz="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6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endParaRPr sz="200" b="0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6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29" name="Google Shape;229;p46"/>
          <p:cNvSpPr txBox="1">
            <a:spLocks noGrp="1"/>
          </p:cNvSpPr>
          <p:nvPr>
            <p:ph type="body" idx="2"/>
          </p:nvPr>
        </p:nvSpPr>
        <p:spPr>
          <a:xfrm>
            <a:off x="480425" y="610475"/>
            <a:ext cx="4878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0" name="Google Shape;230;p4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blank">
  <p:cSld name="BLANK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7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33" name="Google Shape;233;p47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34" name="Google Shape;234;p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text">
  <p:cSld name="TITLE_1">
    <p:bg>
      <p:bgPr>
        <a:solidFill>
          <a:schemeClr val="dk1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8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38" name="Google Shape;238;p48"/>
          <p:cNvSpPr txBox="1">
            <a:spLocks noGrp="1"/>
          </p:cNvSpPr>
          <p:nvPr>
            <p:ph type="body" idx="2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marL="914400" lvl="1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marL="1371600" lvl="2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marL="1828800" lvl="3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marL="2286000" lvl="4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marL="2743200" lvl="5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marL="3200400" lvl="6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marL="3657600" lvl="7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marL="4114800" lvl="8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4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Background Image + Text">
  <p:cSld name="CUSTOM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49"/>
          <p:cNvSpPr txBox="1">
            <a:spLocks noGrp="1"/>
          </p:cNvSpPr>
          <p:nvPr>
            <p:ph type="body" idx="1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74300" tIns="0" rIns="274300" bIns="27430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43" name="Google Shape;243;p49"/>
          <p:cNvSpPr txBox="1">
            <a:spLocks noGrp="1"/>
          </p:cNvSpPr>
          <p:nvPr>
            <p:ph type="subTitle" idx="3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74300" tIns="274300" rIns="27430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44" name="Google Shape;244;p49"/>
          <p:cNvSpPr txBox="1">
            <a:spLocks noGrp="1"/>
          </p:cNvSpPr>
          <p:nvPr>
            <p:ph type="body" idx="4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37150" tIns="137150" rIns="137150" bIns="13715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45" name="Google Shape;245;p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+ Image">
  <p:cSld name="CUSTOM_1">
    <p:bg>
      <p:bgPr>
        <a:solidFill>
          <a:schemeClr val="lt2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0"/>
          <p:cNvSpPr>
            <a:spLocks noGrp="1"/>
          </p:cNvSpPr>
          <p:nvPr>
            <p:ph type="pic" idx="2"/>
          </p:nvPr>
        </p:nvSpPr>
        <p:spPr>
          <a:xfrm>
            <a:off x="5485725" y="523025"/>
            <a:ext cx="3135300" cy="409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48" name="Google Shape;248;p50"/>
          <p:cNvSpPr txBox="1">
            <a:spLocks noGrp="1"/>
          </p:cNvSpPr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49" name="Google Shape;249;p50"/>
          <p:cNvSpPr txBox="1">
            <a:spLocks noGrp="1"/>
          </p:cNvSpPr>
          <p:nvPr>
            <p:ph type="body" idx="1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0" name="Google Shape;250;p50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als + 5 Images">
  <p:cSld name="CUSTOM_2">
    <p:bg>
      <p:bgPr>
        <a:solidFill>
          <a:schemeClr val="dk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1"/>
          <p:cNvSpPr txBox="1">
            <a:spLocks noGrp="1"/>
          </p:cNvSpPr>
          <p:nvPr>
            <p:ph type="body" idx="1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3" name="Google Shape;253;p51"/>
          <p:cNvSpPr txBox="1">
            <a:spLocks noGrp="1"/>
          </p:cNvSpPr>
          <p:nvPr>
            <p:ph type="body" idx="2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4" name="Google Shape;254;p51"/>
          <p:cNvSpPr txBox="1">
            <a:spLocks noGrp="1"/>
          </p:cNvSpPr>
          <p:nvPr>
            <p:ph type="body" idx="3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5" name="Google Shape;255;p51"/>
          <p:cNvSpPr txBox="1">
            <a:spLocks noGrp="1"/>
          </p:cNvSpPr>
          <p:nvPr>
            <p:ph type="body" idx="4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6" name="Google Shape;256;p51"/>
          <p:cNvSpPr txBox="1">
            <a:spLocks noGrp="1"/>
          </p:cNvSpPr>
          <p:nvPr>
            <p:ph type="body" idx="5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7" name="Google Shape;257;p51"/>
          <p:cNvSpPr txBox="1">
            <a:spLocks noGrp="1"/>
          </p:cNvSpPr>
          <p:nvPr>
            <p:ph type="body" idx="6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cxnSp>
        <p:nvCxnSpPr>
          <p:cNvPr id="258" name="Google Shape;258;p51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9" name="Google Shape;259;p51"/>
          <p:cNvSpPr>
            <a:spLocks noGrp="1"/>
          </p:cNvSpPr>
          <p:nvPr>
            <p:ph type="pic" idx="7"/>
          </p:nvPr>
        </p:nvSpPr>
        <p:spPr>
          <a:xfrm>
            <a:off x="7049625" y="5230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0" name="Google Shape;260;p51"/>
          <p:cNvSpPr>
            <a:spLocks noGrp="1"/>
          </p:cNvSpPr>
          <p:nvPr>
            <p:ph type="pic" idx="8"/>
          </p:nvPr>
        </p:nvSpPr>
        <p:spPr>
          <a:xfrm>
            <a:off x="784775" y="5221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1" name="Google Shape;261;p51"/>
          <p:cNvSpPr>
            <a:spLocks noGrp="1"/>
          </p:cNvSpPr>
          <p:nvPr>
            <p:ph type="pic" idx="9"/>
          </p:nvPr>
        </p:nvSpPr>
        <p:spPr>
          <a:xfrm>
            <a:off x="2343950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2" name="Google Shape;262;p51"/>
          <p:cNvSpPr>
            <a:spLocks noGrp="1"/>
          </p:cNvSpPr>
          <p:nvPr>
            <p:ph type="pic" idx="13"/>
          </p:nvPr>
        </p:nvSpPr>
        <p:spPr>
          <a:xfrm>
            <a:off x="3915213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3" name="Google Shape;263;p51"/>
          <p:cNvSpPr>
            <a:spLocks noGrp="1"/>
          </p:cNvSpPr>
          <p:nvPr>
            <p:ph type="pic" idx="14"/>
          </p:nvPr>
        </p:nvSpPr>
        <p:spPr>
          <a:xfrm>
            <a:off x="5490975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4" name="Google Shape;264;p51"/>
          <p:cNvSpPr txBox="1">
            <a:spLocks noGrp="1"/>
          </p:cNvSpPr>
          <p:nvPr>
            <p:ph type="body" idx="15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65" name="Google Shape;265;p51"/>
          <p:cNvSpPr txBox="1">
            <a:spLocks noGrp="1"/>
          </p:cNvSpPr>
          <p:nvPr>
            <p:ph type="subTitle" idx="16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66" name="Google Shape;266;p51"/>
          <p:cNvSpPr txBox="1">
            <a:spLocks noGrp="1"/>
          </p:cNvSpPr>
          <p:nvPr>
            <p:ph type="body" idx="17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67" name="Google Shape;267;p51"/>
          <p:cNvSpPr txBox="1">
            <a:spLocks noGrp="1"/>
          </p:cNvSpPr>
          <p:nvPr>
            <p:ph type="body" idx="18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68" name="Google Shape;268;p51"/>
          <p:cNvSpPr txBox="1">
            <a:spLocks noGrp="1"/>
          </p:cNvSpPr>
          <p:nvPr>
            <p:ph type="body" idx="19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69" name="Google Shape;269;p51"/>
          <p:cNvSpPr txBox="1">
            <a:spLocks noGrp="1"/>
          </p:cNvSpPr>
          <p:nvPr>
            <p:ph type="body" idx="20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70" name="Google Shape;270;p5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egy Canvas / Line Graph">
  <p:cSld name="CUSTOM_3">
    <p:bg>
      <p:bgPr>
        <a:solidFill>
          <a:schemeClr val="dk1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2"/>
          <p:cNvSpPr txBox="1">
            <a:spLocks noGrp="1"/>
          </p:cNvSpPr>
          <p:nvPr>
            <p:ph type="body" idx="1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73" name="Google Shape;273;p52"/>
          <p:cNvSpPr txBox="1">
            <a:spLocks noGrp="1"/>
          </p:cNvSpPr>
          <p:nvPr>
            <p:ph type="subTitle" idx="2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74" name="Google Shape;274;p5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4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3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77" name="Google Shape;277;p53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78" name="Google Shape;278;p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PIs / Objectives">
  <p:cSld name="CUSTOM_5">
    <p:bg>
      <p:bgPr>
        <a:solidFill>
          <a:schemeClr val="dk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4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4"/>
          <p:cNvSpPr txBox="1">
            <a:spLocks noGrp="1"/>
          </p:cNvSpPr>
          <p:nvPr>
            <p:ph type="body" idx="1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82" name="Google Shape;282;p54"/>
          <p:cNvSpPr txBox="1">
            <a:spLocks noGrp="1"/>
          </p:cNvSpPr>
          <p:nvPr>
            <p:ph type="body" idx="2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83" name="Google Shape;283;p54"/>
          <p:cNvSpPr txBox="1">
            <a:spLocks noGrp="1"/>
          </p:cNvSpPr>
          <p:nvPr>
            <p:ph type="body" idx="3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84" name="Google Shape;284;p54"/>
          <p:cNvSpPr txBox="1">
            <a:spLocks noGrp="1"/>
          </p:cNvSpPr>
          <p:nvPr>
            <p:ph type="body" idx="4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85" name="Google Shape;285;p54"/>
          <p:cNvSpPr>
            <a:spLocks noGrp="1"/>
          </p:cNvSpPr>
          <p:nvPr>
            <p:ph type="pic" idx="5"/>
          </p:nvPr>
        </p:nvSpPr>
        <p:spPr>
          <a:xfrm>
            <a:off x="7049625" y="15881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6" name="Google Shape;286;p54"/>
          <p:cNvSpPr>
            <a:spLocks noGrp="1"/>
          </p:cNvSpPr>
          <p:nvPr>
            <p:ph type="pic" idx="6"/>
          </p:nvPr>
        </p:nvSpPr>
        <p:spPr>
          <a:xfrm>
            <a:off x="3915213" y="15886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7" name="Google Shape;287;p54"/>
          <p:cNvSpPr>
            <a:spLocks noGrp="1"/>
          </p:cNvSpPr>
          <p:nvPr>
            <p:ph type="pic" idx="7"/>
          </p:nvPr>
        </p:nvSpPr>
        <p:spPr>
          <a:xfrm>
            <a:off x="5490975" y="15886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8" name="Google Shape;288;p54"/>
          <p:cNvSpPr txBox="1">
            <a:spLocks noGrp="1"/>
          </p:cNvSpPr>
          <p:nvPr>
            <p:ph type="subTitle" idx="8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89" name="Google Shape;289;p54"/>
          <p:cNvSpPr txBox="1">
            <a:spLocks noGrp="1"/>
          </p:cNvSpPr>
          <p:nvPr>
            <p:ph type="subTitle" idx="9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90" name="Google Shape;290;p54"/>
          <p:cNvSpPr txBox="1">
            <a:spLocks noGrp="1"/>
          </p:cNvSpPr>
          <p:nvPr>
            <p:ph type="subTitle" idx="13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91" name="Google Shape;291;p54"/>
          <p:cNvSpPr txBox="1">
            <a:spLocks noGrp="1"/>
          </p:cNvSpPr>
          <p:nvPr>
            <p:ph type="body" idx="14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marL="914400" lvl="1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marL="1371600" lvl="2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marL="1828800" lvl="3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marL="2286000" lvl="4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marL="2743200" lvl="5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marL="3200400" lvl="6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marL="3657600" lvl="7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marL="4114800" lvl="8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92" name="Google Shape;292;p54"/>
          <p:cNvSpPr txBox="1">
            <a:spLocks noGrp="1"/>
          </p:cNvSpPr>
          <p:nvPr>
            <p:ph type="body" idx="15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3" name="Google Shape;293;p54"/>
          <p:cNvSpPr txBox="1">
            <a:spLocks noGrp="1"/>
          </p:cNvSpPr>
          <p:nvPr>
            <p:ph type="body" idx="16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4" name="Google Shape;294;p54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ction Plan + 5 Images">
  <p:cSld name="CUSTOM_6">
    <p:bg>
      <p:bgPr>
        <a:solidFill>
          <a:schemeClr val="accent6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5"/>
          <p:cNvSpPr txBox="1">
            <a:spLocks noGrp="1"/>
          </p:cNvSpPr>
          <p:nvPr>
            <p:ph type="body" idx="1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7" name="Google Shape;297;p55"/>
          <p:cNvSpPr txBox="1">
            <a:spLocks noGrp="1"/>
          </p:cNvSpPr>
          <p:nvPr>
            <p:ph type="body" idx="2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cxnSp>
        <p:nvCxnSpPr>
          <p:cNvPr id="298" name="Google Shape;298;p55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9" name="Google Shape;299;p55"/>
          <p:cNvSpPr>
            <a:spLocks noGrp="1"/>
          </p:cNvSpPr>
          <p:nvPr>
            <p:ph type="pic" idx="3"/>
          </p:nvPr>
        </p:nvSpPr>
        <p:spPr>
          <a:xfrm>
            <a:off x="7049625" y="5230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0" name="Google Shape;300;p55"/>
          <p:cNvSpPr>
            <a:spLocks noGrp="1"/>
          </p:cNvSpPr>
          <p:nvPr>
            <p:ph type="pic" idx="4"/>
          </p:nvPr>
        </p:nvSpPr>
        <p:spPr>
          <a:xfrm>
            <a:off x="784775" y="5221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1" name="Google Shape;301;p55"/>
          <p:cNvSpPr>
            <a:spLocks noGrp="1"/>
          </p:cNvSpPr>
          <p:nvPr>
            <p:ph type="pic" idx="5"/>
          </p:nvPr>
        </p:nvSpPr>
        <p:spPr>
          <a:xfrm>
            <a:off x="2343950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2" name="Google Shape;302;p55"/>
          <p:cNvSpPr>
            <a:spLocks noGrp="1"/>
          </p:cNvSpPr>
          <p:nvPr>
            <p:ph type="pic" idx="6"/>
          </p:nvPr>
        </p:nvSpPr>
        <p:spPr>
          <a:xfrm>
            <a:off x="3915213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3" name="Google Shape;303;p55"/>
          <p:cNvSpPr>
            <a:spLocks noGrp="1"/>
          </p:cNvSpPr>
          <p:nvPr>
            <p:ph type="pic" idx="7"/>
          </p:nvPr>
        </p:nvSpPr>
        <p:spPr>
          <a:xfrm>
            <a:off x="5490975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4" name="Google Shape;304;p55"/>
          <p:cNvSpPr txBox="1">
            <a:spLocks noGrp="1"/>
          </p:cNvSpPr>
          <p:nvPr>
            <p:ph type="body" idx="8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05" name="Google Shape;305;p55"/>
          <p:cNvSpPr txBox="1">
            <a:spLocks noGrp="1"/>
          </p:cNvSpPr>
          <p:nvPr>
            <p:ph type="subTitle" idx="9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06" name="Google Shape;306;p55"/>
          <p:cNvSpPr txBox="1">
            <a:spLocks noGrp="1"/>
          </p:cNvSpPr>
          <p:nvPr>
            <p:ph type="body" idx="13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7" name="Google Shape;307;p55"/>
          <p:cNvSpPr txBox="1">
            <a:spLocks noGrp="1"/>
          </p:cNvSpPr>
          <p:nvPr>
            <p:ph type="body" idx="14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8" name="Google Shape;308;p55"/>
          <p:cNvSpPr txBox="1">
            <a:spLocks noGrp="1"/>
          </p:cNvSpPr>
          <p:nvPr>
            <p:ph type="body" idx="15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9" name="Google Shape;309;p55"/>
          <p:cNvSpPr txBox="1">
            <a:spLocks noGrp="1"/>
          </p:cNvSpPr>
          <p:nvPr>
            <p:ph type="body" idx="16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0" name="Google Shape;310;p55"/>
          <p:cNvSpPr txBox="1">
            <a:spLocks noGrp="1"/>
          </p:cNvSpPr>
          <p:nvPr>
            <p:ph type="body" idx="17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1" name="Google Shape;311;p55"/>
          <p:cNvSpPr txBox="1">
            <a:spLocks noGrp="1"/>
          </p:cNvSpPr>
          <p:nvPr>
            <p:ph type="body" idx="18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2" name="Google Shape;312;p55"/>
          <p:cNvSpPr txBox="1">
            <a:spLocks noGrp="1"/>
          </p:cNvSpPr>
          <p:nvPr>
            <p:ph type="body" idx="19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3" name="Google Shape;313;p55"/>
          <p:cNvSpPr txBox="1">
            <a:spLocks noGrp="1"/>
          </p:cNvSpPr>
          <p:nvPr>
            <p:ph type="body" idx="20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4" name="Google Shape;314;p55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Graphic">
  <p:cSld name="CUSTOM_9">
    <p:bg>
      <p:bgPr>
        <a:solidFill>
          <a:schemeClr val="dk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6"/>
          <p:cNvSpPr txBox="1">
            <a:spLocks noGrp="1"/>
          </p:cNvSpPr>
          <p:nvPr>
            <p:ph type="body" idx="1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17" name="Google Shape;317;p56"/>
          <p:cNvSpPr txBox="1">
            <a:spLocks noGrp="1"/>
          </p:cNvSpPr>
          <p:nvPr>
            <p:ph type="body" idx="2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marL="914400" lvl="1" indent="-406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marL="1371600" lvl="2" indent="-406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marL="1828800" lvl="3" indent="-406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marL="2286000" lvl="4" indent="-406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marL="2743200" lvl="5" indent="-406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marL="3200400" lvl="6" indent="-406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marL="3657600" lvl="7" indent="-406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marL="4114800" lvl="8" indent="-406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18" name="Google Shape;318;p5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enue / Graphic">
  <p:cSld name="CUSTOM_12">
    <p:bg>
      <p:bgPr>
        <a:solidFill>
          <a:schemeClr val="dk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7"/>
          <p:cNvSpPr txBox="1">
            <a:spLocks noGrp="1"/>
          </p:cNvSpPr>
          <p:nvPr>
            <p:ph type="body" idx="1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1" name="Google Shape;321;p57"/>
          <p:cNvSpPr txBox="1">
            <a:spLocks noGrp="1"/>
          </p:cNvSpPr>
          <p:nvPr>
            <p:ph type="subTitle" idx="2"/>
          </p:nvPr>
        </p:nvSpPr>
        <p:spPr>
          <a:xfrm>
            <a:off x="466802" y="445100"/>
            <a:ext cx="24036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22" name="Google Shape;322;p5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31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5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42d93776e7_0_6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25" name="Google Shape;325;g342d93776e7_0_6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26" name="Google Shape;326;g342d93776e7_0_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6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42d93776e7_0_15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29" name="Google Shape;329;g342d93776e7_0_15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30" name="Google Shape;330;g342d93776e7_0_1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 b="0" i="0" u="none" strike="noStrike" cap="none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sz="1400" b="0" i="0" u="none" strike="noStrike" cap="non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sz="1400" b="0" i="0" u="none" strike="noStrike" cap="non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sz="1400" b="0" i="0" u="none" strike="noStrike" cap="non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sz="1400" b="0" i="0" u="none" strike="noStrike" cap="non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sz="1400" b="0" i="0" u="none" strike="noStrike" cap="non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sz="1400" b="0" i="0" u="none" strike="noStrike" cap="non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sz="1400" b="0" i="0" u="none" strike="noStrike" cap="non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sz="1400" b="0" i="0" u="none" strike="noStrike" cap="non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 sz="1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hridoy@yopmail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google.com/spreadsheets/d/1XBEr65HBVO3So4WDGxu_0wNKOzgc8a3y/edit?usp=sharing&amp;ouid=113334828681585070571&amp;rtpof=true&amp;sd=true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"/>
          <p:cNvSpPr txBox="1">
            <a:spLocks noGrp="1"/>
          </p:cNvSpPr>
          <p:nvPr>
            <p:ph type="title"/>
          </p:nvPr>
        </p:nvSpPr>
        <p:spPr>
          <a:xfrm>
            <a:off x="708625" y="1636950"/>
            <a:ext cx="78783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5200">
                <a:latin typeface="Arial"/>
                <a:ea typeface="Arial"/>
                <a:cs typeface="Arial"/>
                <a:sym typeface="Arial"/>
              </a:rPr>
              <a:t>Types of Testing</a:t>
            </a:r>
            <a:endParaRPr sz="5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"/>
          <p:cNvSpPr txBox="1">
            <a:spLocks noGrp="1"/>
          </p:cNvSpPr>
          <p:nvPr>
            <p:ph type="subTitle" idx="2"/>
          </p:nvPr>
        </p:nvSpPr>
        <p:spPr>
          <a:xfrm>
            <a:off x="2689200" y="2571750"/>
            <a:ext cx="37656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SQA: Manual &amp; Automated Testing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"/>
          <p:cNvSpPr txBox="1"/>
          <p:nvPr/>
        </p:nvSpPr>
        <p:spPr>
          <a:xfrm>
            <a:off x="760450" y="230875"/>
            <a:ext cx="34341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55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Functional Testing</a:t>
            </a:r>
            <a:endParaRPr sz="5200">
              <a:solidFill>
                <a:srgbClr val="FFFFFF"/>
              </a:solidFill>
            </a:endParaRPr>
          </a:p>
        </p:txBody>
      </p:sp>
      <p:sp>
        <p:nvSpPr>
          <p:cNvPr id="342" name="Google Shape;342;p2"/>
          <p:cNvSpPr txBox="1"/>
          <p:nvPr/>
        </p:nvSpPr>
        <p:spPr>
          <a:xfrm>
            <a:off x="155950" y="1001125"/>
            <a:ext cx="40386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Checks specific functionality, features, and behaviors of the software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Unit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Integration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System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User Acceptance Testing (UAT)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343" name="Google Shape;343;p2"/>
          <p:cNvSpPr txBox="1"/>
          <p:nvPr/>
        </p:nvSpPr>
        <p:spPr>
          <a:xfrm>
            <a:off x="4512450" y="230875"/>
            <a:ext cx="35916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47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Non Functional Testing</a:t>
            </a:r>
            <a:endParaRPr sz="5200">
              <a:solidFill>
                <a:srgbClr val="FFFFFF"/>
              </a:solidFill>
            </a:endParaRPr>
          </a:p>
        </p:txBody>
      </p:sp>
      <p:cxnSp>
        <p:nvCxnSpPr>
          <p:cNvPr id="344" name="Google Shape;344;p2"/>
          <p:cNvCxnSpPr/>
          <p:nvPr/>
        </p:nvCxnSpPr>
        <p:spPr>
          <a:xfrm>
            <a:off x="4294975" y="1136025"/>
            <a:ext cx="0" cy="3185100"/>
          </a:xfrm>
          <a:prstGeom prst="straightConnector1">
            <a:avLst/>
          </a:prstGeom>
          <a:noFill/>
          <a:ln w="76200" cap="flat" cmpd="sng">
            <a:solidFill>
              <a:srgbClr val="ADADA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5" name="Google Shape;345;p2"/>
          <p:cNvSpPr txBox="1"/>
          <p:nvPr/>
        </p:nvSpPr>
        <p:spPr>
          <a:xfrm>
            <a:off x="4440477" y="1001125"/>
            <a:ext cx="45072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Evaluates system qualities and performance under various conditions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Performance Testing / Load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Security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Stress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Usability Testing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346" name="Google Shape;346;p2"/>
          <p:cNvSpPr/>
          <p:nvPr/>
        </p:nvSpPr>
        <p:spPr>
          <a:xfrm>
            <a:off x="651225" y="3844450"/>
            <a:ext cx="3281100" cy="633600"/>
          </a:xfrm>
          <a:prstGeom prst="roundRect">
            <a:avLst>
              <a:gd name="adj" fmla="val 16667"/>
            </a:avLst>
          </a:prstGeom>
          <a:solidFill>
            <a:srgbClr val="ADADAD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Checks “What” the system does</a:t>
            </a:r>
            <a:endParaRPr b="1"/>
          </a:p>
        </p:txBody>
      </p:sp>
      <p:sp>
        <p:nvSpPr>
          <p:cNvPr id="347" name="Google Shape;347;p2"/>
          <p:cNvSpPr/>
          <p:nvPr/>
        </p:nvSpPr>
        <p:spPr>
          <a:xfrm>
            <a:off x="4986750" y="3844450"/>
            <a:ext cx="3434100" cy="633600"/>
          </a:xfrm>
          <a:prstGeom prst="roundRect">
            <a:avLst>
              <a:gd name="adj" fmla="val 16667"/>
            </a:avLst>
          </a:prstGeom>
          <a:solidFill>
            <a:srgbClr val="ADADAD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Checks “How” the system performs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42d93776e7_0_195"/>
          <p:cNvSpPr txBox="1"/>
          <p:nvPr/>
        </p:nvSpPr>
        <p:spPr>
          <a:xfrm>
            <a:off x="531850" y="230875"/>
            <a:ext cx="34341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Black Box</a:t>
            </a:r>
            <a:endParaRPr sz="5200">
              <a:solidFill>
                <a:srgbClr val="FFFFFF"/>
              </a:solidFill>
            </a:endParaRPr>
          </a:p>
        </p:txBody>
      </p:sp>
      <p:sp>
        <p:nvSpPr>
          <p:cNvPr id="353" name="Google Shape;353;g342d93776e7_0_195"/>
          <p:cNvSpPr txBox="1"/>
          <p:nvPr/>
        </p:nvSpPr>
        <p:spPr>
          <a:xfrm>
            <a:off x="384550" y="924925"/>
            <a:ext cx="4095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Valid login from UI and API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Login by Manual and Automation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354" name="Google Shape;354;g342d93776e7_0_195"/>
          <p:cNvSpPr txBox="1"/>
          <p:nvPr/>
        </p:nvSpPr>
        <p:spPr>
          <a:xfrm>
            <a:off x="4289250" y="230875"/>
            <a:ext cx="35916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White Box</a:t>
            </a:r>
            <a:endParaRPr sz="5200">
              <a:solidFill>
                <a:srgbClr val="FFFFFF"/>
              </a:solidFill>
            </a:endParaRPr>
          </a:p>
        </p:txBody>
      </p:sp>
      <p:cxnSp>
        <p:nvCxnSpPr>
          <p:cNvPr id="355" name="Google Shape;355;g342d93776e7_0_195"/>
          <p:cNvCxnSpPr/>
          <p:nvPr/>
        </p:nvCxnSpPr>
        <p:spPr>
          <a:xfrm>
            <a:off x="4371175" y="1136025"/>
            <a:ext cx="0" cy="3185100"/>
          </a:xfrm>
          <a:prstGeom prst="straightConnector1">
            <a:avLst/>
          </a:prstGeom>
          <a:noFill/>
          <a:ln w="76200" cap="flat" cmpd="sng">
            <a:solidFill>
              <a:srgbClr val="ADADA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6" name="Google Shape;356;g342d93776e7_0_195"/>
          <p:cNvSpPr txBox="1"/>
          <p:nvPr/>
        </p:nvSpPr>
        <p:spPr>
          <a:xfrm>
            <a:off x="4512450" y="924925"/>
            <a:ext cx="4095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Valid login with actual method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357" name="Google Shape;357;g342d93776e7_0_195"/>
          <p:cNvSpPr txBox="1"/>
          <p:nvPr/>
        </p:nvSpPr>
        <p:spPr>
          <a:xfrm>
            <a:off x="4695250" y="3588325"/>
            <a:ext cx="4191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DADAD"/>
                </a:solidFill>
                <a:latin typeface="Consolas"/>
                <a:ea typeface="Consolas"/>
                <a:cs typeface="Consolas"/>
                <a:sym typeface="Consolas"/>
              </a:rPr>
              <a:t>login(test@yopmail</a:t>
            </a: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200">
                <a:solidFill>
                  <a:srgbClr val="ADADAD"/>
                </a:solidFill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</a:t>
            </a:r>
            <a:r>
              <a:rPr lang="en" sz="1200">
                <a:solidFill>
                  <a:srgbClr val="ADADAD"/>
                </a:solidFill>
                <a:latin typeface="Consolas"/>
                <a:ea typeface="Consolas"/>
                <a:cs typeface="Consolas"/>
                <a:sym typeface="Consolas"/>
              </a:rPr>
              <a:t>, pass123456);</a:t>
            </a:r>
            <a:endParaRPr sz="1200">
              <a:solidFill>
                <a:srgbClr val="ADADA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ADADA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DADAD"/>
                </a:solidFill>
                <a:latin typeface="Consolas"/>
                <a:ea typeface="Consolas"/>
                <a:cs typeface="Consolas"/>
                <a:sym typeface="Consolas"/>
              </a:rPr>
              <a:t>login(testyopmail.com, 112233);</a:t>
            </a:r>
            <a:endParaRPr sz="1200">
              <a:solidFill>
                <a:srgbClr val="ADADA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8" name="Google Shape;358;g342d93776e7_0_195"/>
          <p:cNvSpPr/>
          <p:nvPr/>
        </p:nvSpPr>
        <p:spPr>
          <a:xfrm>
            <a:off x="1007100" y="1953425"/>
            <a:ext cx="2084100" cy="285900"/>
          </a:xfrm>
          <a:prstGeom prst="roundRect">
            <a:avLst>
              <a:gd name="adj" fmla="val 16667"/>
            </a:avLst>
          </a:prstGeom>
          <a:solidFill>
            <a:srgbClr val="ADADAD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g342d93776e7_0_195"/>
          <p:cNvSpPr/>
          <p:nvPr/>
        </p:nvSpPr>
        <p:spPr>
          <a:xfrm>
            <a:off x="713450" y="1785175"/>
            <a:ext cx="2681700" cy="14127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342d93776e7_0_195"/>
          <p:cNvSpPr txBox="1"/>
          <p:nvPr/>
        </p:nvSpPr>
        <p:spPr>
          <a:xfrm>
            <a:off x="1007100" y="1915475"/>
            <a:ext cx="106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</a:rPr>
              <a:t>Email</a:t>
            </a:r>
            <a:endParaRPr sz="1200">
              <a:solidFill>
                <a:srgbClr val="212121"/>
              </a:solidFill>
            </a:endParaRPr>
          </a:p>
        </p:txBody>
      </p:sp>
      <p:sp>
        <p:nvSpPr>
          <p:cNvPr id="361" name="Google Shape;361;g342d93776e7_0_195"/>
          <p:cNvSpPr/>
          <p:nvPr/>
        </p:nvSpPr>
        <p:spPr>
          <a:xfrm>
            <a:off x="1007100" y="2719000"/>
            <a:ext cx="2084100" cy="324300"/>
          </a:xfrm>
          <a:prstGeom prst="roundRect">
            <a:avLst>
              <a:gd name="adj" fmla="val 16667"/>
            </a:avLst>
          </a:prstGeom>
          <a:solidFill>
            <a:srgbClr val="009688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342d93776e7_0_195"/>
          <p:cNvSpPr/>
          <p:nvPr/>
        </p:nvSpPr>
        <p:spPr>
          <a:xfrm>
            <a:off x="1007100" y="2311825"/>
            <a:ext cx="2084100" cy="285900"/>
          </a:xfrm>
          <a:prstGeom prst="roundRect">
            <a:avLst>
              <a:gd name="adj" fmla="val 16667"/>
            </a:avLst>
          </a:prstGeom>
          <a:solidFill>
            <a:srgbClr val="ADADAD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g342d93776e7_0_195"/>
          <p:cNvSpPr txBox="1"/>
          <p:nvPr/>
        </p:nvSpPr>
        <p:spPr>
          <a:xfrm>
            <a:off x="1007100" y="2270125"/>
            <a:ext cx="106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121"/>
                </a:solidFill>
              </a:rPr>
              <a:t>Password</a:t>
            </a:r>
            <a:endParaRPr sz="1200">
              <a:solidFill>
                <a:srgbClr val="212121"/>
              </a:solidFill>
            </a:endParaRPr>
          </a:p>
        </p:txBody>
      </p:sp>
      <p:sp>
        <p:nvSpPr>
          <p:cNvPr id="364" name="Google Shape;364;g342d93776e7_0_195"/>
          <p:cNvSpPr txBox="1"/>
          <p:nvPr/>
        </p:nvSpPr>
        <p:spPr>
          <a:xfrm>
            <a:off x="1514250" y="2696500"/>
            <a:ext cx="106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12121"/>
                </a:solidFill>
              </a:rPr>
              <a:t>Login</a:t>
            </a:r>
            <a:endParaRPr sz="1200" b="1">
              <a:solidFill>
                <a:srgbClr val="212121"/>
              </a:solidFill>
            </a:endParaRPr>
          </a:p>
        </p:txBody>
      </p:sp>
      <p:sp>
        <p:nvSpPr>
          <p:cNvPr id="365" name="Google Shape;365;g342d93776e7_0_195"/>
          <p:cNvSpPr txBox="1"/>
          <p:nvPr/>
        </p:nvSpPr>
        <p:spPr>
          <a:xfrm>
            <a:off x="661300" y="3252325"/>
            <a:ext cx="3304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DADAD"/>
                </a:solidFill>
                <a:latin typeface="Consolas"/>
                <a:ea typeface="Consolas"/>
                <a:cs typeface="Consolas"/>
                <a:sym typeface="Consolas"/>
              </a:rPr>
              <a:t>POST request: {baseUrl}/login</a:t>
            </a:r>
            <a:endParaRPr sz="1200">
              <a:solidFill>
                <a:srgbClr val="ADADA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6" name="Google Shape;366;g342d93776e7_0_195"/>
          <p:cNvSpPr/>
          <p:nvPr/>
        </p:nvSpPr>
        <p:spPr>
          <a:xfrm>
            <a:off x="4623077" y="1446441"/>
            <a:ext cx="4421531" cy="2111268"/>
          </a:xfrm>
          <a:prstGeom prst="roundRect">
            <a:avLst>
              <a:gd name="adj" fmla="val 16667"/>
            </a:avLst>
          </a:prstGeom>
          <a:solidFill>
            <a:srgbClr val="434343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function login(email, password){</a:t>
            </a:r>
            <a:br>
              <a:rPr lang="en" sz="11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	if(email == valid &amp;&amp; password == valid){</a:t>
            </a:r>
            <a:endParaRPr sz="11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		expect(msg).</a:t>
            </a:r>
            <a:r>
              <a:rPr lang="en" sz="1100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toeql</a:t>
            </a:r>
            <a:r>
              <a:rPr lang="en" sz="11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(“Valid Login”);</a:t>
            </a:r>
            <a:endParaRPr sz="11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}else{</a:t>
            </a:r>
            <a:endParaRPr sz="11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	expect(msg).</a:t>
            </a:r>
            <a:r>
              <a:rPr lang="en" sz="1100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toeql</a:t>
            </a:r>
            <a:r>
              <a:rPr lang="en" sz="11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(“Invalid Login”);</a:t>
            </a:r>
            <a:endParaRPr sz="11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" sz="11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7" name="Google Shape;367;g342d93776e7_0_195"/>
          <p:cNvSpPr/>
          <p:nvPr/>
        </p:nvSpPr>
        <p:spPr>
          <a:xfrm>
            <a:off x="549700" y="3667825"/>
            <a:ext cx="3497400" cy="1103100"/>
          </a:xfrm>
          <a:prstGeom prst="roundRect">
            <a:avLst>
              <a:gd name="adj" fmla="val 16667"/>
            </a:avLst>
          </a:prstGeom>
          <a:solidFill>
            <a:srgbClr val="434343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“email”: “test@yopmail.com”,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“password”: “pass123456”,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42d93776e7_0_68"/>
          <p:cNvSpPr txBox="1"/>
          <p:nvPr/>
        </p:nvSpPr>
        <p:spPr>
          <a:xfrm>
            <a:off x="531850" y="230875"/>
            <a:ext cx="62877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Testing Pyramid</a:t>
            </a:r>
            <a:endParaRPr sz="5200">
              <a:solidFill>
                <a:srgbClr val="FFFFFF"/>
              </a:solidFill>
            </a:endParaRPr>
          </a:p>
        </p:txBody>
      </p:sp>
      <p:pic>
        <p:nvPicPr>
          <p:cNvPr id="373" name="Google Shape;373;g342d93776e7_0_68"/>
          <p:cNvPicPr preferRelativeResize="0"/>
          <p:nvPr/>
        </p:nvPicPr>
        <p:blipFill rotWithShape="1">
          <a:blip r:embed="rId3">
            <a:alphaModFix/>
          </a:blip>
          <a:srcRect l="1874" t="1828" r="1507" b="2942"/>
          <a:stretch/>
        </p:blipFill>
        <p:spPr>
          <a:xfrm>
            <a:off x="1949213" y="1131728"/>
            <a:ext cx="5245576" cy="329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"/>
          <p:cNvSpPr txBox="1"/>
          <p:nvPr/>
        </p:nvSpPr>
        <p:spPr>
          <a:xfrm>
            <a:off x="531850" y="230875"/>
            <a:ext cx="62877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Testing Methods</a:t>
            </a:r>
            <a:endParaRPr sz="5200">
              <a:solidFill>
                <a:srgbClr val="FFFFFF"/>
              </a:solidFill>
            </a:endParaRPr>
          </a:p>
        </p:txBody>
      </p:sp>
      <p:sp>
        <p:nvSpPr>
          <p:cNvPr id="379" name="Google Shape;379;p3"/>
          <p:cNvSpPr txBox="1"/>
          <p:nvPr/>
        </p:nvSpPr>
        <p:spPr>
          <a:xfrm>
            <a:off x="155950" y="1001125"/>
            <a:ext cx="60300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Smoke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Sanity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Regression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Exploratory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System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Acceptance Testing /  UAT (User Acceptance Testing)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Integration Testing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53889c64b9_0_6"/>
          <p:cNvSpPr txBox="1"/>
          <p:nvPr/>
        </p:nvSpPr>
        <p:spPr>
          <a:xfrm>
            <a:off x="531850" y="230875"/>
            <a:ext cx="62877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Smoke testing</a:t>
            </a:r>
            <a:endParaRPr sz="5200">
              <a:solidFill>
                <a:srgbClr val="FFFFFF"/>
              </a:solidFill>
            </a:endParaRPr>
          </a:p>
        </p:txBody>
      </p:sp>
      <p:sp>
        <p:nvSpPr>
          <p:cNvPr id="385" name="Google Shape;385;g353889c64b9_0_6"/>
          <p:cNvSpPr txBox="1"/>
          <p:nvPr/>
        </p:nvSpPr>
        <p:spPr>
          <a:xfrm>
            <a:off x="155950" y="1001125"/>
            <a:ext cx="8940000" cy="22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Smoke testing is a quick, preliminary test suite designed to verify that the core functionalities of a new build are working before more extensive testing begin.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It is a subset of acceptance testing. And the term “smoke testing” comes from the hardware testing practice of turning on a new piece of hardware for the first time and considering it a success if it does not catch fire or smoke. 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The objective of smoke testing is to verify the “stability” of the system.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</p:txBody>
      </p:sp>
      <p:sp>
        <p:nvSpPr>
          <p:cNvPr id="386" name="Google Shape;386;g353889c64b9_0_6"/>
          <p:cNvSpPr/>
          <p:nvPr/>
        </p:nvSpPr>
        <p:spPr>
          <a:xfrm>
            <a:off x="419050" y="3279025"/>
            <a:ext cx="8590200" cy="1528800"/>
          </a:xfrm>
          <a:prstGeom prst="roundRect">
            <a:avLst>
              <a:gd name="adj" fmla="val 16667"/>
            </a:avLst>
          </a:prstGeom>
          <a:solidFill>
            <a:srgbClr val="ADADAD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When to do smoke testing?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When a new build/version is deployed to Staging or Pre-production or Code merge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Before Major Testing Phases like, regression testing, user acceptance testing (UAT), or performance testing,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Before Demonstrations or Reviews.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53889c64b9_0_0"/>
          <p:cNvSpPr txBox="1"/>
          <p:nvPr/>
        </p:nvSpPr>
        <p:spPr>
          <a:xfrm>
            <a:off x="531850" y="230875"/>
            <a:ext cx="62877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Sanity testing</a:t>
            </a:r>
            <a:endParaRPr sz="5200">
              <a:solidFill>
                <a:srgbClr val="FFFFFF"/>
              </a:solidFill>
            </a:endParaRPr>
          </a:p>
        </p:txBody>
      </p:sp>
      <p:sp>
        <p:nvSpPr>
          <p:cNvPr id="392" name="Google Shape;392;g353889c64b9_0_0"/>
          <p:cNvSpPr txBox="1"/>
          <p:nvPr/>
        </p:nvSpPr>
        <p:spPr>
          <a:xfrm>
            <a:off x="155950" y="1001125"/>
            <a:ext cx="8940000" cy="190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Sanity testing is a software testing process that verifies the core functionality of a software application after making minor changes or bug fixes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It is a subset of regression testing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Unlike smoke testing, sanity testing is more focused and in-depth, concentrating on specific functionalities rather than the entire application.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</p:txBody>
      </p:sp>
      <p:sp>
        <p:nvSpPr>
          <p:cNvPr id="393" name="Google Shape;393;g353889c64b9_0_0"/>
          <p:cNvSpPr/>
          <p:nvPr/>
        </p:nvSpPr>
        <p:spPr>
          <a:xfrm>
            <a:off x="276900" y="2965675"/>
            <a:ext cx="8590200" cy="1528800"/>
          </a:xfrm>
          <a:prstGeom prst="roundRect">
            <a:avLst>
              <a:gd name="adj" fmla="val 16667"/>
            </a:avLst>
          </a:prstGeom>
          <a:solidFill>
            <a:srgbClr val="ADADAD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When to do sanity testing?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When a new build/version is deployed to Staging or Pre-production or Code merge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After Bug Fixes or Minor Code Changes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When a new feature is build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55086c4e70_0_6"/>
          <p:cNvSpPr txBox="1"/>
          <p:nvPr/>
        </p:nvSpPr>
        <p:spPr>
          <a:xfrm>
            <a:off x="531850" y="230875"/>
            <a:ext cx="62877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Regression testing</a:t>
            </a:r>
            <a:endParaRPr sz="5200">
              <a:solidFill>
                <a:srgbClr val="FFFFFF"/>
              </a:solidFill>
            </a:endParaRPr>
          </a:p>
        </p:txBody>
      </p:sp>
      <p:sp>
        <p:nvSpPr>
          <p:cNvPr id="399" name="Google Shape;399;g355086c4e70_0_6"/>
          <p:cNvSpPr txBox="1"/>
          <p:nvPr/>
        </p:nvSpPr>
        <p:spPr>
          <a:xfrm>
            <a:off x="155950" y="1001125"/>
            <a:ext cx="8940000" cy="22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Regression testing is a process that ensures that new changes, like bug fixes or new features, haven't introduced any unexpected  issues or broken existing functionality. 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It involves re-running tests that previously passed to verify that the software still works as expected after changes. 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It is focused on thoroughness and attention to detail, involving the execution of all existing test cases and scenarios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</p:txBody>
      </p:sp>
      <p:sp>
        <p:nvSpPr>
          <p:cNvPr id="400" name="Google Shape;400;g355086c4e70_0_6"/>
          <p:cNvSpPr/>
          <p:nvPr/>
        </p:nvSpPr>
        <p:spPr>
          <a:xfrm>
            <a:off x="330850" y="3279025"/>
            <a:ext cx="8590200" cy="1528800"/>
          </a:xfrm>
          <a:prstGeom prst="roundRect">
            <a:avLst>
              <a:gd name="adj" fmla="val 16667"/>
            </a:avLst>
          </a:prstGeom>
          <a:solidFill>
            <a:srgbClr val="ADADAD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When to do regression testing?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When new functionality is added to the system and the code has been modified 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When some defect has been identified in the software and the code is debugged to fix it.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When the code is modified to optimize its working.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53889c64b9_0_15"/>
          <p:cNvSpPr txBox="1"/>
          <p:nvPr/>
        </p:nvSpPr>
        <p:spPr>
          <a:xfrm>
            <a:off x="531850" y="230875"/>
            <a:ext cx="838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Exploratory testing/Ad-hoc testing</a:t>
            </a:r>
            <a:endParaRPr sz="5200">
              <a:solidFill>
                <a:srgbClr val="FFFFFF"/>
              </a:solidFill>
            </a:endParaRPr>
          </a:p>
        </p:txBody>
      </p:sp>
      <p:sp>
        <p:nvSpPr>
          <p:cNvPr id="406" name="Google Shape;406;g353889c64b9_0_15"/>
          <p:cNvSpPr txBox="1"/>
          <p:nvPr/>
        </p:nvSpPr>
        <p:spPr>
          <a:xfrm>
            <a:off x="155950" y="1001125"/>
            <a:ext cx="8940000" cy="190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Exploratory testing is a software testing approach where testers actively explore a system, identifying issues and assessing user experience without relying on pre-written test cases. 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SQA or testers use their learning, knowledge, skills, and abilities to test the software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Exploratory testing was first named “ad-hoc testing”. The “exploratory testing” was named by the software testing expert Cem Kaner in the classic book, </a:t>
            </a:r>
            <a:r>
              <a:rPr lang="en" sz="1600" b="1" i="1">
                <a:solidFill>
                  <a:schemeClr val="dk1"/>
                </a:solidFill>
                <a:highlight>
                  <a:srgbClr val="101218"/>
                </a:highlight>
              </a:rPr>
              <a:t>Testing Computer Software.</a:t>
            </a:r>
            <a:endParaRPr sz="1600" b="1" i="1">
              <a:solidFill>
                <a:schemeClr val="dk1"/>
              </a:solidFill>
              <a:highlight>
                <a:srgbClr val="101218"/>
              </a:highlight>
            </a:endParaRPr>
          </a:p>
        </p:txBody>
      </p:sp>
      <p:sp>
        <p:nvSpPr>
          <p:cNvPr id="407" name="Google Shape;407;g353889c64b9_0_15"/>
          <p:cNvSpPr/>
          <p:nvPr/>
        </p:nvSpPr>
        <p:spPr>
          <a:xfrm>
            <a:off x="330850" y="3073275"/>
            <a:ext cx="8590200" cy="1528800"/>
          </a:xfrm>
          <a:prstGeom prst="roundRect">
            <a:avLst>
              <a:gd name="adj" fmla="val 16667"/>
            </a:avLst>
          </a:prstGeom>
          <a:solidFill>
            <a:srgbClr val="ADADAD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When to do exploratory testing?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When a new tester joins and needs to learn quickly about the application and provide rapid feedback. 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when there is a need to review products from a user perspective.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When to ensure that the tester doesn’t miss the edge cases that can lead to critical quality failures.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53889c64b9_0_22"/>
          <p:cNvSpPr txBox="1"/>
          <p:nvPr/>
        </p:nvSpPr>
        <p:spPr>
          <a:xfrm>
            <a:off x="531850" y="230875"/>
            <a:ext cx="62877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System testing</a:t>
            </a:r>
            <a:endParaRPr sz="5200">
              <a:solidFill>
                <a:srgbClr val="FFFFFF"/>
              </a:solidFill>
            </a:endParaRPr>
          </a:p>
        </p:txBody>
      </p:sp>
      <p:sp>
        <p:nvSpPr>
          <p:cNvPr id="413" name="Google Shape;413;g353889c64b9_0_22"/>
          <p:cNvSpPr txBox="1"/>
          <p:nvPr/>
        </p:nvSpPr>
        <p:spPr>
          <a:xfrm>
            <a:off x="155950" y="1001125"/>
            <a:ext cx="8940000" cy="190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System testing, also known as end-to-end testing, 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System testing evaluates the complete and integrated system to ensure it meets specified requirements. 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System testing is performed after integration testing and involves testing the entire application as a whole to ensure that all components work together correctly</a:t>
            </a:r>
            <a:endParaRPr sz="1600" b="1" i="1">
              <a:solidFill>
                <a:schemeClr val="dk1"/>
              </a:solidFill>
              <a:highlight>
                <a:srgbClr val="101218"/>
              </a:highlight>
            </a:endParaRPr>
          </a:p>
        </p:txBody>
      </p:sp>
      <p:sp>
        <p:nvSpPr>
          <p:cNvPr id="414" name="Google Shape;414;g353889c64b9_0_22"/>
          <p:cNvSpPr/>
          <p:nvPr/>
        </p:nvSpPr>
        <p:spPr>
          <a:xfrm>
            <a:off x="276900" y="2965675"/>
            <a:ext cx="8590200" cy="1528800"/>
          </a:xfrm>
          <a:prstGeom prst="roundRect">
            <a:avLst>
              <a:gd name="adj" fmla="val 16667"/>
            </a:avLst>
          </a:prstGeom>
          <a:solidFill>
            <a:srgbClr val="ADADAD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When to do system testing?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When to cover the end-to-end functions of a system, and to provide reliability to the system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When to test the entire system architecture as per the business requirement.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When to simulates real-world scenarios to identify defects and confirm that the software behaves as expected in a production-like environment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53889c64b9_0_28"/>
          <p:cNvSpPr txBox="1"/>
          <p:nvPr/>
        </p:nvSpPr>
        <p:spPr>
          <a:xfrm>
            <a:off x="531850" y="65125"/>
            <a:ext cx="83352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Acceptance testing / UAT (User Acceptance Testing)</a:t>
            </a:r>
            <a:endParaRPr sz="5200">
              <a:solidFill>
                <a:srgbClr val="FFFFFF"/>
              </a:solidFill>
            </a:endParaRPr>
          </a:p>
        </p:txBody>
      </p:sp>
      <p:sp>
        <p:nvSpPr>
          <p:cNvPr id="420" name="Google Shape;420;g353889c64b9_0_28"/>
          <p:cNvSpPr txBox="1"/>
          <p:nvPr/>
        </p:nvSpPr>
        <p:spPr>
          <a:xfrm>
            <a:off x="155950" y="1001125"/>
            <a:ext cx="8940000" cy="264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Acceptance testing is a crucial phase of testing where the final product is evaluated by end-users or stakeholders to ensure that it meets all the requirements and is ready for deployment. 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It verifies whether the software functions as planned, meets user expectations, and aligns with business goals. 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Essentially, it's the "go/no-go" decision point where the customer validates the product's suitability before release.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</p:txBody>
      </p:sp>
      <p:sp>
        <p:nvSpPr>
          <p:cNvPr id="421" name="Google Shape;421;g353889c64b9_0_28"/>
          <p:cNvSpPr/>
          <p:nvPr/>
        </p:nvSpPr>
        <p:spPr>
          <a:xfrm>
            <a:off x="276900" y="3628525"/>
            <a:ext cx="8590200" cy="1190100"/>
          </a:xfrm>
          <a:prstGeom prst="roundRect">
            <a:avLst>
              <a:gd name="adj" fmla="val 16667"/>
            </a:avLst>
          </a:prstGeom>
          <a:solidFill>
            <a:srgbClr val="ADADAD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When to do acceptance testing?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When to find the defects missed during the functional testing phase.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When to improve the product performance and real user experience.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When to minimize or eliminate the issues arising from the production.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53889c64b9_0_34"/>
          <p:cNvSpPr txBox="1"/>
          <p:nvPr/>
        </p:nvSpPr>
        <p:spPr>
          <a:xfrm>
            <a:off x="531850" y="230875"/>
            <a:ext cx="62877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Integration testing</a:t>
            </a:r>
            <a:endParaRPr sz="5200">
              <a:solidFill>
                <a:srgbClr val="FFFFFF"/>
              </a:solidFill>
            </a:endParaRPr>
          </a:p>
        </p:txBody>
      </p:sp>
      <p:sp>
        <p:nvSpPr>
          <p:cNvPr id="427" name="Google Shape;427;g353889c64b9_0_34"/>
          <p:cNvSpPr txBox="1"/>
          <p:nvPr/>
        </p:nvSpPr>
        <p:spPr>
          <a:xfrm>
            <a:off x="155950" y="1001125"/>
            <a:ext cx="8940000" cy="22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Integration testing verifies how separate modules or components of a software application interact and work together as a cohesive unit. 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It ensures that data flows correctly between these modules and that the combined functionality meets the overall system requirements. 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Imagine you have several building blocks. Integration testing is like putting those blocks together to see if they fit and work correctly as a structure, not just individually.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</p:txBody>
      </p:sp>
      <p:sp>
        <p:nvSpPr>
          <p:cNvPr id="428" name="Google Shape;428;g353889c64b9_0_34"/>
          <p:cNvSpPr/>
          <p:nvPr/>
        </p:nvSpPr>
        <p:spPr>
          <a:xfrm>
            <a:off x="276900" y="3334975"/>
            <a:ext cx="8590200" cy="1429200"/>
          </a:xfrm>
          <a:prstGeom prst="roundRect">
            <a:avLst>
              <a:gd name="adj" fmla="val 16667"/>
            </a:avLst>
          </a:prstGeom>
          <a:solidFill>
            <a:srgbClr val="ADADAD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When to do integration testing?</a:t>
            </a:r>
            <a:endParaRPr b="1"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 dirty="0"/>
              <a:t>When to identify any bug that arise when different components are combined and interact with each other</a:t>
            </a:r>
            <a:endParaRPr b="1"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 dirty="0"/>
              <a:t>When to verify that the expected sequence is followed.</a:t>
            </a:r>
            <a:endParaRPr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29e730355_0_2"/>
          <p:cNvSpPr txBox="1"/>
          <p:nvPr/>
        </p:nvSpPr>
        <p:spPr>
          <a:xfrm>
            <a:off x="531850" y="230875"/>
            <a:ext cx="8335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Full Cycle testing</a:t>
            </a:r>
            <a:endParaRPr sz="5200">
              <a:solidFill>
                <a:srgbClr val="FFFFFF"/>
              </a:solidFill>
            </a:endParaRPr>
          </a:p>
        </p:txBody>
      </p:sp>
      <p:sp>
        <p:nvSpPr>
          <p:cNvPr id="434" name="Google Shape;434;g3a29e730355_0_2"/>
          <p:cNvSpPr txBox="1"/>
          <p:nvPr/>
        </p:nvSpPr>
        <p:spPr>
          <a:xfrm>
            <a:off x="155950" y="904483"/>
            <a:ext cx="8940000" cy="338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Full Cycle Testing means performing continuous testing across all phases of the Software Development Life Cycle (SDLC) — including planning, design, development, deployment, and maintenance.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914400" lvl="1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It validates that the software meets both functional and non-functional requirements at every stage.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914400" lvl="1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It ensures that data flows correctly between these modules and that the combined functionality meets the overall system requirements. 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Imagine you have several building blocks. Integration testing is like putting those blocks together to see if they fit and work correctly as a structure, not just individually.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</p:txBody>
      </p:sp>
      <p:sp>
        <p:nvSpPr>
          <p:cNvPr id="435" name="Google Shape;435;g3a29e730355_0_2"/>
          <p:cNvSpPr/>
          <p:nvPr/>
        </p:nvSpPr>
        <p:spPr>
          <a:xfrm>
            <a:off x="276900" y="3463868"/>
            <a:ext cx="8590200" cy="1429200"/>
          </a:xfrm>
          <a:prstGeom prst="roundRect">
            <a:avLst>
              <a:gd name="adj" fmla="val 16667"/>
            </a:avLst>
          </a:prstGeom>
          <a:solidFill>
            <a:srgbClr val="ADADAD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When to do Full Cycle Testing?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From the beginning to end of SDLC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When to verify covers all types: reviews requirements, unit, integration, system, acceptance, regression, etc.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That entire ongoing process — from idea to post-release validation — is Full Cycle Testing.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a29e730355_0_12"/>
          <p:cNvSpPr txBox="1"/>
          <p:nvPr/>
        </p:nvSpPr>
        <p:spPr>
          <a:xfrm>
            <a:off x="531850" y="230875"/>
            <a:ext cx="8335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Few More Testing Techniques</a:t>
            </a:r>
            <a:endParaRPr sz="5200">
              <a:solidFill>
                <a:srgbClr val="FFFFFF"/>
              </a:solidFill>
            </a:endParaRPr>
          </a:p>
        </p:txBody>
      </p:sp>
      <p:sp>
        <p:nvSpPr>
          <p:cNvPr id="441" name="Google Shape;441;g3a29e730355_0_12"/>
          <p:cNvSpPr txBox="1"/>
          <p:nvPr/>
        </p:nvSpPr>
        <p:spPr>
          <a:xfrm>
            <a:off x="155950" y="1001125"/>
            <a:ext cx="8940000" cy="375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  <a:highlight>
                  <a:srgbClr val="101218"/>
                </a:highlight>
              </a:rPr>
              <a:t>End-to-End Testing (E2E):</a:t>
            </a: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 Testing the complete workflow of an application from the user’s perspective; from start to finish.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  <a:highlight>
                  <a:srgbClr val="101218"/>
                </a:highlight>
              </a:rPr>
              <a:t>Alpha Testing:</a:t>
            </a: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 Internal testing conducted by the development or QA team before releasing the software to external users. It is done in a controlled environment to catch bugs early.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  <a:highlight>
                  <a:srgbClr val="101218"/>
                </a:highlight>
              </a:rPr>
              <a:t>Beta Testing:</a:t>
            </a: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 External testing conducted by real users or a limited audience outside the development team. It is done in the real-world environment to gather feedback and identify issues that weren’t caught internally.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  <a:highlight>
                  <a:srgbClr val="101218"/>
                </a:highlight>
              </a:rPr>
              <a:t>Compatibility Testing:</a:t>
            </a: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 Ensures the application works on different browsers, devices, OS, or hardware.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b="1">
                <a:solidFill>
                  <a:schemeClr val="dk1"/>
                </a:solidFill>
                <a:highlight>
                  <a:srgbClr val="101218"/>
                </a:highlight>
              </a:rPr>
              <a:t>Usability Testing:</a:t>
            </a: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 Tests the application’s user-friendliness.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29e730355_0_20"/>
          <p:cNvSpPr txBox="1"/>
          <p:nvPr/>
        </p:nvSpPr>
        <p:spPr>
          <a:xfrm>
            <a:off x="531850" y="230875"/>
            <a:ext cx="8335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Few More Testing Techniques</a:t>
            </a:r>
            <a:endParaRPr sz="5200">
              <a:solidFill>
                <a:srgbClr val="FFFFFF"/>
              </a:solidFill>
            </a:endParaRPr>
          </a:p>
        </p:txBody>
      </p:sp>
      <p:sp>
        <p:nvSpPr>
          <p:cNvPr id="447" name="Google Shape;447;g3a29e730355_0_20"/>
          <p:cNvSpPr txBox="1"/>
          <p:nvPr/>
        </p:nvSpPr>
        <p:spPr>
          <a:xfrm>
            <a:off x="155950" y="1001125"/>
            <a:ext cx="8940000" cy="116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Boundary Value Analysis (BVA): Focuses on the edges of input ranges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101218"/>
                </a:highlight>
              </a:rPr>
              <a:t>Equivalence Partitioning (EP): Divides input data into groups that are expected to behave the same</a:t>
            </a:r>
            <a:endParaRPr sz="1600">
              <a:solidFill>
                <a:schemeClr val="dk1"/>
              </a:solidFill>
              <a:highlight>
                <a:srgbClr val="101218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54f351ce04_0_31"/>
          <p:cNvSpPr txBox="1"/>
          <p:nvPr/>
        </p:nvSpPr>
        <p:spPr>
          <a:xfrm>
            <a:off x="531850" y="230875"/>
            <a:ext cx="62877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Testing Methods</a:t>
            </a:r>
            <a:endParaRPr sz="5200">
              <a:solidFill>
                <a:srgbClr val="FFFFFF"/>
              </a:solidFill>
            </a:endParaRPr>
          </a:p>
        </p:txBody>
      </p:sp>
      <p:pic>
        <p:nvPicPr>
          <p:cNvPr id="453" name="Google Shape;453;g354f351ce04_0_31"/>
          <p:cNvPicPr preferRelativeResize="0"/>
          <p:nvPr/>
        </p:nvPicPr>
        <p:blipFill rotWithShape="1">
          <a:blip r:embed="rId3">
            <a:alphaModFix/>
          </a:blip>
          <a:srcRect t="4432" r="418" b="2258"/>
          <a:stretch/>
        </p:blipFill>
        <p:spPr>
          <a:xfrm>
            <a:off x="609600" y="1017688"/>
            <a:ext cx="7745024" cy="312953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g354f351ce04_0_31"/>
          <p:cNvSpPr txBox="1"/>
          <p:nvPr/>
        </p:nvSpPr>
        <p:spPr>
          <a:xfrm>
            <a:off x="494000" y="4223825"/>
            <a:ext cx="355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4A86E8"/>
                </a:solidFill>
              </a:rPr>
              <a:t>URL</a:t>
            </a:r>
            <a:r>
              <a:rPr lang="en" sz="1200">
                <a:solidFill>
                  <a:schemeClr val="dk1"/>
                </a:solidFill>
              </a:rPr>
              <a:t>: 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Testing Methods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g353889c64b9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525" y="174050"/>
            <a:ext cx="7582952" cy="4655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g353889c64b9_0_52"/>
          <p:cNvPicPr preferRelativeResize="0"/>
          <p:nvPr/>
        </p:nvPicPr>
        <p:blipFill rotWithShape="1">
          <a:blip r:embed="rId3">
            <a:alphaModFix/>
          </a:blip>
          <a:srcRect l="10999" t="21018" r="11649" b="6026"/>
          <a:stretch/>
        </p:blipFill>
        <p:spPr>
          <a:xfrm>
            <a:off x="1437175" y="221350"/>
            <a:ext cx="6269650" cy="455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g353889c64b9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638" y="130750"/>
            <a:ext cx="6528725" cy="466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1"/>
          <p:cNvSpPr txBox="1">
            <a:spLocks noGrp="1"/>
          </p:cNvSpPr>
          <p:nvPr>
            <p:ph type="title"/>
          </p:nvPr>
        </p:nvSpPr>
        <p:spPr>
          <a:xfrm>
            <a:off x="632850" y="400625"/>
            <a:ext cx="7878300" cy="17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5200">
                <a:latin typeface="Arial"/>
                <a:ea typeface="Arial"/>
                <a:cs typeface="Arial"/>
                <a:sym typeface="Arial"/>
              </a:rPr>
              <a:t>Any Questions?</a:t>
            </a:r>
            <a:endParaRPr/>
          </a:p>
        </p:txBody>
      </p:sp>
      <p:sp>
        <p:nvSpPr>
          <p:cNvPr id="475" name="Google Shape;475;p11"/>
          <p:cNvSpPr txBox="1">
            <a:spLocks noGrp="1"/>
          </p:cNvSpPr>
          <p:nvPr>
            <p:ph type="subTitle" idx="2"/>
          </p:nvPr>
        </p:nvSpPr>
        <p:spPr>
          <a:xfrm>
            <a:off x="2068350" y="3665300"/>
            <a:ext cx="50073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Thank you!</a:t>
            </a:r>
            <a:endParaRPr/>
          </a:p>
        </p:txBody>
      </p:sp>
      <p:pic>
        <p:nvPicPr>
          <p:cNvPr id="476" name="Google Shape;47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8263" y="1671975"/>
            <a:ext cx="2879281" cy="179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1343</Words>
  <Application>Microsoft Macintosh PowerPoint</Application>
  <PresentationFormat>On-screen Show (16:9)</PresentationFormat>
  <Paragraphs>123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Hepta Slab</vt:lpstr>
      <vt:lpstr>Barlow Medium</vt:lpstr>
      <vt:lpstr>Barlow ExtraLight</vt:lpstr>
      <vt:lpstr>Barlow</vt:lpstr>
      <vt:lpstr>Barlow Light</vt:lpstr>
      <vt:lpstr>Hepta Slab Light</vt:lpstr>
      <vt:lpstr>Hepta Slab Medium</vt:lpstr>
      <vt:lpstr>Arial</vt:lpstr>
      <vt:lpstr>Consolas</vt:lpstr>
      <vt:lpstr>Strategy Plan</vt:lpstr>
      <vt:lpstr>Types of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shakibrybmn@gmail.com</cp:lastModifiedBy>
  <cp:revision>1</cp:revision>
  <dcterms:modified xsi:type="dcterms:W3CDTF">2026-04-20T17:53:38Z</dcterms:modified>
</cp:coreProperties>
</file>