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5143500" cx="9144000"/>
  <p:notesSz cx="6858000" cy="9144000"/>
  <p:embeddedFontLst>
    <p:embeddedFont>
      <p:font typeface="Barlow ExtraLight"/>
      <p:regular r:id="rId34"/>
      <p:bold r:id="rId35"/>
      <p:italic r:id="rId36"/>
      <p:boldItalic r:id="rId37"/>
    </p:embeddedFont>
    <p:embeddedFont>
      <p:font typeface="Hepta Slab Medium"/>
      <p:regular r:id="rId38"/>
      <p:bold r:id="rId39"/>
    </p:embeddedFont>
    <p:embeddedFont>
      <p:font typeface="Hepta Slab Light"/>
      <p:regular r:id="rId40"/>
      <p:bold r:id="rId41"/>
    </p:embeddedFont>
    <p:embeddedFont>
      <p:font typeface="Hepta Slab"/>
      <p:regular r:id="rId42"/>
      <p:bold r:id="rId43"/>
    </p:embeddedFont>
    <p:embeddedFont>
      <p:font typeface="Barlow Medium"/>
      <p:regular r:id="rId44"/>
      <p:bold r:id="rId45"/>
      <p:italic r:id="rId46"/>
      <p:boldItalic r:id="rId47"/>
    </p:embeddedFont>
    <p:embeddedFont>
      <p:font typeface="Barlow Light"/>
      <p:regular r:id="rId48"/>
      <p:bold r:id="rId49"/>
      <p:italic r:id="rId50"/>
      <p:boldItalic r:id="rId51"/>
    </p:embeddedFont>
    <p:embeddedFont>
      <p:font typeface="Barlow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6" roundtripDataSignature="AMtx7mgaN1Bav/0+7hGJH+ClcsVfiZ0h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556D005-3CC5-435C-9D10-C0DF548CABA9}">
  <a:tblStyle styleId="{9556D005-3CC5-435C-9D10-C0DF548CABA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ptaSlabLight-regular.fntdata"/><Relationship Id="rId42" Type="http://schemas.openxmlformats.org/officeDocument/2006/relationships/font" Target="fonts/HeptaSlab-regular.fntdata"/><Relationship Id="rId41" Type="http://schemas.openxmlformats.org/officeDocument/2006/relationships/font" Target="fonts/HeptaSlabLight-bold.fntdata"/><Relationship Id="rId44" Type="http://schemas.openxmlformats.org/officeDocument/2006/relationships/font" Target="fonts/BarlowMedium-regular.fntdata"/><Relationship Id="rId43" Type="http://schemas.openxmlformats.org/officeDocument/2006/relationships/font" Target="fonts/HeptaSlab-bold.fntdata"/><Relationship Id="rId46" Type="http://schemas.openxmlformats.org/officeDocument/2006/relationships/font" Target="fonts/BarlowMedium-italic.fntdata"/><Relationship Id="rId45" Type="http://schemas.openxmlformats.org/officeDocument/2006/relationships/font" Target="fonts/Barlow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BarlowLight-regular.fntdata"/><Relationship Id="rId47" Type="http://schemas.openxmlformats.org/officeDocument/2006/relationships/font" Target="fonts/BarlowMedium-boldItalic.fntdata"/><Relationship Id="rId49" Type="http://schemas.openxmlformats.org/officeDocument/2006/relationships/font" Target="fonts/BarlowLigh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font" Target="fonts/BarlowExtraLight-bold.fntdata"/><Relationship Id="rId34" Type="http://schemas.openxmlformats.org/officeDocument/2006/relationships/font" Target="fonts/BarlowExtraLight-regular.fntdata"/><Relationship Id="rId37" Type="http://schemas.openxmlformats.org/officeDocument/2006/relationships/font" Target="fonts/BarlowExtraLight-boldItalic.fntdata"/><Relationship Id="rId36" Type="http://schemas.openxmlformats.org/officeDocument/2006/relationships/font" Target="fonts/BarlowExtraLight-italic.fntdata"/><Relationship Id="rId39" Type="http://schemas.openxmlformats.org/officeDocument/2006/relationships/font" Target="fonts/HeptaSlabMedium-bold.fntdata"/><Relationship Id="rId38" Type="http://schemas.openxmlformats.org/officeDocument/2006/relationships/font" Target="fonts/HeptaSlabMedium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BarlowLight-boldItalic.fntdata"/><Relationship Id="rId50" Type="http://schemas.openxmlformats.org/officeDocument/2006/relationships/font" Target="fonts/BarlowLight-italic.fntdata"/><Relationship Id="rId53" Type="http://schemas.openxmlformats.org/officeDocument/2006/relationships/font" Target="fonts/Barlow-bold.fntdata"/><Relationship Id="rId52" Type="http://schemas.openxmlformats.org/officeDocument/2006/relationships/font" Target="fonts/Barlow-regular.fntdata"/><Relationship Id="rId11" Type="http://schemas.openxmlformats.org/officeDocument/2006/relationships/slide" Target="slides/slide5.xml"/><Relationship Id="rId55" Type="http://schemas.openxmlformats.org/officeDocument/2006/relationships/font" Target="fonts/Barlow-boldItalic.fntdata"/><Relationship Id="rId10" Type="http://schemas.openxmlformats.org/officeDocument/2006/relationships/slide" Target="slides/slide4.xml"/><Relationship Id="rId54" Type="http://schemas.openxmlformats.org/officeDocument/2006/relationships/font" Target="fonts/Barlow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4ac054550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g34ac054550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4ee79a0bda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g34ee79a0bda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4ee79a0bda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g34ee79a0bda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4ee79a0bda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g34ee79a0bda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42d93776e7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g342d93776e7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/>
              <a:t>A PRD (Product Requirements Document)</a:t>
            </a:r>
            <a:r>
              <a:rPr lang="en"/>
              <a:t> outlines the specific features, functionalities, and requirements of a product. </a:t>
            </a:r>
            <a:r>
              <a:rPr b="1" lang="en"/>
              <a:t>A BRD (Business Requirements Document)</a:t>
            </a:r>
            <a:r>
              <a:rPr lang="en"/>
              <a:t> focuses on the broader business needs, objectives, and goals that the product aims to address. </a:t>
            </a:r>
            <a:r>
              <a:rPr b="1" lang="en"/>
              <a:t>An SRS (Software Requirements Specification)</a:t>
            </a:r>
            <a:r>
              <a:rPr lang="en"/>
              <a:t> provides detailed technical specifications for the software development team to build the product.</a:t>
            </a:r>
            <a:br>
              <a:rPr lang="en"/>
            </a:br>
            <a:br>
              <a:rPr lang="en"/>
            </a:br>
            <a:r>
              <a:rPr b="1" lang="en"/>
              <a:t>In essence: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/>
              <a:t>PRD:</a:t>
            </a:r>
            <a:r>
              <a:rPr lang="en"/>
              <a:t> What the product is and how it should work.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/>
              <a:t>BRD:</a:t>
            </a:r>
            <a:r>
              <a:rPr lang="en"/>
              <a:t> Why the product is being built and what business needs it addresses.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/>
              <a:t>SRS:</a:t>
            </a:r>
            <a:r>
              <a:rPr lang="en"/>
              <a:t> How the product will be built technically.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42d93776e7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g342d93776e7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9b44278e94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g39b44278e94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4ac054550d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g34ac054550d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4ee79a0bda_0_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4ee79a0bda_0_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4ee79a0bda_0_1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g34ee79a0bda_0_1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4ecf211fc6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g34ecf211fc6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bacc4b50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g3bacc4b50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952a897dd1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g3952a897dd1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4ee79a0bda_0_1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g34ee79a0bda_0_1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4ecf211fc6_3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g34ecf211fc6_3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4ee79a0bda_0_8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4ee79a0bda_0_8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79e15249a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g379e15249a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79e15249a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g379e15249a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4ecf211fc6_3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g34ecf211fc6_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799e041a3d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g3799e041a3d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799e041a3d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g3799e041a3d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799e041a3d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g3799e041a3d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799e041a3d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4" name="Google Shape;484;g3799e041a3d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4ee79a0bda_0_15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g34ee79a0bda_0_1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2" type="subTitle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" name="Google Shape;14;p13"/>
          <p:cNvSpPr txBox="1"/>
          <p:nvPr/>
        </p:nvSpPr>
        <p:spPr>
          <a:xfrm>
            <a:off x="6907975" y="4749850"/>
            <a:ext cx="2197500" cy="3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Mishel Franklin Desilva</a:t>
            </a:r>
            <a:endParaRPr b="0" i="0" sz="1500" u="none" cap="none" strike="noStrike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52" name="Google Shape;52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2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0" name="Google Shape;60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" name="Google Shape;61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" name="Google Shape;62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3" name="Google Shape;63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4" name="Google Shape;64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8" name="Google Shape;68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3" name="Google Shape;73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6" name="Google Shape;76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3" name="Google Shape;83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" name="Google Shape;84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5" name="Google Shape;85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" name="Google Shape;88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9" name="Google Shape;89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90" name="Google Shape;90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91" name="Google Shape;91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92" name="Google Shape;92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3" name="Google Shape;93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4" name="Google Shape;94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5" name="Google Shape;95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6" name="Google Shape;96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3" name="Google Shape;103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9" name="Google Shape;109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2" name="Google Shape;112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5" name="Google Shape;115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7" name="Google Shape;11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0" name="Google Shape;120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1" name="Google Shape;121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2" name="Google Shape;132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BLANK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5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39" name="Google Shape;139;p35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800"/>
              <a:buNone/>
              <a:defRPr sz="128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0" name="Google Shape;140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7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/ Content" type="tx">
  <p:cSld name="TITLE_AND_BODY">
    <p:bg>
      <p:bgPr>
        <a:solidFill>
          <a:schemeClr val="accent4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6"/>
          <p:cNvSpPr txBox="1"/>
          <p:nvPr>
            <p:ph idx="1" type="subTitle"/>
          </p:nvPr>
        </p:nvSpPr>
        <p:spPr>
          <a:xfrm>
            <a:off x="475075" y="309225"/>
            <a:ext cx="36552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3" name="Google Shape;143;p36"/>
          <p:cNvSpPr txBox="1"/>
          <p:nvPr>
            <p:ph idx="2" type="body"/>
          </p:nvPr>
        </p:nvSpPr>
        <p:spPr>
          <a:xfrm>
            <a:off x="711097" y="980554"/>
            <a:ext cx="9261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44" name="Google Shape;144;p36"/>
          <p:cNvSpPr txBox="1"/>
          <p:nvPr>
            <p:ph idx="3" type="subTitle"/>
          </p:nvPr>
        </p:nvSpPr>
        <p:spPr>
          <a:xfrm>
            <a:off x="1699221" y="980279"/>
            <a:ext cx="23622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5" name="Google Shape;145;p36"/>
          <p:cNvSpPr txBox="1"/>
          <p:nvPr>
            <p:ph idx="4" type="body"/>
          </p:nvPr>
        </p:nvSpPr>
        <p:spPr>
          <a:xfrm>
            <a:off x="2285797" y="1226054"/>
            <a:ext cx="17757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46" name="Google Shape;146;p36"/>
          <p:cNvSpPr txBox="1"/>
          <p:nvPr>
            <p:ph idx="5" type="body"/>
          </p:nvPr>
        </p:nvSpPr>
        <p:spPr>
          <a:xfrm>
            <a:off x="711097" y="2222666"/>
            <a:ext cx="9261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47" name="Google Shape;147;p36"/>
          <p:cNvSpPr txBox="1"/>
          <p:nvPr>
            <p:ph idx="6" type="subTitle"/>
          </p:nvPr>
        </p:nvSpPr>
        <p:spPr>
          <a:xfrm>
            <a:off x="1699221" y="2222391"/>
            <a:ext cx="23622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8" name="Google Shape;148;p36"/>
          <p:cNvSpPr txBox="1"/>
          <p:nvPr>
            <p:ph idx="7" type="body"/>
          </p:nvPr>
        </p:nvSpPr>
        <p:spPr>
          <a:xfrm>
            <a:off x="2285797" y="2468166"/>
            <a:ext cx="1775700" cy="8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49" name="Google Shape;149;p36"/>
          <p:cNvSpPr txBox="1"/>
          <p:nvPr>
            <p:ph idx="8" type="body"/>
          </p:nvPr>
        </p:nvSpPr>
        <p:spPr>
          <a:xfrm>
            <a:off x="711097" y="3219093"/>
            <a:ext cx="9261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0" name="Google Shape;150;p36"/>
          <p:cNvSpPr txBox="1"/>
          <p:nvPr>
            <p:ph idx="9" type="subTitle"/>
          </p:nvPr>
        </p:nvSpPr>
        <p:spPr>
          <a:xfrm>
            <a:off x="1699221" y="3218818"/>
            <a:ext cx="23622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1" name="Google Shape;151;p36"/>
          <p:cNvSpPr txBox="1"/>
          <p:nvPr>
            <p:ph idx="13" type="body"/>
          </p:nvPr>
        </p:nvSpPr>
        <p:spPr>
          <a:xfrm>
            <a:off x="2285797" y="3464593"/>
            <a:ext cx="1775700" cy="8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2" name="Google Shape;152;p36"/>
          <p:cNvSpPr txBox="1"/>
          <p:nvPr>
            <p:ph idx="14" type="body"/>
          </p:nvPr>
        </p:nvSpPr>
        <p:spPr>
          <a:xfrm>
            <a:off x="4746581" y="980554"/>
            <a:ext cx="9261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3" name="Google Shape;153;p36"/>
          <p:cNvSpPr txBox="1"/>
          <p:nvPr>
            <p:ph idx="15" type="subTitle"/>
          </p:nvPr>
        </p:nvSpPr>
        <p:spPr>
          <a:xfrm>
            <a:off x="5734705" y="980279"/>
            <a:ext cx="23622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4" name="Google Shape;154;p36"/>
          <p:cNvSpPr txBox="1"/>
          <p:nvPr>
            <p:ph idx="16" type="body"/>
          </p:nvPr>
        </p:nvSpPr>
        <p:spPr>
          <a:xfrm>
            <a:off x="6321281" y="1226054"/>
            <a:ext cx="17757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5" name="Google Shape;155;p36"/>
          <p:cNvSpPr txBox="1"/>
          <p:nvPr>
            <p:ph idx="17" type="body"/>
          </p:nvPr>
        </p:nvSpPr>
        <p:spPr>
          <a:xfrm>
            <a:off x="4746581" y="2222666"/>
            <a:ext cx="9261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6" name="Google Shape;156;p36"/>
          <p:cNvSpPr txBox="1"/>
          <p:nvPr>
            <p:ph idx="18" type="subTitle"/>
          </p:nvPr>
        </p:nvSpPr>
        <p:spPr>
          <a:xfrm>
            <a:off x="5734705" y="2222391"/>
            <a:ext cx="23622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7" name="Google Shape;157;p36"/>
          <p:cNvSpPr txBox="1"/>
          <p:nvPr>
            <p:ph idx="19" type="body"/>
          </p:nvPr>
        </p:nvSpPr>
        <p:spPr>
          <a:xfrm>
            <a:off x="6321281" y="2468166"/>
            <a:ext cx="1775700" cy="8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8" name="Google Shape;158;p36"/>
          <p:cNvSpPr txBox="1"/>
          <p:nvPr>
            <p:ph idx="20" type="body"/>
          </p:nvPr>
        </p:nvSpPr>
        <p:spPr>
          <a:xfrm>
            <a:off x="4746581" y="3219093"/>
            <a:ext cx="9261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9" name="Google Shape;159;p36"/>
          <p:cNvSpPr txBox="1"/>
          <p:nvPr>
            <p:ph idx="21" type="subTitle"/>
          </p:nvPr>
        </p:nvSpPr>
        <p:spPr>
          <a:xfrm>
            <a:off x="5734705" y="3218818"/>
            <a:ext cx="23622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60" name="Google Shape;160;p36"/>
          <p:cNvSpPr txBox="1"/>
          <p:nvPr>
            <p:ph idx="22" type="body"/>
          </p:nvPr>
        </p:nvSpPr>
        <p:spPr>
          <a:xfrm>
            <a:off x="6321281" y="3464593"/>
            <a:ext cx="1775700" cy="8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61" name="Google Shape;161;p3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60">
          <p15:clr>
            <a:srgbClr val="E46962"/>
          </p15:clr>
        </p15:guide>
        <p15:guide id="3" orient="horz" pos="1048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" type="twoColTx">
  <p:cSld name="TITLE_AND_TWO_COLUMNS">
    <p:bg>
      <p:bgPr>
        <a:solidFill>
          <a:schemeClr val="dk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7"/>
          <p:cNvSpPr txBox="1"/>
          <p:nvPr/>
        </p:nvSpPr>
        <p:spPr>
          <a:xfrm>
            <a:off x="6262625" y="1205946"/>
            <a:ext cx="2155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" sz="700" u="none" cap="none" strike="noStrike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Lorem ipsum dolor sit amet, consectetur adipiscing elit.</a:t>
            </a:r>
            <a:endParaRPr b="0" i="1" sz="700" u="none" cap="none" strike="noStrike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165" name="Google Shape;165;p37"/>
          <p:cNvSpPr/>
          <p:nvPr>
            <p:ph idx="2" type="pic"/>
          </p:nvPr>
        </p:nvSpPr>
        <p:spPr>
          <a:xfrm>
            <a:off x="3915225" y="1631250"/>
            <a:ext cx="4441200" cy="3009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66" name="Google Shape;166;p37"/>
          <p:cNvSpPr txBox="1"/>
          <p:nvPr>
            <p:ph idx="1" type="body"/>
          </p:nvPr>
        </p:nvSpPr>
        <p:spPr>
          <a:xfrm>
            <a:off x="791150" y="1835400"/>
            <a:ext cx="2094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67" name="Google Shape;167;p37"/>
          <p:cNvSpPr txBox="1"/>
          <p:nvPr>
            <p:ph idx="3" type="subTitle"/>
          </p:nvPr>
        </p:nvSpPr>
        <p:spPr>
          <a:xfrm>
            <a:off x="791150" y="522625"/>
            <a:ext cx="39183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68" name="Google Shape;168;p3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AND_TWO_COLUMNS_1">
    <p:bg>
      <p:bgPr>
        <a:solidFill>
          <a:schemeClr val="dk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8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8"/>
          <p:cNvSpPr txBox="1"/>
          <p:nvPr>
            <p:ph idx="1" type="subTitle"/>
          </p:nvPr>
        </p:nvSpPr>
        <p:spPr>
          <a:xfrm>
            <a:off x="791150" y="522625"/>
            <a:ext cx="5173200" cy="9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72" name="Google Shape;172;p38"/>
          <p:cNvSpPr txBox="1"/>
          <p:nvPr>
            <p:ph idx="2" type="body"/>
          </p:nvPr>
        </p:nvSpPr>
        <p:spPr>
          <a:xfrm>
            <a:off x="685450" y="2180950"/>
            <a:ext cx="3579600" cy="23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" name="Google Shape;173;p38"/>
          <p:cNvSpPr txBox="1"/>
          <p:nvPr>
            <p:ph idx="3" type="body"/>
          </p:nvPr>
        </p:nvSpPr>
        <p:spPr>
          <a:xfrm>
            <a:off x="4601077" y="2180950"/>
            <a:ext cx="3579600" cy="23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4" name="Google Shape;174;p3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/ Company Overview" type="titleOnly">
  <p:cSld name="TITLE_ONLY">
    <p:bg>
      <p:bgPr>
        <a:solidFill>
          <a:schemeClr val="accent4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9"/>
          <p:cNvSpPr/>
          <p:nvPr>
            <p:ph idx="2" type="pic"/>
          </p:nvPr>
        </p:nvSpPr>
        <p:spPr>
          <a:xfrm>
            <a:off x="791150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39"/>
          <p:cNvSpPr/>
          <p:nvPr>
            <p:ph idx="3" type="pic"/>
          </p:nvPr>
        </p:nvSpPr>
        <p:spPr>
          <a:xfrm>
            <a:off x="2355375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39"/>
          <p:cNvSpPr/>
          <p:nvPr>
            <p:ph idx="4" type="pic"/>
          </p:nvPr>
        </p:nvSpPr>
        <p:spPr>
          <a:xfrm>
            <a:off x="3921313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39"/>
          <p:cNvSpPr/>
          <p:nvPr>
            <p:ph idx="5" type="pic"/>
          </p:nvPr>
        </p:nvSpPr>
        <p:spPr>
          <a:xfrm>
            <a:off x="5491588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39"/>
          <p:cNvSpPr txBox="1"/>
          <p:nvPr>
            <p:ph idx="1" type="body"/>
          </p:nvPr>
        </p:nvSpPr>
        <p:spPr>
          <a:xfrm>
            <a:off x="680850" y="3443850"/>
            <a:ext cx="3074700" cy="10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406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406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406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406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406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406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406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406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81" name="Google Shape;181;p39"/>
          <p:cNvSpPr txBox="1"/>
          <p:nvPr>
            <p:ph idx="6" type="body"/>
          </p:nvPr>
        </p:nvSpPr>
        <p:spPr>
          <a:xfrm>
            <a:off x="4123900" y="3443850"/>
            <a:ext cx="4030200" cy="11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82" name="Google Shape;182;p39"/>
          <p:cNvSpPr txBox="1"/>
          <p:nvPr>
            <p:ph idx="7" type="body"/>
          </p:nvPr>
        </p:nvSpPr>
        <p:spPr>
          <a:xfrm>
            <a:off x="705088" y="2737270"/>
            <a:ext cx="12948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3" name="Google Shape;183;p39"/>
          <p:cNvSpPr txBox="1"/>
          <p:nvPr>
            <p:ph idx="8" type="body"/>
          </p:nvPr>
        </p:nvSpPr>
        <p:spPr>
          <a:xfrm>
            <a:off x="2258888" y="2737270"/>
            <a:ext cx="12948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4" name="Google Shape;184;p39"/>
          <p:cNvSpPr txBox="1"/>
          <p:nvPr>
            <p:ph idx="9" type="body"/>
          </p:nvPr>
        </p:nvSpPr>
        <p:spPr>
          <a:xfrm>
            <a:off x="3827513" y="2737270"/>
            <a:ext cx="12948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5" name="Google Shape;185;p39"/>
          <p:cNvSpPr txBox="1"/>
          <p:nvPr>
            <p:ph idx="13" type="body"/>
          </p:nvPr>
        </p:nvSpPr>
        <p:spPr>
          <a:xfrm>
            <a:off x="5395113" y="2737270"/>
            <a:ext cx="12948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6" name="Google Shape;186;p39"/>
          <p:cNvSpPr txBox="1"/>
          <p:nvPr>
            <p:ph idx="14" type="body"/>
          </p:nvPr>
        </p:nvSpPr>
        <p:spPr>
          <a:xfrm>
            <a:off x="705091" y="2464123"/>
            <a:ext cx="12948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7" name="Google Shape;187;p39"/>
          <p:cNvSpPr txBox="1"/>
          <p:nvPr>
            <p:ph idx="15" type="body"/>
          </p:nvPr>
        </p:nvSpPr>
        <p:spPr>
          <a:xfrm>
            <a:off x="2258891" y="2464123"/>
            <a:ext cx="12948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8" name="Google Shape;188;p39"/>
          <p:cNvSpPr txBox="1"/>
          <p:nvPr>
            <p:ph idx="16" type="body"/>
          </p:nvPr>
        </p:nvSpPr>
        <p:spPr>
          <a:xfrm>
            <a:off x="3827003" y="2464123"/>
            <a:ext cx="12948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9" name="Google Shape;189;p39"/>
          <p:cNvSpPr txBox="1"/>
          <p:nvPr>
            <p:ph idx="17" type="body"/>
          </p:nvPr>
        </p:nvSpPr>
        <p:spPr>
          <a:xfrm>
            <a:off x="5396128" y="2464123"/>
            <a:ext cx="12948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90" name="Google Shape;190;p3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ive Landscape">
  <p:cSld name="ONE_COLUMN_TEXT">
    <p:bg>
      <p:bgPr>
        <a:solidFill>
          <a:schemeClr val="dk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0"/>
          <p:cNvSpPr txBox="1"/>
          <p:nvPr>
            <p:ph idx="1" type="body"/>
          </p:nvPr>
        </p:nvSpPr>
        <p:spPr>
          <a:xfrm>
            <a:off x="791150" y="738025"/>
            <a:ext cx="3918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3" name="Google Shape;193;p40"/>
          <p:cNvSpPr txBox="1"/>
          <p:nvPr>
            <p:ph idx="2" type="subTitle"/>
          </p:nvPr>
        </p:nvSpPr>
        <p:spPr>
          <a:xfrm>
            <a:off x="791150" y="522625"/>
            <a:ext cx="391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94" name="Google Shape;194;p4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Trends + Data">
  <p:cSld name="MAIN_POINT">
    <p:bg>
      <p:bgPr>
        <a:solidFill>
          <a:schemeClr val="dk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1"/>
          <p:cNvSpPr txBox="1"/>
          <p:nvPr>
            <p:ph idx="1" type="subTitle"/>
          </p:nvPr>
        </p:nvSpPr>
        <p:spPr>
          <a:xfrm>
            <a:off x="690250" y="415625"/>
            <a:ext cx="12618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7" name="Google Shape;197;p41"/>
          <p:cNvSpPr txBox="1"/>
          <p:nvPr>
            <p:ph idx="2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9pPr>
          </a:lstStyle>
          <a:p/>
        </p:txBody>
      </p:sp>
      <p:sp>
        <p:nvSpPr>
          <p:cNvPr id="198" name="Google Shape;198;p41"/>
          <p:cNvSpPr txBox="1"/>
          <p:nvPr>
            <p:ph idx="3" type="body"/>
          </p:nvPr>
        </p:nvSpPr>
        <p:spPr>
          <a:xfrm>
            <a:off x="480425" y="534275"/>
            <a:ext cx="4878300" cy="19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9" name="Google Shape;199;p4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47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CUSTOM_14">
    <p:bg>
      <p:bgPr>
        <a:solidFill>
          <a:schemeClr val="dk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2"/>
          <p:cNvSpPr txBox="1"/>
          <p:nvPr>
            <p:ph type="title"/>
          </p:nvPr>
        </p:nvSpPr>
        <p:spPr>
          <a:xfrm>
            <a:off x="723861" y="1584738"/>
            <a:ext cx="26706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2" name="Google Shape;202;p42"/>
          <p:cNvSpPr txBox="1"/>
          <p:nvPr>
            <p:ph idx="2" type="title"/>
          </p:nvPr>
        </p:nvSpPr>
        <p:spPr>
          <a:xfrm>
            <a:off x="723861" y="2390981"/>
            <a:ext cx="26706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3" name="Google Shape;203;p42"/>
          <p:cNvSpPr txBox="1"/>
          <p:nvPr>
            <p:ph idx="3" type="title"/>
          </p:nvPr>
        </p:nvSpPr>
        <p:spPr>
          <a:xfrm>
            <a:off x="723861" y="3157931"/>
            <a:ext cx="26706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4" name="Google Shape;204;p42"/>
          <p:cNvSpPr txBox="1"/>
          <p:nvPr>
            <p:ph idx="4" type="title"/>
          </p:nvPr>
        </p:nvSpPr>
        <p:spPr>
          <a:xfrm>
            <a:off x="723861" y="3954905"/>
            <a:ext cx="26706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5" name="Google Shape;205;p42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6" name="Google Shape;206;p42"/>
          <p:cNvSpPr txBox="1"/>
          <p:nvPr>
            <p:ph idx="5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7" name="Google Shape;207;p4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/ Thank You">
  <p:cSld name="CUSTOM_13">
    <p:bg>
      <p:bgPr>
        <a:solidFill>
          <a:schemeClr val="lt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3"/>
          <p:cNvSpPr txBox="1"/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10" name="Google Shape;210;p43"/>
          <p:cNvSpPr txBox="1"/>
          <p:nvPr>
            <p:ph idx="1" type="body"/>
          </p:nvPr>
        </p:nvSpPr>
        <p:spPr>
          <a:xfrm>
            <a:off x="567029" y="4500404"/>
            <a:ext cx="1015800" cy="266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11" name="Google Shape;211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TITLE_AND_DESCRIPTION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4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Hepta Slab Medium"/>
              <a:buNone/>
              <a:defRPr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4" name="Google Shape;214;p44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15" name="Google Shape;215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Size / Pie Graph">
  <p:cSld name="CAPTION_ONLY">
    <p:bg>
      <p:bgPr>
        <a:solidFill>
          <a:schemeClr val="dk1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5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45"/>
          <p:cNvSpPr txBox="1"/>
          <p:nvPr>
            <p:ph idx="1" type="subTitle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 sz="36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9" name="Google Shape;219;p45"/>
          <p:cNvSpPr txBox="1"/>
          <p:nvPr>
            <p:ph idx="2" type="body"/>
          </p:nvPr>
        </p:nvSpPr>
        <p:spPr>
          <a:xfrm>
            <a:off x="714950" y="1989025"/>
            <a:ext cx="2792400" cy="28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220" name="Google Shape;220;p4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1" name="Google Shape;221;p45"/>
          <p:cNvSpPr/>
          <p:nvPr/>
        </p:nvSpPr>
        <p:spPr>
          <a:xfrm>
            <a:off x="4416275" y="1976923"/>
            <a:ext cx="4045200" cy="287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45"/>
          <p:cNvSpPr/>
          <p:nvPr/>
        </p:nvSpPr>
        <p:spPr>
          <a:xfrm rot="444408">
            <a:off x="5636457" y="2500588"/>
            <a:ext cx="1505663" cy="1505327"/>
          </a:xfrm>
          <a:prstGeom prst="pie">
            <a:avLst>
              <a:gd fmla="val 8241844" name="adj1"/>
              <a:gd fmla="val 12554936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fferentiators / 4 column text">
  <p:cSld name="BIG_NUMBER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6"/>
          <p:cNvSpPr/>
          <p:nvPr/>
        </p:nvSpPr>
        <p:spPr>
          <a:xfrm>
            <a:off x="0" y="1324925"/>
            <a:ext cx="4572000" cy="191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6"/>
          <p:cNvSpPr/>
          <p:nvPr/>
        </p:nvSpPr>
        <p:spPr>
          <a:xfrm>
            <a:off x="0" y="3235076"/>
            <a:ext cx="4572000" cy="19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6"/>
          <p:cNvSpPr/>
          <p:nvPr/>
        </p:nvSpPr>
        <p:spPr>
          <a:xfrm>
            <a:off x="4571892" y="3235076"/>
            <a:ext cx="4572000" cy="191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46"/>
          <p:cNvSpPr/>
          <p:nvPr/>
        </p:nvSpPr>
        <p:spPr>
          <a:xfrm>
            <a:off x="4571892" y="1324925"/>
            <a:ext cx="4572000" cy="191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6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29" name="Google Shape;229;p46"/>
          <p:cNvSpPr txBox="1"/>
          <p:nvPr>
            <p:ph idx="2" type="body"/>
          </p:nvPr>
        </p:nvSpPr>
        <p:spPr>
          <a:xfrm>
            <a:off x="480425" y="610475"/>
            <a:ext cx="4878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30" name="Google Shape;230;p4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blank">
  <p:cSld name="BLANK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7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33" name="Google Shape;233;p47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34" name="Google Shape;234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1">
    <p:bg>
      <p:bgPr>
        <a:solidFill>
          <a:schemeClr val="dk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8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8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pta Slab Medium"/>
              <a:buNone/>
              <a:defRPr sz="3600"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38" name="Google Shape;238;p48"/>
          <p:cNvSpPr txBox="1"/>
          <p:nvPr>
            <p:ph idx="2" type="body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1pPr>
            <a:lvl2pPr indent="-406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2pPr>
            <a:lvl3pPr indent="-406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3pPr>
            <a:lvl4pPr indent="-406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4pPr>
            <a:lvl5pPr indent="-406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5pPr>
            <a:lvl6pPr indent="-406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6pPr>
            <a:lvl7pPr indent="-406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7pPr>
            <a:lvl8pPr indent="-406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8pPr>
            <a:lvl9pPr indent="-406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9" name="Google Shape;239;p4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Background Image + Text">
  <p:cSld name="CUSTOM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9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49"/>
          <p:cNvSpPr txBox="1"/>
          <p:nvPr>
            <p:ph idx="1" type="body"/>
          </p:nvPr>
        </p:nvSpPr>
        <p:spPr>
          <a:xfrm>
            <a:off x="4655675" y="956675"/>
            <a:ext cx="3965400" cy="77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274300" lIns="274300" spcFirstLastPara="1" rIns="27430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43" name="Google Shape;243;p49"/>
          <p:cNvSpPr txBox="1"/>
          <p:nvPr>
            <p:ph idx="3" type="subTitle"/>
          </p:nvPr>
        </p:nvSpPr>
        <p:spPr>
          <a:xfrm>
            <a:off x="4655675" y="522900"/>
            <a:ext cx="3965400" cy="44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0" lIns="274300" spcFirstLastPara="1" rIns="274300" wrap="square" tIns="274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44" name="Google Shape;244;p49"/>
          <p:cNvSpPr txBox="1"/>
          <p:nvPr>
            <p:ph idx="4" type="body"/>
          </p:nvPr>
        </p:nvSpPr>
        <p:spPr>
          <a:xfrm>
            <a:off x="524350" y="4144800"/>
            <a:ext cx="1558800" cy="4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37150" lIns="137150" spcFirstLastPara="1" rIns="137150" wrap="square" tIns="13715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45" name="Google Shape;245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+ Image">
  <p:cSld name="CUSTOM_1">
    <p:bg>
      <p:bgPr>
        <a:solidFill>
          <a:schemeClr val="lt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0"/>
          <p:cNvSpPr/>
          <p:nvPr>
            <p:ph idx="2" type="pic"/>
          </p:nvPr>
        </p:nvSpPr>
        <p:spPr>
          <a:xfrm>
            <a:off x="5485725" y="523025"/>
            <a:ext cx="3135300" cy="409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8" name="Google Shape;248;p50"/>
          <p:cNvSpPr txBox="1"/>
          <p:nvPr>
            <p:ph type="title"/>
          </p:nvPr>
        </p:nvSpPr>
        <p:spPr>
          <a:xfrm>
            <a:off x="591441" y="391675"/>
            <a:ext cx="4397400" cy="3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49" name="Google Shape;249;p50"/>
          <p:cNvSpPr txBox="1"/>
          <p:nvPr>
            <p:ph idx="1" type="body"/>
          </p:nvPr>
        </p:nvSpPr>
        <p:spPr>
          <a:xfrm>
            <a:off x="638750" y="4413181"/>
            <a:ext cx="55371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0" name="Google Shape;250;p5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+ 5 Images">
  <p:cSld name="CUSTOM_2">
    <p:bg>
      <p:bgPr>
        <a:solidFill>
          <a:schemeClr val="dk1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51"/>
          <p:cNvSpPr txBox="1"/>
          <p:nvPr>
            <p:ph idx="1" type="body"/>
          </p:nvPr>
        </p:nvSpPr>
        <p:spPr>
          <a:xfrm>
            <a:off x="5481425" y="2715575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3" name="Google Shape;253;p51"/>
          <p:cNvSpPr txBox="1"/>
          <p:nvPr>
            <p:ph idx="2" type="body"/>
          </p:nvPr>
        </p:nvSpPr>
        <p:spPr>
          <a:xfrm>
            <a:off x="3918400" y="2715725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4" name="Google Shape;254;p51"/>
          <p:cNvSpPr txBox="1"/>
          <p:nvPr>
            <p:ph idx="3" type="body"/>
          </p:nvPr>
        </p:nvSpPr>
        <p:spPr>
          <a:xfrm>
            <a:off x="2349550" y="2715575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5" name="Google Shape;255;p51"/>
          <p:cNvSpPr txBox="1"/>
          <p:nvPr>
            <p:ph idx="4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6" name="Google Shape;256;p51"/>
          <p:cNvSpPr txBox="1"/>
          <p:nvPr>
            <p:ph idx="5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7" name="Google Shape;257;p51"/>
          <p:cNvSpPr txBox="1"/>
          <p:nvPr>
            <p:ph idx="6" type="body"/>
          </p:nvPr>
        </p:nvSpPr>
        <p:spPr>
          <a:xfrm>
            <a:off x="7044450" y="2715500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258" name="Google Shape;258;p51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51"/>
          <p:cNvSpPr/>
          <p:nvPr>
            <p:ph idx="7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0" name="Google Shape;260;p51"/>
          <p:cNvSpPr/>
          <p:nvPr>
            <p:ph idx="8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1" name="Google Shape;261;p51"/>
          <p:cNvSpPr/>
          <p:nvPr>
            <p:ph idx="9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2" name="Google Shape;262;p51"/>
          <p:cNvSpPr/>
          <p:nvPr>
            <p:ph idx="13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3" name="Google Shape;263;p51"/>
          <p:cNvSpPr/>
          <p:nvPr>
            <p:ph idx="14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4" name="Google Shape;264;p51"/>
          <p:cNvSpPr txBox="1"/>
          <p:nvPr>
            <p:ph idx="15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65" name="Google Shape;265;p51"/>
          <p:cNvSpPr txBox="1"/>
          <p:nvPr>
            <p:ph idx="16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66" name="Google Shape;266;p51"/>
          <p:cNvSpPr txBox="1"/>
          <p:nvPr>
            <p:ph idx="17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7" name="Google Shape;267;p51"/>
          <p:cNvSpPr txBox="1"/>
          <p:nvPr>
            <p:ph idx="18" type="body"/>
          </p:nvPr>
        </p:nvSpPr>
        <p:spPr>
          <a:xfrm>
            <a:off x="3915488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8" name="Google Shape;268;p51"/>
          <p:cNvSpPr txBox="1"/>
          <p:nvPr>
            <p:ph idx="19" type="body"/>
          </p:nvPr>
        </p:nvSpPr>
        <p:spPr>
          <a:xfrm>
            <a:off x="5479963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9" name="Google Shape;269;p51"/>
          <p:cNvSpPr txBox="1"/>
          <p:nvPr>
            <p:ph idx="20" type="body"/>
          </p:nvPr>
        </p:nvSpPr>
        <p:spPr>
          <a:xfrm>
            <a:off x="7047338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70" name="Google Shape;270;p5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egy Canvas / Line Graph">
  <p:cSld name="CUSTOM_3">
    <p:bg>
      <p:bgPr>
        <a:solidFill>
          <a:schemeClr val="dk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2"/>
          <p:cNvSpPr txBox="1"/>
          <p:nvPr>
            <p:ph idx="1" type="body"/>
          </p:nvPr>
        </p:nvSpPr>
        <p:spPr>
          <a:xfrm>
            <a:off x="3917825" y="4024920"/>
            <a:ext cx="44412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73" name="Google Shape;273;p52"/>
          <p:cNvSpPr txBox="1"/>
          <p:nvPr>
            <p:ph idx="2" type="subTitle"/>
          </p:nvPr>
        </p:nvSpPr>
        <p:spPr>
          <a:xfrm>
            <a:off x="783675" y="3967895"/>
            <a:ext cx="2877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74" name="Google Shape;274;p5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4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3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77" name="Google Shape;277;p53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78" name="Google Shape;278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 / Objectives">
  <p:cSld name="CUSTOM_5">
    <p:bg>
      <p:bgPr>
        <a:solidFill>
          <a:schemeClr val="dk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4"/>
          <p:cNvSpPr/>
          <p:nvPr/>
        </p:nvSpPr>
        <p:spPr>
          <a:xfrm rot="-5400000">
            <a:off x="4090300" y="-436575"/>
            <a:ext cx="4099200" cy="60150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54"/>
          <p:cNvSpPr txBox="1"/>
          <p:nvPr>
            <p:ph idx="1" type="body"/>
          </p:nvPr>
        </p:nvSpPr>
        <p:spPr>
          <a:xfrm>
            <a:off x="3918400" y="3680775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2" name="Google Shape;282;p54"/>
          <p:cNvSpPr txBox="1"/>
          <p:nvPr>
            <p:ph idx="2" type="body"/>
          </p:nvPr>
        </p:nvSpPr>
        <p:spPr>
          <a:xfrm>
            <a:off x="3918400" y="3780825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3" name="Google Shape;283;p54"/>
          <p:cNvSpPr txBox="1"/>
          <p:nvPr>
            <p:ph idx="3" type="body"/>
          </p:nvPr>
        </p:nvSpPr>
        <p:spPr>
          <a:xfrm>
            <a:off x="7044450" y="36805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4" name="Google Shape;284;p54"/>
          <p:cNvSpPr txBox="1"/>
          <p:nvPr>
            <p:ph idx="4" type="body"/>
          </p:nvPr>
        </p:nvSpPr>
        <p:spPr>
          <a:xfrm>
            <a:off x="7044450" y="3780600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5" name="Google Shape;285;p54"/>
          <p:cNvSpPr/>
          <p:nvPr>
            <p:ph idx="5" type="pic"/>
          </p:nvPr>
        </p:nvSpPr>
        <p:spPr>
          <a:xfrm>
            <a:off x="7049625" y="15881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6" name="Google Shape;286;p54"/>
          <p:cNvSpPr/>
          <p:nvPr>
            <p:ph idx="6" type="pic"/>
          </p:nvPr>
        </p:nvSpPr>
        <p:spPr>
          <a:xfrm>
            <a:off x="3915213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7" name="Google Shape;287;p54"/>
          <p:cNvSpPr/>
          <p:nvPr>
            <p:ph idx="7" type="pic"/>
          </p:nvPr>
        </p:nvSpPr>
        <p:spPr>
          <a:xfrm>
            <a:off x="5490975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8" name="Google Shape;288;p54"/>
          <p:cNvSpPr txBox="1"/>
          <p:nvPr>
            <p:ph idx="8" type="subTitle"/>
          </p:nvPr>
        </p:nvSpPr>
        <p:spPr>
          <a:xfrm>
            <a:off x="3918800" y="1034575"/>
            <a:ext cx="1307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89" name="Google Shape;289;p54"/>
          <p:cNvSpPr txBox="1"/>
          <p:nvPr>
            <p:ph idx="9" type="subTitle"/>
          </p:nvPr>
        </p:nvSpPr>
        <p:spPr>
          <a:xfrm>
            <a:off x="5484775" y="1034575"/>
            <a:ext cx="1307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90" name="Google Shape;290;p54"/>
          <p:cNvSpPr txBox="1"/>
          <p:nvPr>
            <p:ph idx="13" type="subTitle"/>
          </p:nvPr>
        </p:nvSpPr>
        <p:spPr>
          <a:xfrm>
            <a:off x="7050750" y="1032775"/>
            <a:ext cx="1307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91" name="Google Shape;291;p54"/>
          <p:cNvSpPr txBox="1"/>
          <p:nvPr>
            <p:ph idx="14" type="body"/>
          </p:nvPr>
        </p:nvSpPr>
        <p:spPr>
          <a:xfrm>
            <a:off x="507400" y="1828050"/>
            <a:ext cx="2136300" cy="29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92" name="Google Shape;292;p54"/>
          <p:cNvSpPr txBox="1"/>
          <p:nvPr>
            <p:ph idx="15" type="body"/>
          </p:nvPr>
        </p:nvSpPr>
        <p:spPr>
          <a:xfrm>
            <a:off x="5481425" y="3680775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3" name="Google Shape;293;p54"/>
          <p:cNvSpPr txBox="1"/>
          <p:nvPr>
            <p:ph idx="16" type="body"/>
          </p:nvPr>
        </p:nvSpPr>
        <p:spPr>
          <a:xfrm>
            <a:off x="5481425" y="3780825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4" name="Google Shape;294;p5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rgbClr val="E46962"/>
          </p15:clr>
        </p15:guide>
        <p15:guide id="2" orient="horz" pos="2088">
          <p15:clr>
            <a:srgbClr val="E46962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Plan + 5 Images">
  <p:cSld name="CUSTOM_6">
    <p:bg>
      <p:bgPr>
        <a:solidFill>
          <a:schemeClr val="accent6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5"/>
          <p:cNvSpPr txBox="1"/>
          <p:nvPr>
            <p:ph idx="1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7" name="Google Shape;297;p55"/>
          <p:cNvSpPr txBox="1"/>
          <p:nvPr>
            <p:ph idx="2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298" name="Google Shape;298;p55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" name="Google Shape;299;p55"/>
          <p:cNvSpPr/>
          <p:nvPr>
            <p:ph idx="3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0" name="Google Shape;300;p55"/>
          <p:cNvSpPr/>
          <p:nvPr>
            <p:ph idx="4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1" name="Google Shape;301;p55"/>
          <p:cNvSpPr/>
          <p:nvPr>
            <p:ph idx="5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2" name="Google Shape;302;p55"/>
          <p:cNvSpPr/>
          <p:nvPr>
            <p:ph idx="6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3" name="Google Shape;303;p55"/>
          <p:cNvSpPr/>
          <p:nvPr>
            <p:ph idx="7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4" name="Google Shape;304;p55"/>
          <p:cNvSpPr txBox="1"/>
          <p:nvPr>
            <p:ph idx="8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5" name="Google Shape;305;p55"/>
          <p:cNvSpPr txBox="1"/>
          <p:nvPr>
            <p:ph idx="9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06" name="Google Shape;306;p55"/>
          <p:cNvSpPr txBox="1"/>
          <p:nvPr>
            <p:ph idx="13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7" name="Google Shape;307;p55"/>
          <p:cNvSpPr txBox="1"/>
          <p:nvPr>
            <p:ph idx="14" type="body"/>
          </p:nvPr>
        </p:nvSpPr>
        <p:spPr>
          <a:xfrm>
            <a:off x="2349500" y="2715500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8" name="Google Shape;308;p55"/>
          <p:cNvSpPr txBox="1"/>
          <p:nvPr>
            <p:ph idx="15" type="body"/>
          </p:nvPr>
        </p:nvSpPr>
        <p:spPr>
          <a:xfrm>
            <a:off x="3907850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9" name="Google Shape;309;p55"/>
          <p:cNvSpPr txBox="1"/>
          <p:nvPr>
            <p:ph idx="16" type="body"/>
          </p:nvPr>
        </p:nvSpPr>
        <p:spPr>
          <a:xfrm>
            <a:off x="3907850" y="2715500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0" name="Google Shape;310;p55"/>
          <p:cNvSpPr txBox="1"/>
          <p:nvPr>
            <p:ph idx="17" type="body"/>
          </p:nvPr>
        </p:nvSpPr>
        <p:spPr>
          <a:xfrm>
            <a:off x="5496525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1" name="Google Shape;311;p55"/>
          <p:cNvSpPr txBox="1"/>
          <p:nvPr>
            <p:ph idx="18" type="body"/>
          </p:nvPr>
        </p:nvSpPr>
        <p:spPr>
          <a:xfrm>
            <a:off x="5496525" y="2715500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2" name="Google Shape;312;p55"/>
          <p:cNvSpPr txBox="1"/>
          <p:nvPr>
            <p:ph idx="19" type="body"/>
          </p:nvPr>
        </p:nvSpPr>
        <p:spPr>
          <a:xfrm>
            <a:off x="7085200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3" name="Google Shape;313;p55"/>
          <p:cNvSpPr txBox="1"/>
          <p:nvPr>
            <p:ph idx="20" type="body"/>
          </p:nvPr>
        </p:nvSpPr>
        <p:spPr>
          <a:xfrm>
            <a:off x="7085200" y="2715500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4" name="Google Shape;314;p5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Graphic">
  <p:cSld name="CUSTOM_9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6"/>
          <p:cNvSpPr txBox="1"/>
          <p:nvPr>
            <p:ph idx="1" type="body"/>
          </p:nvPr>
        </p:nvSpPr>
        <p:spPr>
          <a:xfrm>
            <a:off x="3133000" y="514275"/>
            <a:ext cx="38907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17" name="Google Shape;317;p56"/>
          <p:cNvSpPr txBox="1"/>
          <p:nvPr>
            <p:ph idx="2" type="body"/>
          </p:nvPr>
        </p:nvSpPr>
        <p:spPr>
          <a:xfrm>
            <a:off x="657679" y="436194"/>
            <a:ext cx="2278800" cy="19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18" name="Google Shape;318;p5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94">
          <p15:clr>
            <a:srgbClr val="E46962"/>
          </p15:clr>
        </p15:guide>
        <p15:guide id="2" orient="horz" pos="504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/ Graphic">
  <p:cSld name="CUSTOM_12">
    <p:bg>
      <p:bgPr>
        <a:solidFill>
          <a:schemeClr val="dk1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7"/>
          <p:cNvSpPr txBox="1"/>
          <p:nvPr>
            <p:ph idx="1" type="body"/>
          </p:nvPr>
        </p:nvSpPr>
        <p:spPr>
          <a:xfrm>
            <a:off x="569725" y="3435300"/>
            <a:ext cx="28842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21" name="Google Shape;321;p57"/>
          <p:cNvSpPr txBox="1"/>
          <p:nvPr>
            <p:ph idx="2" type="subTitle"/>
          </p:nvPr>
        </p:nvSpPr>
        <p:spPr>
          <a:xfrm>
            <a:off x="466802" y="445100"/>
            <a:ext cx="24036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22" name="Google Shape;322;p5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1">
          <p15:clr>
            <a:srgbClr val="E46962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5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42d93776e7_0_6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25" name="Google Shape;325;g342d93776e7_0_6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26" name="Google Shape;326;g342d93776e7_0_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6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42d93776e7_0_15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29" name="Google Shape;329;g342d93776e7_0_15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30" name="Google Shape;330;g342d93776e7_0_1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8" Type="http://schemas.openxmlformats.org/officeDocument/2006/relationships/theme" Target="../theme/theme2.xml"/><Relationship Id="rId25" Type="http://schemas.openxmlformats.org/officeDocument/2006/relationships/slideLayout" Target="../slideLayouts/slideLayout25.xml"/><Relationship Id="rId47" Type="http://schemas.openxmlformats.org/officeDocument/2006/relationships/slideLayout" Target="../slideLayouts/slideLayout47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9950" y="300125"/>
            <a:ext cx="83538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"/>
              <a:buNone/>
              <a:defRPr b="0" i="0" sz="3600" u="none" cap="none" strike="noStrike">
                <a:solidFill>
                  <a:schemeClr val="dk1"/>
                </a:solidFill>
                <a:latin typeface="Hepta Slab"/>
                <a:ea typeface="Hepta Slab"/>
                <a:cs typeface="Hepta Slab"/>
                <a:sym typeface="Hepta Slab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pta Slab"/>
              <a:buNone/>
              <a:defRPr b="0" i="0" sz="1400" u="none" cap="none" strike="noStrike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pta Slab"/>
              <a:buNone/>
              <a:defRPr b="0" i="0" sz="1400" u="none" cap="none" strike="noStrike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pta Slab"/>
              <a:buNone/>
              <a:defRPr b="0" i="0" sz="1400" u="none" cap="none" strike="noStrike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pta Slab"/>
              <a:buNone/>
              <a:defRPr b="0" i="0" sz="1400" u="none" cap="none" strike="noStrike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pta Slab"/>
              <a:buNone/>
              <a:defRPr b="0" i="0" sz="1400" u="none" cap="none" strike="noStrike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pta Slab"/>
              <a:buNone/>
              <a:defRPr b="0" i="0" sz="1400" u="none" cap="none" strike="noStrike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pta Slab"/>
              <a:buNone/>
              <a:defRPr b="0" i="0" sz="1400" u="none" cap="none" strike="noStrike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pta Slab"/>
              <a:buNone/>
              <a:defRPr b="0" i="0" sz="1400" u="none" cap="none" strike="noStrike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536575" y="2676025"/>
            <a:ext cx="52755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  <a:defRPr b="0" i="0" sz="15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Light"/>
              <a:buChar char="○"/>
              <a:defRPr b="0" i="0" sz="14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111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Light"/>
              <a:buChar char="■"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Light"/>
              <a:buChar char="●"/>
              <a:defRPr b="0" i="0" sz="12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 Light"/>
              <a:buChar char="○"/>
              <a:defRPr b="0" i="0" sz="11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Barlow Light"/>
              <a:buChar char="■"/>
              <a:defRPr b="0" i="0" sz="1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 Light"/>
              <a:buChar char="●"/>
              <a:defRPr b="0" i="0" sz="9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2794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Barlow Light"/>
              <a:buChar char="○"/>
              <a:defRPr b="0" i="0" sz="8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2730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 Light"/>
              <a:buChar char="■"/>
              <a:defRPr b="0" i="0" sz="8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cs.google.com/document/d/1crl3VzFM-i7UaY0esLknxvKKW5h5rfKjEYDqbjlHG6A/edit?usp=sharing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cs.google.com/document/d/1YdJNfndhzGOIDRdHM1Quy_i1n14hw0CxQHkkc1xT5Cw/edit?usp=sharing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ocs.google.com/spreadsheets/d/1j7DsYYJTefCkLUwS8AEI9wyx_nOQqFluB2rP78HGAMI/edit?usp=sharing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hyperlink" Target="https://practicetestautomation.com/practice-test-login/" TargetMode="External"/><Relationship Id="rId5" Type="http://schemas.openxmlformats.org/officeDocument/2006/relationships/hyperlink" Target="https://docs.google.com/spreadsheets/d/1Zabrl_xtuoQcRDAyiK-H4bG-cgpw2SFC/edit?usp=sharing&amp;ouid=113334828681585070571&amp;rtpof=true&amp;sd=true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cs.google.com/spreadsheets/d/1U66jwot40-1FEsi8Prz59O0AGAHqgFyaDrEVNk0s9hw/edit?usp=sharing" TargetMode="External"/><Relationship Id="rId4" Type="http://schemas.openxmlformats.org/officeDocument/2006/relationships/hyperlink" Target="https://www.startech.com.bd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ocs.google.com/spreadsheets/d/1j7DsYYJTefCkLUwS8AEI9wyx_nOQqFluB2rP78HGAMI/edit?usp=sharing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docs.google.com/document/d/1FzAA2LXAa2L6pN9LRR6edXfoOr6hQeWt/edit?usp=sharing&amp;ouid=113334828681585070571&amp;rtpof=true&amp;sd=true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4ac054550d_0_5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5200">
                <a:latin typeface="Arial"/>
                <a:ea typeface="Arial"/>
                <a:cs typeface="Arial"/>
                <a:sym typeface="Arial"/>
              </a:rPr>
              <a:t>STLC Process</a:t>
            </a:r>
            <a:endParaRPr/>
          </a:p>
        </p:txBody>
      </p:sp>
      <p:sp>
        <p:nvSpPr>
          <p:cNvPr id="336" name="Google Shape;336;g34ac054550d_0_5"/>
          <p:cNvSpPr txBox="1"/>
          <p:nvPr>
            <p:ph idx="2" type="subTitle"/>
          </p:nvPr>
        </p:nvSpPr>
        <p:spPr>
          <a:xfrm>
            <a:off x="2137025" y="2104350"/>
            <a:ext cx="50073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Software Testing Life Cycle</a:t>
            </a:r>
            <a:endParaRPr/>
          </a:p>
        </p:txBody>
      </p:sp>
      <p:sp>
        <p:nvSpPr>
          <p:cNvPr id="337" name="Google Shape;337;g34ac054550d_0_5"/>
          <p:cNvSpPr txBox="1"/>
          <p:nvPr>
            <p:ph idx="2" type="subTitle"/>
          </p:nvPr>
        </p:nvSpPr>
        <p:spPr>
          <a:xfrm>
            <a:off x="2689200" y="3039150"/>
            <a:ext cx="37656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SQA: Manual &amp; Automated Testing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"/>
          <p:cNvSpPr txBox="1"/>
          <p:nvPr/>
        </p:nvSpPr>
        <p:spPr>
          <a:xfrm>
            <a:off x="208950" y="230875"/>
            <a:ext cx="8080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</a:rPr>
              <a:t>What is </a:t>
            </a:r>
            <a:r>
              <a:rPr lang="en" sz="4000">
                <a:solidFill>
                  <a:srgbClr val="FFFFFF"/>
                </a:solidFill>
              </a:rPr>
              <a:t>STLC?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343" name="Google Shape;343;p2"/>
          <p:cNvSpPr txBox="1"/>
          <p:nvPr/>
        </p:nvSpPr>
        <p:spPr>
          <a:xfrm>
            <a:off x="155950" y="924925"/>
            <a:ext cx="85461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lang="en" sz="1600">
                <a:solidFill>
                  <a:srgbClr val="FFFFFF"/>
                </a:solidFill>
              </a:rPr>
              <a:t>Software Testing Life Cycle (STLC) illustrates the phases of testing that a certain piece of software must go through in order to meet certain specified quality requirements</a:t>
            </a:r>
            <a:endParaRPr sz="1600">
              <a:solidFill>
                <a:srgbClr val="FFFFFF"/>
              </a:solidFill>
            </a:endParaRPr>
          </a:p>
          <a:p>
            <a:pPr indent="-3302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lang="en" sz="1600">
                <a:solidFill>
                  <a:srgbClr val="FFFFFF"/>
                </a:solidFill>
              </a:rPr>
              <a:t>STLC is a part of the software development life cycle (SDLC) in which testing takes place</a:t>
            </a:r>
            <a:endParaRPr sz="1600">
              <a:solidFill>
                <a:srgbClr val="FFFFFF"/>
              </a:solidFill>
            </a:endParaRPr>
          </a:p>
          <a:p>
            <a:pPr indent="-3302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lang="en" sz="1600">
                <a:solidFill>
                  <a:srgbClr val="FFFFFF"/>
                </a:solidFill>
              </a:rPr>
              <a:t>Testing team prepares to test, executes the testing and reflects on the testing process</a:t>
            </a:r>
            <a:endParaRPr sz="1600">
              <a:solidFill>
                <a:srgbClr val="FFFFFF"/>
              </a:solidFill>
            </a:endParaRPr>
          </a:p>
          <a:p>
            <a:pPr indent="-3302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lang="en" sz="1600">
                <a:solidFill>
                  <a:srgbClr val="FFFFFF"/>
                </a:solidFill>
              </a:rPr>
              <a:t>STLC allow a software development team takes to ensure their product is high quality and error-free before delivering it to the client and users.</a:t>
            </a:r>
            <a:endParaRPr sz="1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4ee79a0bda_0_203"/>
          <p:cNvSpPr txBox="1"/>
          <p:nvPr/>
        </p:nvSpPr>
        <p:spPr>
          <a:xfrm>
            <a:off x="208950" y="230875"/>
            <a:ext cx="8080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</a:rPr>
              <a:t>Benefits of STLC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349" name="Google Shape;349;g34ee79a0bda_0_203"/>
          <p:cNvSpPr txBox="1"/>
          <p:nvPr/>
        </p:nvSpPr>
        <p:spPr>
          <a:xfrm>
            <a:off x="177900" y="815225"/>
            <a:ext cx="88962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b="1" lang="en" sz="1500">
                <a:solidFill>
                  <a:srgbClr val="FFFFFF"/>
                </a:solidFill>
              </a:rPr>
              <a:t>Structured Approach: </a:t>
            </a:r>
            <a:r>
              <a:rPr lang="en" sz="1500">
                <a:solidFill>
                  <a:srgbClr val="FFFFFF"/>
                </a:solidFill>
              </a:rPr>
              <a:t>Provides a clear, systematic process for testing, ensuring no phase is overlooked.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b="1" lang="en" sz="1500">
                <a:solidFill>
                  <a:srgbClr val="FFFFFF"/>
                </a:solidFill>
              </a:rPr>
              <a:t>Early Defect Detection:</a:t>
            </a:r>
            <a:r>
              <a:rPr lang="en" sz="1500">
                <a:solidFill>
                  <a:srgbClr val="FFFFFF"/>
                </a:solidFill>
              </a:rPr>
              <a:t> Identifies issues in the early stages, reducing cost and time for fixes.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b="1" lang="en" sz="1500">
                <a:solidFill>
                  <a:srgbClr val="FFFFFF"/>
                </a:solidFill>
              </a:rPr>
              <a:t>Improved Test Coverage:</a:t>
            </a:r>
            <a:r>
              <a:rPr lang="en" sz="1500">
                <a:solidFill>
                  <a:srgbClr val="FFFFFF"/>
                </a:solidFill>
              </a:rPr>
              <a:t> Ensures all requirements are thoroughly tested, minimizing risks of missed scenarios.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b="1" lang="en" sz="1500">
                <a:solidFill>
                  <a:srgbClr val="FFFFFF"/>
                </a:solidFill>
              </a:rPr>
              <a:t>Enhanced Collaboration: </a:t>
            </a:r>
            <a:r>
              <a:rPr lang="en" sz="1500">
                <a:solidFill>
                  <a:srgbClr val="FFFFFF"/>
                </a:solidFill>
              </a:rPr>
              <a:t>Encourages coordination between developers, testers, and stakeholders for better outcomes.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b="1" lang="en" sz="1500">
                <a:solidFill>
                  <a:srgbClr val="FFFFFF"/>
                </a:solidFill>
              </a:rPr>
              <a:t>Quality Assurance: </a:t>
            </a:r>
            <a:r>
              <a:rPr lang="en" sz="1500">
                <a:solidFill>
                  <a:srgbClr val="FFFFFF"/>
                </a:solidFill>
              </a:rPr>
              <a:t>Guarantees a high-quality software product by following a disciplined testing process..</a:t>
            </a:r>
            <a:endParaRPr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4ee79a0bda_0_208"/>
          <p:cNvSpPr txBox="1"/>
          <p:nvPr/>
        </p:nvSpPr>
        <p:spPr>
          <a:xfrm>
            <a:off x="208950" y="230875"/>
            <a:ext cx="8080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</a:rPr>
              <a:t>Benefits of </a:t>
            </a:r>
            <a:r>
              <a:rPr lang="en" sz="4000">
                <a:solidFill>
                  <a:srgbClr val="FFFFFF"/>
                </a:solidFill>
              </a:rPr>
              <a:t>STLC…cont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355" name="Google Shape;355;g34ee79a0bda_0_208"/>
          <p:cNvSpPr txBox="1"/>
          <p:nvPr/>
        </p:nvSpPr>
        <p:spPr>
          <a:xfrm>
            <a:off x="208950" y="838275"/>
            <a:ext cx="88761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b="1" lang="en" sz="1500">
                <a:solidFill>
                  <a:srgbClr val="FFFFFF"/>
                </a:solidFill>
              </a:rPr>
              <a:t>Defined Roles and Responsibilities:</a:t>
            </a:r>
            <a:r>
              <a:rPr lang="en" sz="1500">
                <a:solidFill>
                  <a:srgbClr val="FFFFFF"/>
                </a:solidFill>
              </a:rPr>
              <a:t> Clarifies tasks for each phase, improving accountability and efficiency.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b="1" lang="en" sz="1500">
                <a:solidFill>
                  <a:srgbClr val="FFFFFF"/>
                </a:solidFill>
              </a:rPr>
              <a:t>Scalability and Reusability:</a:t>
            </a:r>
            <a:r>
              <a:rPr lang="en" sz="1500">
                <a:solidFill>
                  <a:srgbClr val="FFFFFF"/>
                </a:solidFill>
              </a:rPr>
              <a:t> Facilitates test case reuse and scalability for future testing needs.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b="1" lang="en" sz="1500">
                <a:solidFill>
                  <a:srgbClr val="FFFFFF"/>
                </a:solidFill>
              </a:rPr>
              <a:t>Better Resource Management:</a:t>
            </a:r>
            <a:r>
              <a:rPr lang="en" sz="1500">
                <a:solidFill>
                  <a:srgbClr val="FFFFFF"/>
                </a:solidFill>
              </a:rPr>
              <a:t> Optimizes the use of time, tools, and human resources during testing.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b="1" lang="en" sz="1500">
                <a:solidFill>
                  <a:srgbClr val="FFFFFF"/>
                </a:solidFill>
              </a:rPr>
              <a:t>Informed Decision-Making:</a:t>
            </a:r>
            <a:r>
              <a:rPr lang="en" sz="1500">
                <a:solidFill>
                  <a:srgbClr val="FFFFFF"/>
                </a:solidFill>
              </a:rPr>
              <a:t> Provides detailed documentation and reports, aiding stakeholders in making data-driven decisions.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b="1" lang="en" sz="1500">
                <a:solidFill>
                  <a:srgbClr val="FFFFFF"/>
                </a:solidFill>
              </a:rPr>
              <a:t>Customer Satisfaction:</a:t>
            </a:r>
            <a:r>
              <a:rPr lang="en" sz="1500">
                <a:solidFill>
                  <a:srgbClr val="FFFFFF"/>
                </a:solidFill>
              </a:rPr>
              <a:t> Ensures a reliable, bug-free product, improving end-user experience and trust.</a:t>
            </a:r>
            <a:endParaRPr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4ee79a0bda_0_197"/>
          <p:cNvSpPr txBox="1"/>
          <p:nvPr/>
        </p:nvSpPr>
        <p:spPr>
          <a:xfrm>
            <a:off x="208950" y="230875"/>
            <a:ext cx="8080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</a:rPr>
              <a:t>Phases of the </a:t>
            </a:r>
            <a:r>
              <a:rPr lang="en" sz="4000">
                <a:solidFill>
                  <a:srgbClr val="FFFFFF"/>
                </a:solidFill>
              </a:rPr>
              <a:t>STLC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361" name="Google Shape;361;g34ee79a0bda_0_197"/>
          <p:cNvSpPr txBox="1"/>
          <p:nvPr/>
        </p:nvSpPr>
        <p:spPr>
          <a:xfrm>
            <a:off x="155950" y="924925"/>
            <a:ext cx="31815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Requirement Analysis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Test Planning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Test Case Development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Test Environment Setup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Test Execution</a:t>
            </a:r>
            <a:endParaRPr sz="1500">
              <a:solidFill>
                <a:srgbClr val="FFFFFF"/>
              </a:solidFill>
            </a:endParaRPr>
          </a:p>
          <a:p>
            <a:pPr indent="-3238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○"/>
            </a:pPr>
            <a:r>
              <a:rPr lang="en" sz="1500">
                <a:solidFill>
                  <a:srgbClr val="FFFFFF"/>
                </a:solidFill>
              </a:rPr>
              <a:t>Defect tracking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Test Cycle Closure</a:t>
            </a:r>
            <a:endParaRPr sz="1500">
              <a:solidFill>
                <a:srgbClr val="FFFFFF"/>
              </a:solidFill>
            </a:endParaRPr>
          </a:p>
        </p:txBody>
      </p:sp>
      <p:pic>
        <p:nvPicPr>
          <p:cNvPr id="362" name="Google Shape;362;g34ee79a0bda_0_197"/>
          <p:cNvPicPr preferRelativeResize="0"/>
          <p:nvPr/>
        </p:nvPicPr>
        <p:blipFill rotWithShape="1">
          <a:blip r:embed="rId3">
            <a:alphaModFix/>
          </a:blip>
          <a:srcRect b="0" l="10216" r="11198" t="0"/>
          <a:stretch/>
        </p:blipFill>
        <p:spPr>
          <a:xfrm>
            <a:off x="2956200" y="945175"/>
            <a:ext cx="5988100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42d93776e7_0_195"/>
          <p:cNvSpPr txBox="1"/>
          <p:nvPr/>
        </p:nvSpPr>
        <p:spPr>
          <a:xfrm>
            <a:off x="208950" y="230875"/>
            <a:ext cx="8080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</a:rPr>
              <a:t>Requirement Analysis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368" name="Google Shape;368;g342d93776e7_0_195"/>
          <p:cNvSpPr txBox="1"/>
          <p:nvPr/>
        </p:nvSpPr>
        <p:spPr>
          <a:xfrm>
            <a:off x="384550" y="1077325"/>
            <a:ext cx="84732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Studies and analyzes the requirements from a testing perspective.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Identify testable requirements.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Collaboration between testers and stakeholders.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From overall to unit feature with WH questions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Requirement analysis can be done from any formal documents/</a:t>
            </a:r>
            <a:r>
              <a:rPr lang="en" sz="1500">
                <a:solidFill>
                  <a:srgbClr val="FFFFFF"/>
                </a:solidFill>
              </a:rPr>
              <a:t>email</a:t>
            </a:r>
            <a:r>
              <a:rPr lang="en" sz="1500">
                <a:solidFill>
                  <a:srgbClr val="FFFFFF"/>
                </a:solidFill>
              </a:rPr>
              <a:t>/chat history/hand note/sketch etc.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Formal documents can be: PRD (Product Requirement Document), </a:t>
            </a:r>
            <a:r>
              <a:rPr lang="en" sz="1500">
                <a:solidFill>
                  <a:schemeClr val="dk1"/>
                </a:solidFill>
              </a:rPr>
              <a:t>B</a:t>
            </a:r>
            <a:r>
              <a:rPr lang="en" sz="1500">
                <a:solidFill>
                  <a:schemeClr val="dk1"/>
                </a:solidFill>
              </a:rPr>
              <a:t>RD (Business Requirement Document), SRS (Software Requirements Specification) etc. </a:t>
            </a:r>
            <a:r>
              <a:rPr b="1" lang="en" sz="1500" u="sng">
                <a:solidFill>
                  <a:srgbClr val="4A86E8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EXAMPLE</a:t>
            </a:r>
            <a:endParaRPr b="1" sz="1500"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42d93776e7_0_68"/>
          <p:cNvSpPr txBox="1"/>
          <p:nvPr/>
        </p:nvSpPr>
        <p:spPr>
          <a:xfrm>
            <a:off x="208950" y="230875"/>
            <a:ext cx="8080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</a:rPr>
              <a:t>Test Planning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374" name="Google Shape;374;g342d93776e7_0_68"/>
          <p:cNvSpPr txBox="1"/>
          <p:nvPr/>
        </p:nvSpPr>
        <p:spPr>
          <a:xfrm>
            <a:off x="384550" y="1077325"/>
            <a:ext cx="72972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The testing team creates a testing strategy and plan.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Defines scope, objectives, resources, and schedule for testing activities.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Test effort estimation and risk analysis.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Test plan document </a:t>
            </a:r>
            <a:r>
              <a:rPr b="1" lang="en" sz="1500">
                <a:solidFill>
                  <a:srgbClr val="FFFFFF"/>
                </a:solidFill>
              </a:rPr>
              <a:t>(</a:t>
            </a:r>
            <a:r>
              <a:rPr b="1" lang="en" sz="1500" u="sng">
                <a:solidFill>
                  <a:srgbClr val="4A86E8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URL</a:t>
            </a:r>
            <a:r>
              <a:rPr b="1" lang="en" sz="1500">
                <a:solidFill>
                  <a:srgbClr val="FFFFFF"/>
                </a:solidFill>
              </a:rPr>
              <a:t>)</a:t>
            </a:r>
            <a:endParaRPr b="1"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9b44278e94_4_0"/>
          <p:cNvSpPr txBox="1"/>
          <p:nvPr/>
        </p:nvSpPr>
        <p:spPr>
          <a:xfrm>
            <a:off x="208950" y="230875"/>
            <a:ext cx="8080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</a:rPr>
              <a:t>Summary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380" name="Google Shape;380;g39b44278e94_4_0"/>
          <p:cNvSpPr txBox="1"/>
          <p:nvPr/>
        </p:nvSpPr>
        <p:spPr>
          <a:xfrm>
            <a:off x="384550" y="1077325"/>
            <a:ext cx="72972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What is STLC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Benefits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Phases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Requirement Analysis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Test Planning</a:t>
            </a:r>
            <a:endParaRPr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4ac054550d_0_353"/>
          <p:cNvSpPr txBox="1"/>
          <p:nvPr/>
        </p:nvSpPr>
        <p:spPr>
          <a:xfrm>
            <a:off x="208950" y="230875"/>
            <a:ext cx="8080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</a:rPr>
              <a:t>Test Case Development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386" name="Google Shape;386;g34ac054550d_0_353"/>
          <p:cNvSpPr txBox="1"/>
          <p:nvPr/>
        </p:nvSpPr>
        <p:spPr>
          <a:xfrm>
            <a:off x="384550" y="1077325"/>
            <a:ext cx="72972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Test cases are created based on the requirements and planning.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Writing detailed test cases and test scripts.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Prioritizing test cases (e.g., functional, boundary, negative test cases).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Priority can be </a:t>
            </a:r>
            <a:r>
              <a:rPr lang="en" sz="1500">
                <a:solidFill>
                  <a:srgbClr val="FFFFFF"/>
                </a:solidFill>
              </a:rPr>
              <a:t>defined</a:t>
            </a:r>
            <a:r>
              <a:rPr lang="en" sz="1500">
                <a:solidFill>
                  <a:srgbClr val="FFFFFF"/>
                </a:solidFill>
              </a:rPr>
              <a:t> by: High, Medium, Low or P1 &gt; P2 &gt; P3 or </a:t>
            </a:r>
            <a:r>
              <a:rPr lang="en" sz="1500">
                <a:solidFill>
                  <a:srgbClr val="FFFFFF"/>
                </a:solidFill>
              </a:rPr>
              <a:t>Fibonacci</a:t>
            </a:r>
            <a:r>
              <a:rPr lang="en" sz="1500">
                <a:solidFill>
                  <a:srgbClr val="FFFFFF"/>
                </a:solidFill>
              </a:rPr>
              <a:t> number series (1 &gt; 2 &gt; 3 &gt; 5 &gt; 8 &gt; … decreasing priority as numbers grow)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Test case sample - short (</a:t>
            </a:r>
            <a:r>
              <a:rPr b="1" lang="en" sz="1500" u="sng">
                <a:solidFill>
                  <a:srgbClr val="4A86E8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URL</a:t>
            </a:r>
            <a:r>
              <a:rPr lang="en" sz="1500">
                <a:solidFill>
                  <a:srgbClr val="FFFFFF"/>
                </a:solidFill>
              </a:rPr>
              <a:t>)</a:t>
            </a:r>
            <a:endParaRPr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4ee79a0bda_0_545"/>
          <p:cNvSpPr txBox="1"/>
          <p:nvPr/>
        </p:nvSpPr>
        <p:spPr>
          <a:xfrm>
            <a:off x="81450" y="52800"/>
            <a:ext cx="6287700" cy="5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</a:rPr>
              <a:t>Sample Test Case</a:t>
            </a:r>
            <a:endParaRPr sz="3000">
              <a:solidFill>
                <a:srgbClr val="FFFFFF"/>
              </a:solidFill>
            </a:endParaRPr>
          </a:p>
        </p:txBody>
      </p:sp>
      <p:pic>
        <p:nvPicPr>
          <p:cNvPr id="392" name="Google Shape;392;g34ee79a0bda_0_5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50" y="1009332"/>
            <a:ext cx="9017349" cy="3124836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g34ee79a0bda_0_545"/>
          <p:cNvSpPr txBox="1"/>
          <p:nvPr/>
        </p:nvSpPr>
        <p:spPr>
          <a:xfrm>
            <a:off x="1660350" y="4298875"/>
            <a:ext cx="582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Test URL:</a:t>
            </a: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 </a:t>
            </a:r>
            <a:r>
              <a:rPr lang="en" sz="1500" u="sng">
                <a:solidFill>
                  <a:schemeClr val="hlink"/>
                </a:solidFill>
                <a:latin typeface="Barlow Light"/>
                <a:ea typeface="Barlow Light"/>
                <a:cs typeface="Barlow Light"/>
                <a:sym typeface="Barlow Light"/>
                <a:hlinkClick r:id="rId4"/>
              </a:rPr>
              <a:t>https://practicetestautomation.com/practice-test-login/</a:t>
            </a: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 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94" name="Google Shape;394;g34ee79a0bda_0_545"/>
          <p:cNvSpPr txBox="1"/>
          <p:nvPr/>
        </p:nvSpPr>
        <p:spPr>
          <a:xfrm>
            <a:off x="379000" y="628050"/>
            <a:ext cx="8153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Details Test Case Template (</a:t>
            </a:r>
            <a:r>
              <a:rPr b="1" lang="en" sz="1700" u="sng">
                <a:solidFill>
                  <a:srgbClr val="4A86E8"/>
                </a:solidFill>
                <a:latin typeface="Barlow"/>
                <a:ea typeface="Barlow"/>
                <a:cs typeface="Barlow"/>
                <a:sym typeface="Barlow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URL</a:t>
            </a:r>
            <a:r>
              <a:rPr b="1" lang="en" sz="17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)</a:t>
            </a:r>
            <a:endParaRPr b="1" sz="17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4ee79a0bda_0_1539"/>
          <p:cNvSpPr txBox="1"/>
          <p:nvPr/>
        </p:nvSpPr>
        <p:spPr>
          <a:xfrm>
            <a:off x="208950" y="230875"/>
            <a:ext cx="8080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</a:rPr>
              <a:t>Checklist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400" name="Google Shape;400;g34ee79a0bda_0_1539"/>
          <p:cNvSpPr txBox="1"/>
          <p:nvPr/>
        </p:nvSpPr>
        <p:spPr>
          <a:xfrm>
            <a:off x="384550" y="1077325"/>
            <a:ext cx="85164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A structured list of cases or tasks used to ensure thorough coverage and systematic verification </a:t>
            </a:r>
            <a:r>
              <a:rPr lang="en" sz="1500">
                <a:solidFill>
                  <a:schemeClr val="dk1"/>
                </a:solidFill>
              </a:rPr>
              <a:t>created based on the test cases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It acts as a guide, helping others (specially the development team) to remember all the necessary checks and ensuring that no critical step is missed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Prepared to reduce back and forth of features between Dev Team and QA Team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Checklist</a:t>
            </a:r>
            <a:r>
              <a:rPr lang="en" sz="1500">
                <a:solidFill>
                  <a:srgbClr val="FFFFFF"/>
                </a:solidFill>
              </a:rPr>
              <a:t> document (</a:t>
            </a:r>
            <a:r>
              <a:rPr b="1" lang="en" sz="1500" u="sng">
                <a:solidFill>
                  <a:srgbClr val="4A86E8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URL</a:t>
            </a:r>
            <a:r>
              <a:rPr lang="en" sz="1500">
                <a:solidFill>
                  <a:srgbClr val="FFFFFF"/>
                </a:solidFill>
              </a:rPr>
              <a:t>)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Testing URL: </a:t>
            </a:r>
            <a:r>
              <a:rPr lang="en" sz="1500" u="sng">
                <a:solidFill>
                  <a:schemeClr val="hlink"/>
                </a:solidFill>
                <a:hlinkClick r:id="rId4"/>
              </a:rPr>
              <a:t>https://www.startech.com.bd/</a:t>
            </a:r>
            <a:r>
              <a:rPr lang="en" sz="1500">
                <a:solidFill>
                  <a:srgbClr val="FFFFFF"/>
                </a:solidFill>
              </a:rPr>
              <a:t> </a:t>
            </a:r>
            <a:endParaRPr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"/>
          <p:cNvSpPr txBox="1"/>
          <p:nvPr/>
        </p:nvSpPr>
        <p:spPr>
          <a:xfrm>
            <a:off x="208950" y="230875"/>
            <a:ext cx="8080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</a:rPr>
              <a:t>Test Environment Setup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406" name="Google Shape;406;p3"/>
          <p:cNvSpPr txBox="1"/>
          <p:nvPr/>
        </p:nvSpPr>
        <p:spPr>
          <a:xfrm>
            <a:off x="384550" y="1077325"/>
            <a:ext cx="72972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Set Environment according to the need (Ex: Test URL/Server)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Set dataset (Ex: </a:t>
            </a:r>
            <a:r>
              <a:rPr lang="en" sz="1500">
                <a:solidFill>
                  <a:srgbClr val="FFFFFF"/>
                </a:solidFill>
              </a:rPr>
              <a:t>Different</a:t>
            </a:r>
            <a:r>
              <a:rPr lang="en" sz="1500">
                <a:solidFill>
                  <a:srgbClr val="FFFFFF"/>
                </a:solidFill>
              </a:rPr>
              <a:t> size/format files for File Upload)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Set operating system, or device according to the testing configuration (Android/iOS version)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Preparing APIs and </a:t>
            </a:r>
            <a:r>
              <a:rPr lang="en" sz="1500">
                <a:solidFill>
                  <a:srgbClr val="FFFFFF"/>
                </a:solidFill>
              </a:rPr>
              <a:t>Variables</a:t>
            </a:r>
            <a:r>
              <a:rPr lang="en" sz="1500">
                <a:solidFill>
                  <a:srgbClr val="FFFFFF"/>
                </a:solidFill>
              </a:rPr>
              <a:t>, values etc</a:t>
            </a:r>
            <a:endParaRPr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4ecf211fc6_3_0"/>
          <p:cNvSpPr txBox="1"/>
          <p:nvPr/>
        </p:nvSpPr>
        <p:spPr>
          <a:xfrm>
            <a:off x="208950" y="230875"/>
            <a:ext cx="8080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</a:rPr>
              <a:t>Test Execution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412" name="Google Shape;412;g34ecf211fc6_3_0"/>
          <p:cNvSpPr txBox="1"/>
          <p:nvPr/>
        </p:nvSpPr>
        <p:spPr>
          <a:xfrm>
            <a:off x="384550" y="1077325"/>
            <a:ext cx="72972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Executing the prepared test cases in the test environment.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Logging defects for any test case failures.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Tracking the progress of test execution and comparing with expected results.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Re-testing</a:t>
            </a:r>
            <a:r>
              <a:rPr lang="en" sz="1500">
                <a:solidFill>
                  <a:srgbClr val="FFFFFF"/>
                </a:solidFill>
              </a:rPr>
              <a:t> the reported issue after fix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Test case sample - short (</a:t>
            </a:r>
            <a:r>
              <a:rPr b="1" lang="en" sz="1500" u="sng">
                <a:solidFill>
                  <a:srgbClr val="4A86E8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URL</a:t>
            </a:r>
            <a:r>
              <a:rPr lang="en" sz="1500">
                <a:solidFill>
                  <a:schemeClr val="dk1"/>
                </a:solidFill>
              </a:rPr>
              <a:t>)</a:t>
            </a:r>
            <a:endParaRPr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bacc4b504a_0_0"/>
          <p:cNvSpPr txBox="1"/>
          <p:nvPr/>
        </p:nvSpPr>
        <p:spPr>
          <a:xfrm>
            <a:off x="208950" y="155604"/>
            <a:ext cx="84906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</a:rPr>
              <a:t>Severity and Priority of Test Cases: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418" name="Google Shape;418;g3bacc4b504a_0_0"/>
          <p:cNvSpPr txBox="1"/>
          <p:nvPr/>
        </p:nvSpPr>
        <p:spPr>
          <a:xfrm>
            <a:off x="271650" y="900825"/>
            <a:ext cx="52620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Severity: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FFFFFF"/>
                </a:solidFill>
              </a:rPr>
              <a:t>Severity in test cases measures the impact if this test case fails and what will be the impact on the system if this test scenario does not work</a:t>
            </a:r>
            <a:endParaRPr sz="1500">
              <a:solidFill>
                <a:srgbClr val="FFFFFF"/>
              </a:solidFill>
            </a:endParaRPr>
          </a:p>
          <a:p>
            <a:pPr indent="-323850" lvl="1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○"/>
            </a:pPr>
            <a:r>
              <a:rPr b="1" lang="en" sz="1500">
                <a:solidFill>
                  <a:srgbClr val="FFFFFF"/>
                </a:solidFill>
              </a:rPr>
              <a:t>Categories</a:t>
            </a:r>
            <a:r>
              <a:rPr lang="en" sz="1500">
                <a:solidFill>
                  <a:srgbClr val="FFFFFF"/>
                </a:solidFill>
              </a:rPr>
              <a:t>: Critical, Major, Medium, Low etc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Priority: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FFFFFF"/>
                </a:solidFill>
              </a:rPr>
              <a:t>Priority of a test case measures how important it is to execute that test case from a business or release perspective and which test cases must be executed first</a:t>
            </a:r>
            <a:endParaRPr sz="1500">
              <a:solidFill>
                <a:srgbClr val="FFFFFF"/>
              </a:solidFill>
            </a:endParaRPr>
          </a:p>
          <a:p>
            <a:pPr indent="-323850" lvl="1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○"/>
            </a:pPr>
            <a:r>
              <a:rPr b="1" lang="en" sz="1500">
                <a:solidFill>
                  <a:srgbClr val="FFFFFF"/>
                </a:solidFill>
              </a:rPr>
              <a:t>Categories</a:t>
            </a:r>
            <a:r>
              <a:rPr lang="en" sz="1500">
                <a:solidFill>
                  <a:srgbClr val="FFFFFF"/>
                </a:solidFill>
              </a:rPr>
              <a:t>: High, Medium, Low etc</a:t>
            </a:r>
            <a:endParaRPr sz="1500">
              <a:solidFill>
                <a:srgbClr val="FFFFFF"/>
              </a:solidFill>
            </a:endParaRPr>
          </a:p>
        </p:txBody>
      </p:sp>
      <p:graphicFrame>
        <p:nvGraphicFramePr>
          <p:cNvPr id="419" name="Google Shape;419;g3bacc4b504a_0_0"/>
          <p:cNvGraphicFramePr/>
          <p:nvPr/>
        </p:nvGraphicFramePr>
        <p:xfrm>
          <a:off x="5647055" y="15449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{9556D005-3CC5-435C-9D10-C0DF548CABA9}</a:tableStyleId>
              </a:tblPr>
              <a:tblGrid>
                <a:gridCol w="1626350"/>
                <a:gridCol w="813175"/>
                <a:gridCol w="8422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Test Case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Priority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Severity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Valid login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High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Critical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Invalid password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High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High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Remember me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Medium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Medium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UI alignment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Low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Low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952a897dd1_4_0"/>
          <p:cNvSpPr txBox="1"/>
          <p:nvPr/>
        </p:nvSpPr>
        <p:spPr>
          <a:xfrm>
            <a:off x="208950" y="230875"/>
            <a:ext cx="8080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</a:rPr>
              <a:t>Summary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425" name="Google Shape;425;g3952a897dd1_4_0"/>
          <p:cNvSpPr txBox="1"/>
          <p:nvPr/>
        </p:nvSpPr>
        <p:spPr>
          <a:xfrm>
            <a:off x="384550" y="1077325"/>
            <a:ext cx="72972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Test Case Development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Checklist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Test Environment Setup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Test Execution</a:t>
            </a:r>
            <a:endParaRPr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4ee79a0bda_0_1551"/>
          <p:cNvSpPr txBox="1"/>
          <p:nvPr/>
        </p:nvSpPr>
        <p:spPr>
          <a:xfrm>
            <a:off x="208950" y="230875"/>
            <a:ext cx="8080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</a:rPr>
              <a:t>Traceability Matrix (TM)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431" name="Google Shape;431;g34ee79a0bda_0_1551"/>
          <p:cNvSpPr txBox="1"/>
          <p:nvPr/>
        </p:nvSpPr>
        <p:spPr>
          <a:xfrm>
            <a:off x="384550" y="848725"/>
            <a:ext cx="83757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A</a:t>
            </a:r>
            <a:r>
              <a:rPr lang="en" sz="1500">
                <a:solidFill>
                  <a:srgbClr val="FFFFFF"/>
                </a:solidFill>
              </a:rPr>
              <a:t>lso known as a Requirements Traceability Matrix (RTM)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Test cases are mapped with the corresponding requirement to ensure the coverage of test cases, to find any gap between </a:t>
            </a:r>
            <a:r>
              <a:rPr lang="en" sz="1500">
                <a:solidFill>
                  <a:srgbClr val="FFFFFF"/>
                </a:solidFill>
              </a:rPr>
              <a:t>requirements </a:t>
            </a:r>
            <a:r>
              <a:rPr lang="en" sz="1500">
                <a:solidFill>
                  <a:srgbClr val="FFFFFF"/>
                </a:solidFill>
              </a:rPr>
              <a:t>specifications </a:t>
            </a:r>
            <a:r>
              <a:rPr lang="en" sz="1500">
                <a:solidFill>
                  <a:srgbClr val="FFFFFF"/>
                </a:solidFill>
              </a:rPr>
              <a:t>and test cases</a:t>
            </a:r>
            <a:endParaRPr sz="1500">
              <a:solidFill>
                <a:srgbClr val="FFFFFF"/>
              </a:solidFill>
            </a:endParaRPr>
          </a:p>
        </p:txBody>
      </p:sp>
      <p:pic>
        <p:nvPicPr>
          <p:cNvPr id="432" name="Google Shape;432;g34ee79a0bda_0_15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0" y="2111725"/>
            <a:ext cx="6821825" cy="2826025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g34ee79a0bda_0_1551"/>
          <p:cNvSpPr txBox="1"/>
          <p:nvPr/>
        </p:nvSpPr>
        <p:spPr>
          <a:xfrm>
            <a:off x="6896425" y="2111725"/>
            <a:ext cx="22476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Typically created during or before the testing phase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4ecf211fc6_3_43"/>
          <p:cNvSpPr txBox="1"/>
          <p:nvPr/>
        </p:nvSpPr>
        <p:spPr>
          <a:xfrm>
            <a:off x="208950" y="230875"/>
            <a:ext cx="8080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</a:rPr>
              <a:t>Defect Tracking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439" name="Google Shape;439;g34ecf211fc6_3_43"/>
          <p:cNvSpPr txBox="1"/>
          <p:nvPr/>
        </p:nvSpPr>
        <p:spPr>
          <a:xfrm>
            <a:off x="384550" y="1077325"/>
            <a:ext cx="72972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Recording any defects found during test execution.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Defect severity, priority, and tracking life cycle.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Retesting the defects after resolution.</a:t>
            </a:r>
            <a:endParaRPr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4ee79a0bda_0_869"/>
          <p:cNvSpPr txBox="1"/>
          <p:nvPr/>
        </p:nvSpPr>
        <p:spPr>
          <a:xfrm>
            <a:off x="81450" y="52800"/>
            <a:ext cx="6287700" cy="5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</a:rPr>
              <a:t>Sample Defect/Issue/Bug Report</a:t>
            </a:r>
            <a:endParaRPr sz="3000">
              <a:solidFill>
                <a:srgbClr val="FFFFFF"/>
              </a:solidFill>
            </a:endParaRPr>
          </a:p>
        </p:txBody>
      </p:sp>
      <p:pic>
        <p:nvPicPr>
          <p:cNvPr id="445" name="Google Shape;445;g34ee79a0bda_0_8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125" y="639000"/>
            <a:ext cx="7483742" cy="41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79e15249af_0_5"/>
          <p:cNvSpPr txBox="1"/>
          <p:nvPr/>
        </p:nvSpPr>
        <p:spPr>
          <a:xfrm>
            <a:off x="208950" y="230875"/>
            <a:ext cx="87495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</a:rPr>
              <a:t>Severity and Priority of </a:t>
            </a:r>
            <a:r>
              <a:rPr lang="en" sz="3200">
                <a:solidFill>
                  <a:schemeClr val="dk1"/>
                </a:solidFill>
              </a:rPr>
              <a:t>Defect/Issue/Bug</a:t>
            </a:r>
            <a:r>
              <a:rPr lang="en" sz="4000">
                <a:solidFill>
                  <a:srgbClr val="FFFFFF"/>
                </a:solidFill>
              </a:rPr>
              <a:t>: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451" name="Google Shape;451;g379e15249af_0_5"/>
          <p:cNvSpPr txBox="1"/>
          <p:nvPr/>
        </p:nvSpPr>
        <p:spPr>
          <a:xfrm>
            <a:off x="384550" y="900832"/>
            <a:ext cx="83151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Severity: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FFFFFF"/>
                </a:solidFill>
              </a:rPr>
              <a:t>Severity measures a bug's technical impact on software functionality, which relates to the quality standard by Tester or QA</a:t>
            </a:r>
            <a:endParaRPr sz="1500">
              <a:solidFill>
                <a:srgbClr val="FFFFFF"/>
              </a:solidFill>
            </a:endParaRPr>
          </a:p>
          <a:p>
            <a:pPr indent="-323850" lvl="1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○"/>
            </a:pPr>
            <a:r>
              <a:rPr b="1" lang="en" sz="1500">
                <a:solidFill>
                  <a:srgbClr val="FFFFFF"/>
                </a:solidFill>
              </a:rPr>
              <a:t>Categories</a:t>
            </a:r>
            <a:r>
              <a:rPr lang="en" sz="1500">
                <a:solidFill>
                  <a:srgbClr val="FFFFFF"/>
                </a:solidFill>
              </a:rPr>
              <a:t>: Critical, Major, Medium, Low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P</a:t>
            </a:r>
            <a:r>
              <a:rPr b="1" lang="en" sz="1500">
                <a:solidFill>
                  <a:schemeClr val="dk1"/>
                </a:solidFill>
              </a:rPr>
              <a:t>riority: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rgbClr val="FFFFFF"/>
                </a:solidFill>
              </a:rPr>
              <a:t>P</a:t>
            </a:r>
            <a:r>
              <a:rPr lang="en" sz="1500">
                <a:solidFill>
                  <a:srgbClr val="FFFFFF"/>
                </a:solidFill>
              </a:rPr>
              <a:t>riority indicates its urgency and order for fixing, considering business needs and user impact which relates to the scheduling to resolve the problem by PM or BA</a:t>
            </a:r>
            <a:endParaRPr sz="1500">
              <a:solidFill>
                <a:srgbClr val="FFFFFF"/>
              </a:solidFill>
            </a:endParaRPr>
          </a:p>
          <a:p>
            <a:pPr indent="-323850" lvl="1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○"/>
            </a:pPr>
            <a:r>
              <a:rPr b="1" lang="en" sz="1500">
                <a:solidFill>
                  <a:srgbClr val="FFFFFF"/>
                </a:solidFill>
              </a:rPr>
              <a:t>Categories</a:t>
            </a:r>
            <a:r>
              <a:rPr lang="en" sz="1500">
                <a:solidFill>
                  <a:srgbClr val="FFFFFF"/>
                </a:solidFill>
              </a:rPr>
              <a:t>: High, Medium, Low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b="1" lang="en" sz="1500">
                <a:solidFill>
                  <a:srgbClr val="FFFFFF"/>
                </a:solidFill>
              </a:rPr>
              <a:t>For example,</a:t>
            </a:r>
            <a:r>
              <a:rPr lang="en" sz="1500">
                <a:solidFill>
                  <a:srgbClr val="FFFFFF"/>
                </a:solidFill>
              </a:rPr>
              <a:t> a high-severity bug that crashes the application must be fixed immediately (high priority), but a minor typo (low severity) might also be high priority if it appears on the company's logo and affects brand image.</a:t>
            </a:r>
            <a:endParaRPr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79e15249af_0_18"/>
          <p:cNvSpPr txBox="1"/>
          <p:nvPr/>
        </p:nvSpPr>
        <p:spPr>
          <a:xfrm>
            <a:off x="208950" y="230875"/>
            <a:ext cx="8080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</a:rPr>
              <a:t>Example of </a:t>
            </a:r>
            <a:r>
              <a:rPr lang="en" sz="4000">
                <a:solidFill>
                  <a:srgbClr val="FFFFFF"/>
                </a:solidFill>
              </a:rPr>
              <a:t>Severity and Priority: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457" name="Google Shape;457;g379e15249af_0_18"/>
          <p:cNvSpPr txBox="1"/>
          <p:nvPr/>
        </p:nvSpPr>
        <p:spPr>
          <a:xfrm>
            <a:off x="384550" y="1077325"/>
            <a:ext cx="84918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High Severity &amp; High Priority:</a:t>
            </a:r>
            <a:r>
              <a:rPr lang="en" sz="1500">
                <a:solidFill>
                  <a:schemeClr val="dk1"/>
                </a:solidFill>
              </a:rPr>
              <a:t> Let’s say, there is a web application where, after providing the login details, the user can’t click the login button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High Severity &amp; Low Priority:</a:t>
            </a:r>
            <a:r>
              <a:rPr lang="en" sz="1500">
                <a:solidFill>
                  <a:schemeClr val="dk1"/>
                </a:solidFill>
              </a:rPr>
              <a:t> Again consider the above example, but this time it’s </a:t>
            </a:r>
            <a:r>
              <a:rPr lang="en" sz="1500">
                <a:solidFill>
                  <a:schemeClr val="dk1"/>
                </a:solidFill>
              </a:rPr>
              <a:t>occurring</a:t>
            </a:r>
            <a:r>
              <a:rPr lang="en" sz="1500">
                <a:solidFill>
                  <a:schemeClr val="dk1"/>
                </a:solidFill>
              </a:rPr>
              <a:t> on the older versions of Internet Explorer say IE8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Low Severity &amp; Low Priority:</a:t>
            </a:r>
            <a:r>
              <a:rPr lang="en" sz="1500">
                <a:solidFill>
                  <a:schemeClr val="dk1"/>
                </a:solidFill>
              </a:rPr>
              <a:t> In the help or faq section of the website, the theme or font style or font size of a section of the page does not match with the rest of the page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Low Severity &amp; High Priority:</a:t>
            </a:r>
            <a:r>
              <a:rPr lang="en" sz="1500">
                <a:solidFill>
                  <a:schemeClr val="dk1"/>
                </a:solidFill>
              </a:rPr>
              <a:t> When there is a typo on the website. For example, the case of the school website where the 'Admission Form' is misspelled as 'Admision From'.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4ecf211fc6_3_12"/>
          <p:cNvSpPr txBox="1"/>
          <p:nvPr/>
        </p:nvSpPr>
        <p:spPr>
          <a:xfrm>
            <a:off x="208950" y="230875"/>
            <a:ext cx="8080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</a:rPr>
              <a:t>Test Cycle Closure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463" name="Google Shape;463;g34ecf211fc6_3_12"/>
          <p:cNvSpPr txBox="1"/>
          <p:nvPr/>
        </p:nvSpPr>
        <p:spPr>
          <a:xfrm>
            <a:off x="384550" y="1077325"/>
            <a:ext cx="72972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Test completion and closure activities.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Preparing the test summary report.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Ensuring all test cases are executed and defects are resolved or deferred.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Make release note for the deployment (</a:t>
            </a:r>
            <a:r>
              <a:rPr b="1" lang="en" sz="1500" u="sng">
                <a:solidFill>
                  <a:srgbClr val="4A86E8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URL</a:t>
            </a:r>
            <a:r>
              <a:rPr lang="en" sz="1500">
                <a:solidFill>
                  <a:srgbClr val="FFFFFF"/>
                </a:solidFill>
              </a:rPr>
              <a:t>)</a:t>
            </a:r>
            <a:endParaRPr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99e041a3d_0_346"/>
          <p:cNvSpPr txBox="1"/>
          <p:nvPr>
            <p:ph type="title"/>
          </p:nvPr>
        </p:nvSpPr>
        <p:spPr>
          <a:xfrm>
            <a:off x="98600" y="171425"/>
            <a:ext cx="8711400" cy="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3400">
                <a:latin typeface="Arial"/>
                <a:ea typeface="Arial"/>
                <a:cs typeface="Arial"/>
                <a:sym typeface="Arial"/>
              </a:rPr>
              <a:t>Testing as a process within the Software Development process</a:t>
            </a:r>
            <a:endParaRPr sz="3400"/>
          </a:p>
        </p:txBody>
      </p:sp>
      <p:sp>
        <p:nvSpPr>
          <p:cNvPr id="469" name="Google Shape;469;g3799e041a3d_0_346"/>
          <p:cNvSpPr txBox="1"/>
          <p:nvPr/>
        </p:nvSpPr>
        <p:spPr>
          <a:xfrm>
            <a:off x="384550" y="1304244"/>
            <a:ext cx="8425500" cy="30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FFFFFF"/>
                </a:solidFill>
              </a:rPr>
              <a:t>Depending on the approach chosen, testing will take place at different points within the development process</a:t>
            </a:r>
            <a:endParaRPr b="1" sz="1500">
              <a:solidFill>
                <a:srgbClr val="FFFFFF"/>
              </a:solidFill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FFFFFF"/>
                </a:solidFill>
              </a:rPr>
              <a:t>Testing is a process itself</a:t>
            </a:r>
            <a:endParaRPr b="1" sz="1500">
              <a:solidFill>
                <a:srgbClr val="FFFFFF"/>
              </a:solidFill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FFFFFF"/>
                </a:solidFill>
              </a:rPr>
              <a:t>The testing process is determined by the following phases</a:t>
            </a:r>
            <a:endParaRPr b="1" sz="1500">
              <a:solidFill>
                <a:srgbClr val="FFFFFF"/>
              </a:solidFill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○"/>
            </a:pPr>
            <a:r>
              <a:rPr b="1" lang="en" sz="1500">
                <a:solidFill>
                  <a:srgbClr val="FFFFFF"/>
                </a:solidFill>
              </a:rPr>
              <a:t>Test planning</a:t>
            </a:r>
            <a:endParaRPr b="1" sz="1500">
              <a:solidFill>
                <a:srgbClr val="FFFFFF"/>
              </a:solidFill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○"/>
            </a:pPr>
            <a:r>
              <a:rPr b="1" lang="en" sz="1500">
                <a:solidFill>
                  <a:srgbClr val="FFFFFF"/>
                </a:solidFill>
              </a:rPr>
              <a:t>Test analysis and test design</a:t>
            </a:r>
            <a:endParaRPr b="1" sz="1500">
              <a:solidFill>
                <a:srgbClr val="FFFFFF"/>
              </a:solidFill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○"/>
            </a:pPr>
            <a:r>
              <a:rPr b="1" lang="en" sz="1500">
                <a:solidFill>
                  <a:srgbClr val="FFFFFF"/>
                </a:solidFill>
              </a:rPr>
              <a:t>Test implementation and test execution</a:t>
            </a:r>
            <a:endParaRPr b="1" sz="1500">
              <a:solidFill>
                <a:srgbClr val="FFFFFF"/>
              </a:solidFill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○"/>
            </a:pPr>
            <a:r>
              <a:rPr b="1" lang="en" sz="1500">
                <a:solidFill>
                  <a:srgbClr val="FFFFFF"/>
                </a:solidFill>
              </a:rPr>
              <a:t>Evaluating Exit Criteria and reporting</a:t>
            </a:r>
            <a:endParaRPr b="1" sz="1500">
              <a:solidFill>
                <a:srgbClr val="FFFFFF"/>
              </a:solidFill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○"/>
            </a:pPr>
            <a:r>
              <a:rPr b="1" lang="en" sz="1500">
                <a:solidFill>
                  <a:srgbClr val="FFFFFF"/>
                </a:solidFill>
              </a:rPr>
              <a:t>Test closure activities</a:t>
            </a:r>
            <a:endParaRPr b="1" sz="1500">
              <a:solidFill>
                <a:srgbClr val="FFFFFF"/>
              </a:solidFill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FFFFFF"/>
                </a:solidFill>
              </a:rPr>
              <a:t> As well as</a:t>
            </a:r>
            <a:endParaRPr b="1" sz="1500">
              <a:solidFill>
                <a:srgbClr val="FFFFFF"/>
              </a:solidFill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○"/>
            </a:pPr>
            <a:r>
              <a:rPr b="1" lang="en" sz="1500">
                <a:solidFill>
                  <a:srgbClr val="FFFFFF"/>
                </a:solidFill>
              </a:rPr>
              <a:t>Test Controlling (at all phases)</a:t>
            </a:r>
            <a:endParaRPr b="1"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799e041a3d_0_351"/>
          <p:cNvSpPr txBox="1"/>
          <p:nvPr>
            <p:ph type="title"/>
          </p:nvPr>
        </p:nvSpPr>
        <p:spPr>
          <a:xfrm>
            <a:off x="98600" y="171425"/>
            <a:ext cx="8711400" cy="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3400">
                <a:latin typeface="Arial"/>
                <a:ea typeface="Arial"/>
                <a:cs typeface="Arial"/>
                <a:sym typeface="Arial"/>
              </a:rPr>
              <a:t>Exit criteria:</a:t>
            </a:r>
            <a:endParaRPr sz="3400"/>
          </a:p>
        </p:txBody>
      </p:sp>
      <p:sp>
        <p:nvSpPr>
          <p:cNvPr id="475" name="Google Shape;475;g3799e041a3d_0_351"/>
          <p:cNvSpPr txBox="1"/>
          <p:nvPr/>
        </p:nvSpPr>
        <p:spPr>
          <a:xfrm>
            <a:off x="384550" y="812586"/>
            <a:ext cx="84255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FFFFFF"/>
                </a:solidFill>
              </a:rPr>
              <a:t>Exit criteria (after Glib and Graham):</a:t>
            </a:r>
            <a:endParaRPr b="1" sz="1500">
              <a:solidFill>
                <a:srgbClr val="FFFFFF"/>
              </a:solidFill>
            </a:endParaRPr>
          </a:p>
          <a:p>
            <a:pPr indent="-32385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○"/>
            </a:pPr>
            <a:r>
              <a:rPr b="1" lang="en" sz="1500">
                <a:solidFill>
                  <a:srgbClr val="FFFFFF"/>
                </a:solidFill>
              </a:rPr>
              <a:t>The set of generic specific conditions, agreed upon with the stakeholders, for permitting a process to be officially completed. </a:t>
            </a:r>
            <a:endParaRPr b="1" sz="1500">
              <a:solidFill>
                <a:srgbClr val="FFFFFF"/>
              </a:solidFill>
            </a:endParaRPr>
          </a:p>
          <a:p>
            <a:pPr indent="-32385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○"/>
            </a:pPr>
            <a:r>
              <a:rPr b="1" lang="en" sz="1500">
                <a:solidFill>
                  <a:srgbClr val="FFFFFF"/>
                </a:solidFill>
              </a:rPr>
              <a:t>The purpose of exit criteria is to prevent a task from being considered completed when there are still parts of the task outstanding which have not been finished. </a:t>
            </a:r>
            <a:endParaRPr b="1" sz="1500">
              <a:solidFill>
                <a:srgbClr val="FFFFFF"/>
              </a:solidFill>
            </a:endParaRPr>
          </a:p>
          <a:p>
            <a:pPr indent="-32385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○"/>
            </a:pPr>
            <a:r>
              <a:rPr b="1" lang="en" sz="1500">
                <a:solidFill>
                  <a:srgbClr val="FFFFFF"/>
                </a:solidFill>
              </a:rPr>
              <a:t>Exit criteria are used to report against and to plan when to stop testing. This should be done for each test level.</a:t>
            </a:r>
            <a:endParaRPr b="1"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799e041a3d_0_356"/>
          <p:cNvSpPr txBox="1"/>
          <p:nvPr>
            <p:ph type="title"/>
          </p:nvPr>
        </p:nvSpPr>
        <p:spPr>
          <a:xfrm>
            <a:off x="98600" y="171425"/>
            <a:ext cx="8711400" cy="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3400">
                <a:latin typeface="Arial"/>
                <a:ea typeface="Arial"/>
                <a:cs typeface="Arial"/>
                <a:sym typeface="Arial"/>
              </a:rPr>
              <a:t>Evaluating Exit Criteria-main tasks:</a:t>
            </a:r>
            <a:endParaRPr sz="3400"/>
          </a:p>
        </p:txBody>
      </p:sp>
      <p:sp>
        <p:nvSpPr>
          <p:cNvPr id="481" name="Google Shape;481;g3799e041a3d_0_356"/>
          <p:cNvSpPr txBox="1"/>
          <p:nvPr/>
        </p:nvSpPr>
        <p:spPr>
          <a:xfrm>
            <a:off x="384550" y="812586"/>
            <a:ext cx="84255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FFFFFF"/>
                </a:solidFill>
              </a:rPr>
              <a:t>Assessing test execution against the defined objectives </a:t>
            </a:r>
            <a:endParaRPr b="1" sz="1500">
              <a:solidFill>
                <a:srgbClr val="FFFFFF"/>
              </a:solidFill>
            </a:endParaRPr>
          </a:p>
          <a:p>
            <a:pPr indent="-32385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○"/>
            </a:pPr>
            <a:r>
              <a:rPr b="1" lang="en" sz="1500">
                <a:solidFill>
                  <a:srgbClr val="FFFFFF"/>
                </a:solidFill>
              </a:rPr>
              <a:t>E.g. test execution and criteria</a:t>
            </a:r>
            <a:endParaRPr b="1" sz="1500">
              <a:solidFill>
                <a:srgbClr val="FFFFFF"/>
              </a:solidFill>
            </a:endParaRPr>
          </a:p>
          <a:p>
            <a:pPr indent="-3238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FFFFFF"/>
                </a:solidFill>
              </a:rPr>
              <a:t> Evaluating test logs </a:t>
            </a:r>
            <a:endParaRPr b="1" sz="1500">
              <a:solidFill>
                <a:srgbClr val="FFFFFF"/>
              </a:solidFill>
            </a:endParaRPr>
          </a:p>
          <a:p>
            <a:pPr indent="-32385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○"/>
            </a:pPr>
            <a:r>
              <a:rPr b="1" lang="en" sz="1500">
                <a:solidFill>
                  <a:srgbClr val="FFFFFF"/>
                </a:solidFill>
              </a:rPr>
              <a:t>Summary of test activities, test result , communication exit criteria</a:t>
            </a:r>
            <a:endParaRPr b="1" sz="1500">
              <a:solidFill>
                <a:srgbClr val="FFFFFF"/>
              </a:solidFill>
            </a:endParaRPr>
          </a:p>
          <a:p>
            <a:pPr indent="-3238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FFFFFF"/>
                </a:solidFill>
              </a:rPr>
              <a:t> Provide information to allow the decision, whether more test should take place</a:t>
            </a:r>
            <a:endParaRPr b="1"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799e041a3d_0_361"/>
          <p:cNvSpPr txBox="1"/>
          <p:nvPr>
            <p:ph type="title"/>
          </p:nvPr>
        </p:nvSpPr>
        <p:spPr>
          <a:xfrm>
            <a:off x="98600" y="171425"/>
            <a:ext cx="8711400" cy="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3400">
                <a:latin typeface="Arial"/>
                <a:ea typeface="Arial"/>
                <a:cs typeface="Arial"/>
                <a:sym typeface="Arial"/>
              </a:rPr>
              <a:t>Test Closure Activities - main task</a:t>
            </a:r>
            <a:endParaRPr sz="3400"/>
          </a:p>
        </p:txBody>
      </p:sp>
      <p:sp>
        <p:nvSpPr>
          <p:cNvPr id="487" name="Google Shape;487;g3799e041a3d_0_361"/>
          <p:cNvSpPr txBox="1"/>
          <p:nvPr/>
        </p:nvSpPr>
        <p:spPr>
          <a:xfrm>
            <a:off x="384550" y="812586"/>
            <a:ext cx="84255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FFFFFF"/>
                </a:solidFill>
              </a:rPr>
              <a:t>Collection data from completed test activities to consolidate experience , test ware , facts and numbers.</a:t>
            </a:r>
            <a:endParaRPr b="1" sz="1500">
              <a:solidFill>
                <a:srgbClr val="FFFFFF"/>
              </a:solidFill>
            </a:endParaRPr>
          </a:p>
          <a:p>
            <a:pPr indent="-3238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FFFFFF"/>
                </a:solidFill>
              </a:rPr>
              <a:t>Closure of incident reports or raising change requests for any remaining open points</a:t>
            </a:r>
            <a:endParaRPr b="1" sz="1500">
              <a:solidFill>
                <a:srgbClr val="FFFFFF"/>
              </a:solidFill>
            </a:endParaRPr>
          </a:p>
          <a:p>
            <a:pPr indent="-3238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FFFFFF"/>
                </a:solidFill>
              </a:rPr>
              <a:t>Checking which planned deliverables have been delivered and tested.</a:t>
            </a:r>
            <a:endParaRPr b="1" sz="1500">
              <a:solidFill>
                <a:srgbClr val="FFFFFF"/>
              </a:solidFill>
            </a:endParaRPr>
          </a:p>
          <a:p>
            <a:pPr indent="-3238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FFFFFF"/>
                </a:solidFill>
              </a:rPr>
              <a:t>Documenting the acceptance of the system</a:t>
            </a:r>
            <a:endParaRPr b="1" sz="1500">
              <a:solidFill>
                <a:srgbClr val="FFFFFF"/>
              </a:solidFill>
            </a:endParaRPr>
          </a:p>
          <a:p>
            <a:pPr indent="-3238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FFFFFF"/>
                </a:solidFill>
              </a:rPr>
              <a:t>Finalizing and archiving test ware, the test environment and the test infrastructure for later reuse, hand over to operations</a:t>
            </a:r>
            <a:endParaRPr b="1" sz="1500">
              <a:solidFill>
                <a:srgbClr val="FFFFFF"/>
              </a:solidFill>
            </a:endParaRPr>
          </a:p>
          <a:p>
            <a:pPr indent="-3238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FFFFFF"/>
                </a:solidFill>
              </a:rPr>
              <a:t> Analyzing “lessons learned” for future project</a:t>
            </a:r>
            <a:endParaRPr b="1"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4ee79a0bda_0_1524"/>
          <p:cNvSpPr txBox="1"/>
          <p:nvPr/>
        </p:nvSpPr>
        <p:spPr>
          <a:xfrm>
            <a:off x="208950" y="230875"/>
            <a:ext cx="8080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</a:rPr>
              <a:t>SDLC vs STLC </a:t>
            </a:r>
            <a:r>
              <a:rPr lang="en" sz="4000">
                <a:solidFill>
                  <a:srgbClr val="FFFFFF"/>
                </a:solidFill>
              </a:rPr>
              <a:t>differences</a:t>
            </a:r>
            <a:endParaRPr sz="4000">
              <a:solidFill>
                <a:srgbClr val="FFFFFF"/>
              </a:solidFill>
            </a:endParaRPr>
          </a:p>
        </p:txBody>
      </p:sp>
      <p:pic>
        <p:nvPicPr>
          <p:cNvPr id="493" name="Google Shape;493;g34ee79a0bda_0_1524"/>
          <p:cNvPicPr preferRelativeResize="0"/>
          <p:nvPr/>
        </p:nvPicPr>
        <p:blipFill rotWithShape="1">
          <a:blip r:embed="rId3">
            <a:alphaModFix/>
          </a:blip>
          <a:srcRect b="6927" l="0" r="0" t="1564"/>
          <a:stretch/>
        </p:blipFill>
        <p:spPr>
          <a:xfrm>
            <a:off x="1198976" y="885438"/>
            <a:ext cx="6100749" cy="389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1"/>
          <p:cNvSpPr txBox="1"/>
          <p:nvPr>
            <p:ph type="title"/>
          </p:nvPr>
        </p:nvSpPr>
        <p:spPr>
          <a:xfrm>
            <a:off x="632850" y="400625"/>
            <a:ext cx="7878300" cy="17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5200">
                <a:latin typeface="Arial"/>
                <a:ea typeface="Arial"/>
                <a:cs typeface="Arial"/>
                <a:sym typeface="Arial"/>
              </a:rPr>
              <a:t>Any Questions?</a:t>
            </a:r>
            <a:endParaRPr/>
          </a:p>
        </p:txBody>
      </p:sp>
      <p:sp>
        <p:nvSpPr>
          <p:cNvPr id="499" name="Google Shape;499;p11"/>
          <p:cNvSpPr txBox="1"/>
          <p:nvPr>
            <p:ph idx="2" type="subTitle"/>
          </p:nvPr>
        </p:nvSpPr>
        <p:spPr>
          <a:xfrm>
            <a:off x="2068350" y="3665300"/>
            <a:ext cx="50073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Thank you!</a:t>
            </a:r>
            <a:endParaRPr/>
          </a:p>
        </p:txBody>
      </p:sp>
      <p:pic>
        <p:nvPicPr>
          <p:cNvPr id="500" name="Google Shape;50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8263" y="1671975"/>
            <a:ext cx="2879281" cy="179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ategy Plan">
  <a:themeElements>
    <a:clrScheme name="Simple Light">
      <a:dk1>
        <a:srgbClr val="FFFFFF"/>
      </a:dk1>
      <a:lt1>
        <a:srgbClr val="000000"/>
      </a:lt1>
      <a:dk2>
        <a:srgbClr val="999999"/>
      </a:dk2>
      <a:lt2>
        <a:srgbClr val="FFECD1"/>
      </a:lt2>
      <a:accent1>
        <a:srgbClr val="AC6600"/>
      </a:accent1>
      <a:accent2>
        <a:srgbClr val="5E7F00"/>
      </a:accent2>
      <a:accent3>
        <a:srgbClr val="2322EF"/>
      </a:accent3>
      <a:accent4>
        <a:srgbClr val="DDDDFF"/>
      </a:accent4>
      <a:accent5>
        <a:srgbClr val="EFEFEF"/>
      </a:accent5>
      <a:accent6>
        <a:srgbClr val="F7FEE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